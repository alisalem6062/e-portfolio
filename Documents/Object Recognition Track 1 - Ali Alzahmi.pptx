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0" r:id="rId13"/>
    <p:sldId id="271" r:id="rId14"/>
    <p:sldId id="275" r:id="rId15"/>
    <p:sldId id="276" r:id="rId16"/>
    <p:sldId id="266" r:id="rId17"/>
    <p:sldId id="272" r:id="rId18"/>
    <p:sldId id="273" r:id="rId19"/>
    <p:sldId id="274" r:id="rId20"/>
    <p:sldId id="267" r:id="rId21"/>
    <p:sldId id="26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3CCA66-0185-4A3D-9B3F-52CB1EA6C27F}" v="25" dt="2025-07-12T22:06:14.045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salem" userId="0daa50836810a26f" providerId="LiveId" clId="{EE3CCA66-0185-4A3D-9B3F-52CB1EA6C27F}"/>
    <pc:docChg chg="custSel modSld">
      <pc:chgData name="ali salem" userId="0daa50836810a26f" providerId="LiveId" clId="{EE3CCA66-0185-4A3D-9B3F-52CB1EA6C27F}" dt="2025-07-12T21:37:42.779" v="5" actId="478"/>
      <pc:docMkLst>
        <pc:docMk/>
      </pc:docMkLst>
      <pc:sldChg chg="modSp mod modAnim">
        <pc:chgData name="ali salem" userId="0daa50836810a26f" providerId="LiveId" clId="{EE3CCA66-0185-4A3D-9B3F-52CB1EA6C27F}" dt="2025-07-12T21:11:29.070" v="3" actId="1076"/>
        <pc:sldMkLst>
          <pc:docMk/>
          <pc:sldMk cId="2603527448" sldId="256"/>
        </pc:sldMkLst>
        <pc:picChg chg="mod">
          <ac:chgData name="ali salem" userId="0daa50836810a26f" providerId="LiveId" clId="{EE3CCA66-0185-4A3D-9B3F-52CB1EA6C27F}" dt="2025-07-12T21:11:29.070" v="3" actId="1076"/>
          <ac:picMkLst>
            <pc:docMk/>
            <pc:sldMk cId="2603527448" sldId="256"/>
            <ac:picMk id="4" creationId="{0904B49A-7F5C-0787-6F88-6B345ED95DC5}"/>
          </ac:picMkLst>
        </pc:picChg>
        <pc:picChg chg="mod">
          <ac:chgData name="ali salem" userId="0daa50836810a26f" providerId="LiveId" clId="{EE3CCA66-0185-4A3D-9B3F-52CB1EA6C27F}" dt="2025-07-12T21:11:26.190" v="2"/>
          <ac:picMkLst>
            <pc:docMk/>
            <pc:sldMk cId="2603527448" sldId="256"/>
            <ac:picMk id="5" creationId="{709BD142-F5E2-BFAC-AD27-5AED90FD05E2}"/>
          </ac:picMkLst>
        </pc:picChg>
      </pc:sldChg>
      <pc:sldChg chg="delSp modSp mod delAnim">
        <pc:chgData name="ali salem" userId="0daa50836810a26f" providerId="LiveId" clId="{EE3CCA66-0185-4A3D-9B3F-52CB1EA6C27F}" dt="2025-07-12T21:37:42.779" v="5" actId="478"/>
        <pc:sldMkLst>
          <pc:docMk/>
          <pc:sldMk cId="321407563" sldId="262"/>
        </pc:sldMkLst>
        <pc:picChg chg="del mod">
          <ac:chgData name="ali salem" userId="0daa50836810a26f" providerId="LiveId" clId="{EE3CCA66-0185-4A3D-9B3F-52CB1EA6C27F}" dt="2025-07-12T21:37:42.779" v="5" actId="478"/>
          <ac:picMkLst>
            <pc:docMk/>
            <pc:sldMk cId="321407563" sldId="262"/>
            <ac:picMk id="4" creationId="{3CD093F2-C1C0-D826-0CF2-735DC39A6D2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9F177-3B67-5BFA-1179-027814163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F3324-131D-39D7-D254-59DE7F7A43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16C7F-71D9-C028-170E-7172542CB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CD92E-847F-4FE7-B48B-D0CB5A627DF8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A7A37-44C4-4540-2EAE-1A1379A0A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21403-06D8-ECAC-F9C0-2D6DC44AF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C0FE9-2D2A-4C4A-86EF-956A26F01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247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FF19B-F4D9-4332-8094-D0646B1C4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39B66-1B46-16F5-E736-79765A3C0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19F39-5BD5-FEDB-33C2-BFD2E688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CD92E-847F-4FE7-B48B-D0CB5A627DF8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C2CED-312C-AE52-856C-F76B490A0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21DE6-900E-38AA-6401-4982BCEF1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C0FE9-2D2A-4C4A-86EF-956A26F01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708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92FE8-6F14-BC59-4927-90033AE31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557D2-4F4A-D297-A364-746EA1D3E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A80E6-484E-D5C4-809D-7B96D6A32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CD92E-847F-4FE7-B48B-D0CB5A627DF8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C9E4A-DE38-20AE-E99A-46B05DCEE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0DDF2-89CD-D4A6-31A1-3B9B51535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C0FE9-2D2A-4C4A-86EF-956A26F01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635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4871D-471B-B5E8-A095-1367A5509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46CE9-5188-F608-46C9-02D2A9F143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E12BC-0186-4C31-BF40-F90D8C07A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7DDF8-EE38-4B89-20DA-1AAD996D5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CD92E-847F-4FE7-B48B-D0CB5A627DF8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4BC36-3572-4F89-DAB6-E24DF6451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10444-A070-97B9-98AF-2C6B825DC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C0FE9-2D2A-4C4A-86EF-956A26F01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3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A2A0D-A7C5-9539-019D-D13099E85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019B6-8B76-B497-09BF-B0886BF5C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E5203-9823-7AF6-2234-11EAC71E8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1B14A5-C897-724A-9A9F-419F69794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E1231B-4E34-3C19-2C4C-39989EAA54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626CCB-C6ED-9701-6F86-655C1B54F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CD92E-847F-4FE7-B48B-D0CB5A627DF8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0C0CD-53FD-0E9F-6F0C-587F877FF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218688-1A1C-F7A6-83F7-00FC7D8D2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C0FE9-2D2A-4C4A-86EF-956A26F01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818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9F82-5D09-9C48-4546-715EB06F2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06A382-8F2B-31DF-0559-DFFEE74A6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CD92E-847F-4FE7-B48B-D0CB5A627DF8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CA3538-CB9A-889E-FFEC-475462F03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D8620B-220F-65BE-D1F0-DCD3082C5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C0FE9-2D2A-4C4A-86EF-956A26F01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194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95CDBF-BD0D-9C8A-1B64-D58C4C5EC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CD92E-847F-4FE7-B48B-D0CB5A627DF8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A2BDDF-D84F-D6B5-2C71-21F9D2D0E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61E60-EDB3-8283-78BC-A8629130A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C0FE9-2D2A-4C4A-86EF-956A26F01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770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93079-11D9-7C64-8FC8-B7AF686E6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485CD-8BD9-A3AB-0309-B7D5CD345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31019-28D5-9165-B0F8-EEF994FED7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B11963-1DBE-E187-3CBF-BC82F861F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CD92E-847F-4FE7-B48B-D0CB5A627DF8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B0B268-EDF2-13C2-87F6-3A8CF7E10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09792-F88B-27FE-F50E-716A5FC31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C0FE9-2D2A-4C4A-86EF-956A26F01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2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1A073-C6E2-18B2-C3EB-C64AB741A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AF61B6-3BBB-710F-841B-0BD3B15FEE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DB79E6-82DA-C650-3E87-9FBE13B5A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A1C7B2-2D32-905D-86F5-7C02520D8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CD92E-847F-4FE7-B48B-D0CB5A627DF8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F810A-096F-F88C-5F03-ACF26597E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01B561-B3E9-D795-38E2-B71885BA3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C0FE9-2D2A-4C4A-86EF-956A26F01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822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12A7F-7429-0F7A-5A6E-80BCAC566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2CBED-0D88-3EB4-F119-FF00D5FD9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2EC77-B712-2C1F-9E61-CC1A7AE9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CD92E-847F-4FE7-B48B-D0CB5A627DF8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5952D-CAEF-CB5A-5FA0-E6CEAE1A1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327F7-92EC-C7FD-9658-0868E7937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C0FE9-2D2A-4C4A-86EF-956A26F01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801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D4B2B4-06ED-FB26-0A88-826657663D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3010C3-7544-7C87-9843-A66E58A18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D7303-AA6A-1207-533B-56649638E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CD92E-847F-4FE7-B48B-D0CB5A627DF8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8D630-1CD7-DEDB-FA0B-4E1A6E822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CEE66-F1F9-1984-8FB7-6E5CBFAC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C0FE9-2D2A-4C4A-86EF-956A26F01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60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53B131-943A-D9EF-D843-4703C65E6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E33A1-125C-46AA-D387-29B0F3CC0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7AB46-C1E7-7D58-86AF-A2D8C929C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CD92E-847F-4FE7-B48B-D0CB5A627DF8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1F6A2-8F56-9C0B-F4AE-86FEECBD67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0AC3D-7B92-3216-40C6-4A9BE2B0AB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C0FE9-2D2A-4C4A-86EF-956A26F01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44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jmlr.org/papers/v12/pedregosa11a.html" TargetMode="External"/><Relationship Id="rId3" Type="http://schemas.openxmlformats.org/officeDocument/2006/relationships/slideLayout" Target="../slideLayouts/slideLayout2.xml"/><Relationship Id="rId7" Type="http://schemas.openxmlformats.org/officeDocument/2006/relationships/hyperlink" Target="https://www.cs.toronto.edu/~kriz/cifar.html" TargetMode="Externa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hyperlink" Target="https://doi.org/10.1109/CVPR.2005.177" TargetMode="External"/><Relationship Id="rId5" Type="http://schemas.openxmlformats.org/officeDocument/2006/relationships/hyperlink" Target="https://doi.org/10.1109/TIT.1967.1053964" TargetMode="External"/><Relationship Id="rId10" Type="http://schemas.openxmlformats.org/officeDocument/2006/relationships/image" Target="../media/image10.png"/><Relationship Id="rId4" Type="http://schemas.openxmlformats.org/officeDocument/2006/relationships/hyperlink" Target="https://doi.org/10.1007/BF00994018" TargetMode="External"/><Relationship Id="rId9" Type="http://schemas.openxmlformats.org/officeDocument/2006/relationships/hyperlink" Target="https://doi.org/10.1162/neco_a_0099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8C675C-31EE-9593-843C-6D367CF2A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7200" dirty="0"/>
              <a:t>Object Recognition using Classical Machine Learning (Track 1)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9CE503-35CC-2C0B-E219-0323EAACA8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Exploring Feature Engineering with HOG + SVM/KNN on CIFAR-10</a:t>
            </a:r>
          </a:p>
        </p:txBody>
      </p:sp>
    </p:spTree>
    <p:extLst>
      <p:ext uri="{BB962C8B-B14F-4D97-AF65-F5344CB8AC3E}">
        <p14:creationId xmlns:p14="http://schemas.microsoft.com/office/powerpoint/2010/main" val="2603527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28925-235E-863D-732D-87CAA0323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B3DEE-DAD4-557D-5B37-4D5D6E5AE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Introduction</a:t>
            </a:r>
          </a:p>
          <a:p>
            <a:pPr marL="0" indent="0">
              <a:buNone/>
            </a:pPr>
            <a:r>
              <a:rPr lang="en-US" dirty="0"/>
              <a:t>EDA</a:t>
            </a:r>
          </a:p>
          <a:p>
            <a:pPr marL="0" indent="0">
              <a:buNone/>
            </a:pPr>
            <a:r>
              <a:rPr lang="en-US" dirty="0"/>
              <a:t>Pre-Processing</a:t>
            </a:r>
          </a:p>
          <a:p>
            <a:pPr marL="0" indent="0">
              <a:buNone/>
            </a:pPr>
            <a:r>
              <a:rPr lang="en-US" dirty="0"/>
              <a:t>Data partitioning</a:t>
            </a:r>
          </a:p>
          <a:p>
            <a:pPr marL="0" indent="0">
              <a:buNone/>
            </a:pPr>
            <a:r>
              <a:rPr lang="en-US" dirty="0"/>
              <a:t>Architecture</a:t>
            </a:r>
          </a:p>
          <a:p>
            <a:pPr marL="0" indent="0">
              <a:buNone/>
            </a:pPr>
            <a:r>
              <a:rPr lang="en-US" dirty="0"/>
              <a:t>Training</a:t>
            </a:r>
          </a:p>
          <a:p>
            <a:pPr marL="0" indent="0">
              <a:buNone/>
            </a:pPr>
            <a:r>
              <a:rPr lang="en-US" dirty="0"/>
              <a:t>Evaluation</a:t>
            </a:r>
          </a:p>
          <a:p>
            <a:pPr marL="0" indent="0">
              <a:buNone/>
            </a:pPr>
            <a:r>
              <a:rPr lang="en-US" dirty="0"/>
              <a:t>Strengths &amp; Weaknesses</a:t>
            </a:r>
          </a:p>
          <a:p>
            <a:pPr marL="0" indent="0">
              <a:buNone/>
            </a:pPr>
            <a:r>
              <a:rPr lang="en-US" dirty="0"/>
              <a:t>Comparative Insights</a:t>
            </a:r>
          </a:p>
          <a:p>
            <a:pPr marL="0" indent="0">
              <a:buNone/>
            </a:pPr>
            <a:r>
              <a:rPr lang="en-US" dirty="0"/>
              <a:t>Code</a:t>
            </a:r>
          </a:p>
          <a:p>
            <a:pPr marL="0" indent="0">
              <a:buNone/>
            </a:pPr>
            <a:r>
              <a:rPr lang="en-US" dirty="0"/>
              <a:t>Conclusion</a:t>
            </a:r>
          </a:p>
          <a:p>
            <a:pPr marL="0" indent="0">
              <a:buNone/>
            </a:pPr>
            <a:r>
              <a:rPr lang="en-US" dirty="0"/>
              <a:t>References</a:t>
            </a:r>
          </a:p>
        </p:txBody>
      </p:sp>
      <p:pic>
        <p:nvPicPr>
          <p:cNvPr id="5" name="Picture 4" descr="A graphic of a robot&#10;&#10;AI-generated content may be incorrect.">
            <a:extLst>
              <a:ext uri="{FF2B5EF4-FFF2-40B4-BE49-F238E27FC236}">
                <a16:creationId xmlns:a16="http://schemas.microsoft.com/office/drawing/2014/main" id="{A59E4F2C-372D-B85D-51AA-B36DD66519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477" y="1540328"/>
            <a:ext cx="4575517" cy="377734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07524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D02E4D-E524-3F1D-2B10-580BE435C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409D6-EE6D-EAB3-B6C7-A2EFA7246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029" y="2198362"/>
            <a:ext cx="5812971" cy="4441924"/>
          </a:xfrm>
        </p:spPr>
        <p:txBody>
          <a:bodyPr>
            <a:normAutofit fontScale="92500"/>
          </a:bodyPr>
          <a:lstStyle/>
          <a:p>
            <a:r>
              <a:rPr lang="en-US" sz="2000" dirty="0"/>
              <a:t>Object recognition is a crucial component of many modern AI applications, including autonomous vehicles, surveillance, and biometric systems.</a:t>
            </a:r>
          </a:p>
          <a:p>
            <a:r>
              <a:rPr lang="en-US" sz="2000" dirty="0"/>
              <a:t>The </a:t>
            </a:r>
            <a:r>
              <a:rPr lang="en-US" sz="2000" b="1" dirty="0"/>
              <a:t>CIFAR-10</a:t>
            </a:r>
            <a:r>
              <a:rPr lang="en-US" sz="2000" dirty="0"/>
              <a:t> dataset provides a benchmark for image classification tasks. It contains </a:t>
            </a:r>
            <a:r>
              <a:rPr lang="en-US" sz="2000" b="1" dirty="0"/>
              <a:t>60,000</a:t>
            </a:r>
            <a:r>
              <a:rPr lang="en-US" sz="2000" dirty="0"/>
              <a:t> 32x32 color images categorized into </a:t>
            </a:r>
            <a:r>
              <a:rPr lang="en-US" sz="2000" b="1" dirty="0"/>
              <a:t>10 classes</a:t>
            </a:r>
            <a:r>
              <a:rPr lang="en-US" sz="2000" dirty="0"/>
              <a:t> (</a:t>
            </a:r>
            <a:r>
              <a:rPr lang="en-US" sz="2000" dirty="0" err="1"/>
              <a:t>Krizhevsky</a:t>
            </a:r>
            <a:r>
              <a:rPr lang="en-US" sz="2000" dirty="0"/>
              <a:t> et al., 2009).</a:t>
            </a:r>
          </a:p>
          <a:p>
            <a:r>
              <a:rPr lang="en-US" sz="2000" dirty="0"/>
              <a:t>In this study, we use a </a:t>
            </a:r>
            <a:r>
              <a:rPr lang="en-US" sz="2000" b="1" dirty="0"/>
              <a:t>classical machine learning pipeline</a:t>
            </a:r>
            <a:r>
              <a:rPr lang="en-US" sz="2000" dirty="0"/>
              <a:t> combining </a:t>
            </a:r>
            <a:r>
              <a:rPr lang="en-US" sz="2000" b="1" dirty="0"/>
              <a:t>Histogram of Oriented Gradients (HOG)</a:t>
            </a:r>
            <a:r>
              <a:rPr lang="en-US" sz="2000" dirty="0"/>
              <a:t> features with </a:t>
            </a:r>
            <a:r>
              <a:rPr lang="en-US" sz="2000" b="1" dirty="0"/>
              <a:t>Support Vector Machines (SVM)</a:t>
            </a:r>
            <a:r>
              <a:rPr lang="en-US" sz="2000" dirty="0"/>
              <a:t> and </a:t>
            </a:r>
            <a:r>
              <a:rPr lang="en-US" sz="2000" b="1" dirty="0"/>
              <a:t>K-Nearest Neighbors (KNN)</a:t>
            </a:r>
            <a:r>
              <a:rPr lang="en-US" sz="2000" dirty="0"/>
              <a:t> classifiers.</a:t>
            </a:r>
          </a:p>
          <a:p>
            <a:r>
              <a:rPr lang="en-US" sz="2000" dirty="0"/>
              <a:t>The aim is to assess how well traditional ML models can handle visual object recognition tasks using hand-crafted features rather than deep learning.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Picture 3" descr="A collage of images of animals&#10;&#10;Description automatically generated">
            <a:extLst>
              <a:ext uri="{FF2B5EF4-FFF2-40B4-BE49-F238E27FC236}">
                <a16:creationId xmlns:a16="http://schemas.microsoft.com/office/drawing/2014/main" id="{BED1EF00-5E52-B6E9-54FB-125F78405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2918671"/>
            <a:ext cx="4788505" cy="2288401"/>
          </a:xfrm>
          <a:prstGeom prst="rect">
            <a:avLst/>
          </a:prstGeom>
        </p:spPr>
      </p:pic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308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36CAD-2B83-AA65-2D87-3A49E8468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07844-2762-4C08-97F1-293775E05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r>
              <a:rPr lang="en-US" sz="1900"/>
              <a:t>CIFAR-10 has balanced classes (6,000 images per class).</a:t>
            </a:r>
          </a:p>
          <a:p>
            <a:r>
              <a:rPr lang="en-US" sz="1900"/>
              <a:t>Images are 32x32 RGB.</a:t>
            </a:r>
          </a:p>
          <a:p>
            <a:r>
              <a:rPr lang="en-US" sz="1900"/>
              <a:t>Visualization: Diverse objects, high intra-class variance.</a:t>
            </a:r>
          </a:p>
          <a:p>
            <a:r>
              <a:rPr lang="en-US" sz="1900"/>
              <a:t>Challenge: Low resolution, complex patterns—unsuitable for raw ML input without feature engineering.</a:t>
            </a:r>
          </a:p>
          <a:p>
            <a:pPr marL="0" indent="0">
              <a:buNone/>
            </a:pPr>
            <a:endParaRPr lang="en-US" sz="19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E0B5F7-AB97-A505-825B-8F3BC02B5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72" y="1580745"/>
            <a:ext cx="6389346" cy="370581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89058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02239D2-A05D-4A1C-9F06-FBA7FC730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A0BBD6-2B7B-3832-000C-788FD64DC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538956"/>
            <a:ext cx="8985250" cy="1118394"/>
          </a:xfrm>
        </p:spPr>
        <p:txBody>
          <a:bodyPr anchor="t">
            <a:normAutofit/>
          </a:bodyPr>
          <a:lstStyle/>
          <a:p>
            <a:r>
              <a:rPr lang="en-US" sz="4000"/>
              <a:t>Pre-Processing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54C30E-6A47-48B2-5F7E-956824F20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71" y="5227778"/>
            <a:ext cx="10940143" cy="109126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A610D-B592-A89E-1E38-6047C10C6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847849"/>
            <a:ext cx="9994900" cy="4254501"/>
          </a:xfrm>
        </p:spPr>
        <p:txBody>
          <a:bodyPr>
            <a:normAutofit/>
          </a:bodyPr>
          <a:lstStyle/>
          <a:p>
            <a:r>
              <a:rPr lang="en-US" sz="2000" dirty="0"/>
              <a:t>Images were </a:t>
            </a:r>
            <a:r>
              <a:rPr lang="en-US" sz="2000" b="1" dirty="0" err="1"/>
              <a:t>normalised</a:t>
            </a:r>
            <a:r>
              <a:rPr lang="en-US" sz="2000" dirty="0"/>
              <a:t> by scaling pixel values to the range </a:t>
            </a:r>
            <a:r>
              <a:rPr lang="en-US" sz="2000" b="1" dirty="0"/>
              <a:t>[0, 1]</a:t>
            </a:r>
            <a:r>
              <a:rPr lang="en-US" sz="2000" dirty="0"/>
              <a:t>.</a:t>
            </a:r>
          </a:p>
          <a:p>
            <a:r>
              <a:rPr lang="en-US" sz="2000" b="1" dirty="0"/>
              <a:t>Feature Extraction:</a:t>
            </a:r>
            <a:endParaRPr lang="en-US" sz="2000" dirty="0"/>
          </a:p>
          <a:p>
            <a:pPr lvl="1"/>
            <a:r>
              <a:rPr lang="en-US" sz="2000" dirty="0"/>
              <a:t>Converted </a:t>
            </a:r>
            <a:r>
              <a:rPr lang="en-US" sz="2000" b="1" dirty="0"/>
              <a:t>RGB images to grayscale</a:t>
            </a:r>
            <a:r>
              <a:rPr lang="en-US" sz="2000" dirty="0"/>
              <a:t> to simplify computations.</a:t>
            </a:r>
          </a:p>
          <a:p>
            <a:pPr lvl="1"/>
            <a:r>
              <a:rPr lang="en-US" sz="2000" dirty="0"/>
              <a:t>Applied </a:t>
            </a:r>
            <a:r>
              <a:rPr lang="en-US" sz="2000" b="1" dirty="0"/>
              <a:t>Histogram of Oriented Gradients (HOG)</a:t>
            </a:r>
            <a:r>
              <a:rPr lang="en-US" sz="2000" dirty="0"/>
              <a:t> to extract shape and edge-based features.</a:t>
            </a:r>
          </a:p>
          <a:p>
            <a:r>
              <a:rPr lang="en-US" sz="2000" dirty="0"/>
              <a:t>HOG captures </a:t>
            </a:r>
            <a:r>
              <a:rPr lang="en-US" sz="2000" b="1" dirty="0"/>
              <a:t>texture and orientation information</a:t>
            </a:r>
            <a:r>
              <a:rPr lang="en-US" sz="2000" dirty="0"/>
              <a:t>, which is critical for enabling classical models like SVM and KNN to distinguish object classes effectively (Dalal &amp; Triggs, 2005).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37599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D5CC8E-3BDC-C422-291D-588926075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Data Partitioning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87F83-17E1-11F3-A1AC-4D3F88831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000"/>
              <a:t>Combined CIFAR-10 train &amp; test sets (60,000 images).</a:t>
            </a:r>
          </a:p>
          <a:p>
            <a:r>
              <a:rPr lang="en-US" sz="2000"/>
              <a:t>Split:</a:t>
            </a:r>
          </a:p>
          <a:p>
            <a:pPr lvl="1"/>
            <a:r>
              <a:rPr lang="en-US" sz="2000"/>
              <a:t>60% Training (36,000)</a:t>
            </a:r>
          </a:p>
          <a:p>
            <a:pPr lvl="1"/>
            <a:r>
              <a:rPr lang="en-US" sz="2000"/>
              <a:t>20% Validation (12,000)</a:t>
            </a:r>
          </a:p>
          <a:p>
            <a:pPr lvl="1"/>
            <a:r>
              <a:rPr lang="en-US" sz="2000"/>
              <a:t>20% Test (12,000)</a:t>
            </a:r>
          </a:p>
          <a:p>
            <a:r>
              <a:rPr lang="en-US" sz="2000"/>
              <a:t>Stratified sampling ensured class balance in all subsets.</a:t>
            </a:r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4" name="Picture 3" descr="Training Set คืออะไร ทำไมเราต้องแยกชุดข้อมูล Train / Test Split เป็น ...">
            <a:extLst>
              <a:ext uri="{FF2B5EF4-FFF2-40B4-BE49-F238E27FC236}">
                <a16:creationId xmlns:a16="http://schemas.microsoft.com/office/drawing/2014/main" id="{01E72FAF-B7AC-1597-84C0-4C630B3CF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677181"/>
            <a:ext cx="6903720" cy="350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385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43AB22-1140-AB5E-18B7-6DED1FF83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Model Architecture (Classical ML)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C2842-24E4-685B-B09B-E1EF1A75A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000" b="1"/>
              <a:t>Support Vector Machine (SVM):</a:t>
            </a:r>
            <a:endParaRPr lang="en-US" sz="2000"/>
          </a:p>
          <a:p>
            <a:pPr lvl="1"/>
            <a:r>
              <a:rPr lang="en-US" sz="2000"/>
              <a:t>Linear kernel</a:t>
            </a:r>
          </a:p>
          <a:p>
            <a:pPr lvl="1"/>
            <a:r>
              <a:rPr lang="en-US" sz="2000"/>
              <a:t>C = 1 (regularization)</a:t>
            </a:r>
          </a:p>
          <a:p>
            <a:r>
              <a:rPr lang="en-US" sz="2000" b="1"/>
              <a:t>K-Nearest Neighbors (KNN):</a:t>
            </a:r>
            <a:endParaRPr lang="en-US" sz="2000"/>
          </a:p>
          <a:p>
            <a:pPr lvl="1"/>
            <a:r>
              <a:rPr lang="en-US" sz="2000"/>
              <a:t>k = 5</a:t>
            </a:r>
          </a:p>
          <a:p>
            <a:r>
              <a:rPr lang="en-US" sz="2000"/>
              <a:t>Both trained on HOG features (~5,000 dimensions/image).</a:t>
            </a:r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5" name="Picture 4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6C783AA9-83CE-FA4E-CD2B-DBE3688A3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353713"/>
            <a:ext cx="6903720" cy="415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860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A8495B-FA01-F8AF-4F1F-4F842A4B2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en-US" sz="6600" dirty="0"/>
              <a:t>Training Strategy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CCBA1-4239-EEE5-1048-D8BA45D65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4339" y="1336945"/>
            <a:ext cx="5817829" cy="4180542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2400" dirty="0"/>
              <a:t>Feature extraction via HOG: ~few minutes for 60,000 images.</a:t>
            </a:r>
          </a:p>
          <a:p>
            <a:r>
              <a:rPr lang="en-US" sz="2400" dirty="0"/>
              <a:t>SVM and KNN trained on 36,000 samples.</a:t>
            </a:r>
          </a:p>
          <a:p>
            <a:r>
              <a:rPr lang="en-US" sz="2400" dirty="0"/>
              <a:t>No epoch/batch structure—classical models train once.</a:t>
            </a:r>
          </a:p>
          <a:p>
            <a:r>
              <a:rPr lang="en-US" sz="2400" dirty="0"/>
              <a:t>Validation used for model comparison before testing.</a:t>
            </a:r>
          </a:p>
          <a:p>
            <a:pPr marL="0" indent="0">
              <a:buNone/>
            </a:pPr>
            <a:r>
              <a:rPr lang="en-US" sz="2400" dirty="0"/>
              <a:t>Unlike deep learning, classical models don’t involve iterative training with loss curves (Rawat &amp; Wang, 2017). Instead, the models were trained once on precomputed HOG features, using the scikit-learn framework (Pedregosa et al., 2011).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1407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7EF719-18D8-A5C1-A3F8-5A4FADC4F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2" y="1188637"/>
            <a:ext cx="3928083" cy="4480726"/>
          </a:xfrm>
        </p:spPr>
        <p:txBody>
          <a:bodyPr>
            <a:normAutofit/>
          </a:bodyPr>
          <a:lstStyle/>
          <a:p>
            <a:pPr algn="r"/>
            <a:r>
              <a:rPr lang="en-US" sz="4000" dirty="0"/>
              <a:t>Evaluation – SVM (Validation)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E9C-D988-898B-77D0-393267CDE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r>
              <a:rPr lang="en-US" sz="2400" b="1"/>
              <a:t>Accuracy:</a:t>
            </a:r>
            <a:r>
              <a:rPr lang="en-US" sz="2400"/>
              <a:t> 52.15%</a:t>
            </a:r>
          </a:p>
          <a:p>
            <a:r>
              <a:rPr lang="en-US" sz="2400"/>
              <a:t>Stronger on structured classes (e.g., trucks, cars).</a:t>
            </a:r>
          </a:p>
          <a:p>
            <a:r>
              <a:rPr lang="en-US" sz="2400" b="1"/>
              <a:t>Confusion Matrix:</a:t>
            </a:r>
            <a:r>
              <a:rPr lang="en-US" sz="2400"/>
              <a:t> Shows confusion among animals (dog, cat, deer).</a:t>
            </a:r>
          </a:p>
          <a:p>
            <a:r>
              <a:rPr lang="en-US" sz="2400"/>
              <a:t>Macro F1: ~0.52 → fair generalization</a:t>
            </a:r>
          </a:p>
          <a:p>
            <a:pPr marL="0" indent="0"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442032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64BB55-156A-31FC-FB56-42070A3A5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4" y="1188637"/>
            <a:ext cx="3506556" cy="4480726"/>
          </a:xfrm>
        </p:spPr>
        <p:txBody>
          <a:bodyPr>
            <a:normAutofit/>
          </a:bodyPr>
          <a:lstStyle/>
          <a:p>
            <a:pPr algn="r"/>
            <a:r>
              <a:rPr lang="en-US" sz="3600" dirty="0"/>
              <a:t>Evaluation – KNN (Validation)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1DC9E-DA77-3C79-22CD-6D211A4E2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r>
              <a:rPr lang="en-US" sz="2400" b="1"/>
              <a:t>Accuracy:</a:t>
            </a:r>
            <a:r>
              <a:rPr lang="en-US" sz="2400"/>
              <a:t> 46.79%</a:t>
            </a:r>
          </a:p>
          <a:p>
            <a:r>
              <a:rPr lang="en-US" sz="2400"/>
              <a:t>Higher recall for simple shapes (e.g., class 1, class 6).</a:t>
            </a:r>
          </a:p>
          <a:p>
            <a:r>
              <a:rPr lang="en-US" sz="2400"/>
              <a:t>Struggled with high-dimensional HOG space.</a:t>
            </a:r>
          </a:p>
          <a:p>
            <a:r>
              <a:rPr lang="en-US" sz="2400" b="1"/>
              <a:t>Confusion Matrix:</a:t>
            </a:r>
            <a:r>
              <a:rPr lang="en-US" sz="2400"/>
              <a:t> Heavy confusion for animal classes.</a:t>
            </a:r>
          </a:p>
          <a:p>
            <a:pPr marL="0" indent="0"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640030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7D75FA-25EB-85C3-30A4-35AF7B526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en-US" sz="5100"/>
              <a:t>Test Set Evaluation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CB07A-A668-A7AB-6997-3D8D27368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r>
              <a:rPr lang="en-US" sz="2400" b="1"/>
              <a:t>SVM:</a:t>
            </a:r>
            <a:endParaRPr lang="en-US" sz="2400"/>
          </a:p>
          <a:p>
            <a:pPr lvl="1"/>
            <a:r>
              <a:rPr lang="en-US" dirty="0"/>
              <a:t>Accuracy: 52.39%</a:t>
            </a:r>
          </a:p>
          <a:p>
            <a:pPr lvl="1"/>
            <a:r>
              <a:rPr lang="en-US" dirty="0"/>
              <a:t>Consistent with validation</a:t>
            </a:r>
          </a:p>
          <a:p>
            <a:pPr lvl="1"/>
            <a:r>
              <a:rPr lang="en-US" dirty="0"/>
              <a:t>Best for: Airplane, Truck</a:t>
            </a:r>
          </a:p>
          <a:p>
            <a:r>
              <a:rPr lang="en-US" sz="2400" b="1"/>
              <a:t>KNN:</a:t>
            </a:r>
            <a:endParaRPr lang="en-US" sz="2400"/>
          </a:p>
          <a:p>
            <a:pPr lvl="1"/>
            <a:r>
              <a:rPr lang="en-US" dirty="0"/>
              <a:t>Accuracy: 47.05%</a:t>
            </a:r>
          </a:p>
          <a:p>
            <a:pPr lvl="1"/>
            <a:r>
              <a:rPr lang="en-US" dirty="0"/>
              <a:t>Recall bias towards simple structured classes</a:t>
            </a:r>
          </a:p>
          <a:p>
            <a:r>
              <a:rPr lang="en-US" sz="2400"/>
              <a:t>HOG + Linear SVM &gt; HOG + KNN on both sets.</a:t>
            </a:r>
          </a:p>
          <a:p>
            <a:pPr marL="0" indent="0"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251202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EF1F69-C6E3-52D7-7CE1-05B93367D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Confusion Matrix - SVM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9E027F-5D23-637E-360F-DD064C4F6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1397346"/>
            <a:ext cx="4777381" cy="3893564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B4D22F-368F-CAEF-45A2-166B67FF75F0}"/>
              </a:ext>
            </a:extLst>
          </p:cNvPr>
          <p:cNvSpPr txBox="1"/>
          <p:nvPr/>
        </p:nvSpPr>
        <p:spPr>
          <a:xfrm>
            <a:off x="5894962" y="1984443"/>
            <a:ext cx="5458838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The SVM confusion matrix shows an overall test accuracy of </a:t>
            </a:r>
            <a:r>
              <a:rPr lang="en-US" b="1" dirty="0"/>
              <a:t>52.4%</a:t>
            </a:r>
            <a:r>
              <a:rPr lang="en-US" dirty="0"/>
              <a:t>, with strong performance on digits like </a:t>
            </a:r>
            <a:r>
              <a:rPr lang="en-US" b="1" dirty="0"/>
              <a:t>0, 1, and 9</a:t>
            </a:r>
            <a:r>
              <a:rPr lang="en-US" dirty="0"/>
              <a:t>, which have the highest correct predictions. However, the model struggles with digits such as </a:t>
            </a:r>
            <a:r>
              <a:rPr lang="en-US" b="1" dirty="0"/>
              <a:t>2, 3, 4, and 5</a:t>
            </a:r>
            <a:r>
              <a:rPr lang="en-US" dirty="0"/>
              <a:t>, where frequent misclassifications occur due to overlapping features. For example, class 3 is often confused with classes 4, 5, and 6. This indicates that while the model handles some classes well, it has difficulty distinguishing between similar-looking digits, suggesting the need for better feature representation or a more advanced model.</a:t>
            </a:r>
          </a:p>
        </p:txBody>
      </p:sp>
    </p:spTree>
    <p:extLst>
      <p:ext uri="{BB962C8B-B14F-4D97-AF65-F5344CB8AC3E}">
        <p14:creationId xmlns:p14="http://schemas.microsoft.com/office/powerpoint/2010/main" val="433203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8EE043-BE2E-E0C1-2284-A2D5A8665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Confusion Matrix - KNN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B53AE7-31B8-3D95-0927-44D93A84B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1313741"/>
            <a:ext cx="4777381" cy="4060773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118B0D-7742-2EA1-5483-3FBD8E9F95C4}"/>
              </a:ext>
            </a:extLst>
          </p:cNvPr>
          <p:cNvSpPr txBox="1"/>
          <p:nvPr/>
        </p:nvSpPr>
        <p:spPr>
          <a:xfrm>
            <a:off x="5894962" y="1984443"/>
            <a:ext cx="5458838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The K‑nearest‑</a:t>
            </a:r>
            <a:r>
              <a:rPr lang="en-US" sz="1700" dirty="0" err="1"/>
              <a:t>neighbours</a:t>
            </a:r>
            <a:r>
              <a:rPr lang="en-US" sz="1700" dirty="0"/>
              <a:t> model achieves only </a:t>
            </a:r>
            <a:r>
              <a:rPr lang="en-US" sz="1700" b="1" dirty="0"/>
              <a:t>47 % accuracy</a:t>
            </a:r>
            <a:r>
              <a:rPr lang="en-US" sz="1700" dirty="0"/>
              <a:t>, so just under half of the 12 000 test digits are placed in the right class. It does best on </a:t>
            </a:r>
            <a:r>
              <a:rPr lang="en-US" sz="1700" b="1" dirty="0"/>
              <a:t>digit 1 (67 % recall), digit 6 (74 %) and digit 4 (57 %)</a:t>
            </a:r>
            <a:r>
              <a:rPr lang="en-US" sz="1700" dirty="0"/>
              <a:t>, but these gains are offset by heavy confusion elsewhere: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Digit 3</a:t>
            </a:r>
            <a:r>
              <a:rPr lang="en-US" sz="1700" dirty="0"/>
              <a:t> is mistaken for 4 or 6 almost twice as often as it is </a:t>
            </a:r>
            <a:r>
              <a:rPr lang="en-US" sz="1700" dirty="0" err="1"/>
              <a:t>recognised</a:t>
            </a:r>
            <a:r>
              <a:rPr lang="en-US" sz="1700" dirty="0"/>
              <a:t> (only 207/1200 correct).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Digit 5</a:t>
            </a:r>
            <a:r>
              <a:rPr lang="en-US" sz="1700" dirty="0"/>
              <a:t> is split across 4 and 6, giving it a recall of 29 %.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Digit 2</a:t>
            </a:r>
            <a:r>
              <a:rPr lang="en-US" sz="1700" dirty="0"/>
              <a:t> frequently falls into 4, 5 and 6, while </a:t>
            </a:r>
            <a:r>
              <a:rPr lang="en-US" sz="1700" b="1" dirty="0"/>
              <a:t>digits 8 and 9</a:t>
            </a:r>
            <a:r>
              <a:rPr lang="en-US" sz="1700" dirty="0"/>
              <a:t> are often swapped with 0 and 1.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Overall, the matrix shows that KNN handles a few classes well but struggles with those that have overlapping pixel patterns, producing broad off‑diagonal bands of errors. Better feature extraction or a more discriminative model would be needed to push accuracy higher.</a:t>
            </a:r>
          </a:p>
        </p:txBody>
      </p:sp>
    </p:spTree>
    <p:extLst>
      <p:ext uri="{BB962C8B-B14F-4D97-AF65-F5344CB8AC3E}">
        <p14:creationId xmlns:p14="http://schemas.microsoft.com/office/powerpoint/2010/main" val="456375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D43E5-A9B3-6149-95BD-3D3F0615F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Image Test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FDFB29-3F3B-8B64-3980-F14CB97044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6551" y="1825625"/>
            <a:ext cx="4558898" cy="4351338"/>
          </a:xfrm>
        </p:spPr>
      </p:pic>
    </p:spTree>
    <p:extLst>
      <p:ext uri="{BB962C8B-B14F-4D97-AF65-F5344CB8AC3E}">
        <p14:creationId xmlns:p14="http://schemas.microsoft.com/office/powerpoint/2010/main" val="2410135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8AAC95-3719-4BCD-B710-4160043D9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3A6D7BA-50E4-42FE-A0E3-FC42B7EC4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2767722"/>
            <a:ext cx="3021543" cy="1532055"/>
          </a:xfrm>
          <a:custGeom>
            <a:avLst/>
            <a:gdLst>
              <a:gd name="connsiteX0" fmla="*/ 3021543 w 3021543"/>
              <a:gd name="connsiteY0" fmla="*/ 0 h 1532055"/>
              <a:gd name="connsiteX1" fmla="*/ 2963800 w 3021543"/>
              <a:gd name="connsiteY1" fmla="*/ 7730 h 1532055"/>
              <a:gd name="connsiteX2" fmla="*/ 2793803 w 3021543"/>
              <a:gd name="connsiteY2" fmla="*/ 25704 h 1532055"/>
              <a:gd name="connsiteX3" fmla="*/ 2414348 w 3021543"/>
              <a:gd name="connsiteY3" fmla="*/ 31695 h 1532055"/>
              <a:gd name="connsiteX4" fmla="*/ 2091558 w 3021543"/>
              <a:gd name="connsiteY4" fmla="*/ 29298 h 1532055"/>
              <a:gd name="connsiteX5" fmla="*/ 1645319 w 3021543"/>
              <a:gd name="connsiteY5" fmla="*/ 30497 h 1532055"/>
              <a:gd name="connsiteX6" fmla="*/ 1243602 w 3021543"/>
              <a:gd name="connsiteY6" fmla="*/ 64048 h 1532055"/>
              <a:gd name="connsiteX7" fmla="*/ 753851 w 3021543"/>
              <a:gd name="connsiteY7" fmla="*/ 61651 h 1532055"/>
              <a:gd name="connsiteX8" fmla="*/ 465465 w 3021543"/>
              <a:gd name="connsiteY8" fmla="*/ 123960 h 1532055"/>
              <a:gd name="connsiteX9" fmla="*/ 546416 w 3021543"/>
              <a:gd name="connsiteY9" fmla="*/ 145529 h 1532055"/>
              <a:gd name="connsiteX10" fmla="*/ 689091 w 3021543"/>
              <a:gd name="connsiteY10" fmla="*/ 192260 h 1532055"/>
              <a:gd name="connsiteX11" fmla="*/ 704269 w 3021543"/>
              <a:gd name="connsiteY11" fmla="*/ 222217 h 1532055"/>
              <a:gd name="connsiteX12" fmla="*/ 683020 w 3021543"/>
              <a:gd name="connsiteY12" fmla="*/ 236595 h 1532055"/>
              <a:gd name="connsiteX13" fmla="*/ 621295 w 3021543"/>
              <a:gd name="connsiteY13" fmla="*/ 264155 h 1532055"/>
              <a:gd name="connsiteX14" fmla="*/ 848968 w 3021543"/>
              <a:gd name="connsiteY14" fmla="*/ 304896 h 1532055"/>
              <a:gd name="connsiteX15" fmla="*/ 768018 w 3021543"/>
              <a:gd name="connsiteY15" fmla="*/ 330059 h 1532055"/>
              <a:gd name="connsiteX16" fmla="*/ 684032 w 3021543"/>
              <a:gd name="connsiteY16" fmla="*/ 348032 h 1532055"/>
              <a:gd name="connsiteX17" fmla="*/ 592962 w 3021543"/>
              <a:gd name="connsiteY17" fmla="*/ 361213 h 1532055"/>
              <a:gd name="connsiteX18" fmla="*/ 509988 w 3021543"/>
              <a:gd name="connsiteY18" fmla="*/ 387575 h 1532055"/>
              <a:gd name="connsiteX19" fmla="*/ 726531 w 3021543"/>
              <a:gd name="connsiteY19" fmla="*/ 398359 h 1532055"/>
              <a:gd name="connsiteX20" fmla="*/ 614212 w 3021543"/>
              <a:gd name="connsiteY20" fmla="*/ 422324 h 1532055"/>
              <a:gd name="connsiteX21" fmla="*/ 522131 w 3021543"/>
              <a:gd name="connsiteY21" fmla="*/ 453478 h 1532055"/>
              <a:gd name="connsiteX22" fmla="*/ 457370 w 3021543"/>
              <a:gd name="connsiteY22" fmla="*/ 467857 h 1532055"/>
              <a:gd name="connsiteX23" fmla="*/ 388562 w 3021543"/>
              <a:gd name="connsiteY23" fmla="*/ 471452 h 1532055"/>
              <a:gd name="connsiteX24" fmla="*/ 372372 w 3021543"/>
              <a:gd name="connsiteY24" fmla="*/ 494218 h 1532055"/>
              <a:gd name="connsiteX25" fmla="*/ 393622 w 3021543"/>
              <a:gd name="connsiteY25" fmla="*/ 518184 h 1532055"/>
              <a:gd name="connsiteX26" fmla="*/ 426002 w 3021543"/>
              <a:gd name="connsiteY26" fmla="*/ 520580 h 1532055"/>
              <a:gd name="connsiteX27" fmla="*/ 619271 w 3021543"/>
              <a:gd name="connsiteY27" fmla="*/ 526571 h 1532055"/>
              <a:gd name="connsiteX28" fmla="*/ 0 w 3021543"/>
              <a:gd name="connsiteY28" fmla="*/ 579294 h 1532055"/>
              <a:gd name="connsiteX29" fmla="*/ 83986 w 3021543"/>
              <a:gd name="connsiteY29" fmla="*/ 611647 h 1532055"/>
              <a:gd name="connsiteX30" fmla="*/ 112319 w 3021543"/>
              <a:gd name="connsiteY30" fmla="*/ 700317 h 1532055"/>
              <a:gd name="connsiteX31" fmla="*/ 215531 w 3021543"/>
              <a:gd name="connsiteY31" fmla="*/ 750643 h 1532055"/>
              <a:gd name="connsiteX32" fmla="*/ 282315 w 3021543"/>
              <a:gd name="connsiteY32" fmla="*/ 768617 h 1532055"/>
              <a:gd name="connsiteX33" fmla="*/ 435109 w 3021543"/>
              <a:gd name="connsiteY33" fmla="*/ 794979 h 1532055"/>
              <a:gd name="connsiteX34" fmla="*/ 457370 w 3021543"/>
              <a:gd name="connsiteY34" fmla="*/ 838116 h 1532055"/>
              <a:gd name="connsiteX35" fmla="*/ 476596 w 3021543"/>
              <a:gd name="connsiteY35" fmla="*/ 886046 h 1532055"/>
              <a:gd name="connsiteX36" fmla="*/ 517071 w 3021543"/>
              <a:gd name="connsiteY36" fmla="*/ 917200 h 1532055"/>
              <a:gd name="connsiteX37" fmla="*/ 202377 w 3021543"/>
              <a:gd name="connsiteY37" fmla="*/ 912407 h 1532055"/>
              <a:gd name="connsiteX38" fmla="*/ 557546 w 3021543"/>
              <a:gd name="connsiteY38" fmla="*/ 1013060 h 1532055"/>
              <a:gd name="connsiteX39" fmla="*/ 526178 w 3021543"/>
              <a:gd name="connsiteY39" fmla="*/ 1052602 h 1532055"/>
              <a:gd name="connsiteX40" fmla="*/ 720459 w 3021543"/>
              <a:gd name="connsiteY40" fmla="*/ 1106523 h 1532055"/>
              <a:gd name="connsiteX41" fmla="*/ 616236 w 3021543"/>
              <a:gd name="connsiteY41" fmla="*/ 1112514 h 1532055"/>
              <a:gd name="connsiteX42" fmla="*/ 1222353 w 3021543"/>
              <a:gd name="connsiteY42" fmla="*/ 1337785 h 1532055"/>
              <a:gd name="connsiteX43" fmla="*/ 2087511 w 3021543"/>
              <a:gd name="connsiteY43" fmla="*/ 1500747 h 1532055"/>
              <a:gd name="connsiteX44" fmla="*/ 2425479 w 3021543"/>
              <a:gd name="connsiteY44" fmla="*/ 1531901 h 1532055"/>
              <a:gd name="connsiteX45" fmla="*/ 2809994 w 3021543"/>
              <a:gd name="connsiteY45" fmla="*/ 1522315 h 1532055"/>
              <a:gd name="connsiteX46" fmla="*/ 2953618 w 3021543"/>
              <a:gd name="connsiteY46" fmla="*/ 1512448 h 1532055"/>
              <a:gd name="connsiteX47" fmla="*/ 3021543 w 3021543"/>
              <a:gd name="connsiteY47" fmla="*/ 1502657 h 1532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532055">
                <a:moveTo>
                  <a:pt x="3021543" y="0"/>
                </a:moveTo>
                <a:lnTo>
                  <a:pt x="2963800" y="7730"/>
                </a:lnTo>
                <a:cubicBezTo>
                  <a:pt x="2907134" y="14919"/>
                  <a:pt x="2850469" y="24506"/>
                  <a:pt x="2793803" y="25704"/>
                </a:cubicBezTo>
                <a:cubicBezTo>
                  <a:pt x="2667318" y="29298"/>
                  <a:pt x="2539821" y="20911"/>
                  <a:pt x="2414348" y="31695"/>
                </a:cubicBezTo>
                <a:cubicBezTo>
                  <a:pt x="2307089" y="41281"/>
                  <a:pt x="2198818" y="30497"/>
                  <a:pt x="2091558" y="29298"/>
                </a:cubicBezTo>
                <a:cubicBezTo>
                  <a:pt x="1942812" y="28100"/>
                  <a:pt x="1793053" y="19713"/>
                  <a:pt x="1645319" y="30497"/>
                </a:cubicBezTo>
                <a:cubicBezTo>
                  <a:pt x="1510738" y="38885"/>
                  <a:pt x="1376158" y="41281"/>
                  <a:pt x="1243602" y="64048"/>
                </a:cubicBezTo>
                <a:cubicBezTo>
                  <a:pt x="1079677" y="76030"/>
                  <a:pt x="916765" y="68841"/>
                  <a:pt x="753851" y="61651"/>
                </a:cubicBezTo>
                <a:cubicBezTo>
                  <a:pt x="653675" y="56858"/>
                  <a:pt x="554511" y="41281"/>
                  <a:pt x="465465" y="123960"/>
                </a:cubicBezTo>
                <a:cubicBezTo>
                  <a:pt x="489751" y="143132"/>
                  <a:pt x="519095" y="139537"/>
                  <a:pt x="546416" y="145529"/>
                </a:cubicBezTo>
                <a:cubicBezTo>
                  <a:pt x="594986" y="157511"/>
                  <a:pt x="643557" y="169493"/>
                  <a:pt x="689091" y="192260"/>
                </a:cubicBezTo>
                <a:cubicBezTo>
                  <a:pt x="699210" y="197053"/>
                  <a:pt x="708317" y="206639"/>
                  <a:pt x="704269" y="222217"/>
                </a:cubicBezTo>
                <a:cubicBezTo>
                  <a:pt x="701234" y="234199"/>
                  <a:pt x="691115" y="234199"/>
                  <a:pt x="683020" y="236595"/>
                </a:cubicBezTo>
                <a:cubicBezTo>
                  <a:pt x="664806" y="243785"/>
                  <a:pt x="642545" y="238992"/>
                  <a:pt x="621295" y="264155"/>
                </a:cubicBezTo>
                <a:cubicBezTo>
                  <a:pt x="702245" y="277336"/>
                  <a:pt x="780160" y="252172"/>
                  <a:pt x="848968" y="304896"/>
                </a:cubicBezTo>
                <a:cubicBezTo>
                  <a:pt x="823671" y="331257"/>
                  <a:pt x="795339" y="325266"/>
                  <a:pt x="768018" y="330059"/>
                </a:cubicBezTo>
                <a:cubicBezTo>
                  <a:pt x="739685" y="334852"/>
                  <a:pt x="712365" y="343240"/>
                  <a:pt x="684032" y="348032"/>
                </a:cubicBezTo>
                <a:cubicBezTo>
                  <a:pt x="653675" y="354023"/>
                  <a:pt x="623319" y="355222"/>
                  <a:pt x="592962" y="361213"/>
                </a:cubicBezTo>
                <a:cubicBezTo>
                  <a:pt x="567666" y="366006"/>
                  <a:pt x="540345" y="357618"/>
                  <a:pt x="509988" y="387575"/>
                </a:cubicBezTo>
                <a:cubicBezTo>
                  <a:pt x="584867" y="409143"/>
                  <a:pt x="652663" y="376790"/>
                  <a:pt x="726531" y="398359"/>
                </a:cubicBezTo>
                <a:cubicBezTo>
                  <a:pt x="683020" y="417531"/>
                  <a:pt x="647604" y="411539"/>
                  <a:pt x="614212" y="422324"/>
                </a:cubicBezTo>
                <a:cubicBezTo>
                  <a:pt x="583855" y="433108"/>
                  <a:pt x="547428" y="421126"/>
                  <a:pt x="522131" y="453478"/>
                </a:cubicBezTo>
                <a:cubicBezTo>
                  <a:pt x="502905" y="478641"/>
                  <a:pt x="482668" y="482236"/>
                  <a:pt x="457370" y="467857"/>
                </a:cubicBezTo>
                <a:cubicBezTo>
                  <a:pt x="435109" y="454676"/>
                  <a:pt x="410824" y="458271"/>
                  <a:pt x="388562" y="471452"/>
                </a:cubicBezTo>
                <a:cubicBezTo>
                  <a:pt x="380468" y="476245"/>
                  <a:pt x="372372" y="482236"/>
                  <a:pt x="372372" y="494218"/>
                </a:cubicBezTo>
                <a:cubicBezTo>
                  <a:pt x="372372" y="510994"/>
                  <a:pt x="382491" y="515787"/>
                  <a:pt x="393622" y="518184"/>
                </a:cubicBezTo>
                <a:cubicBezTo>
                  <a:pt x="403741" y="520580"/>
                  <a:pt x="415883" y="522977"/>
                  <a:pt x="426002" y="520580"/>
                </a:cubicBezTo>
                <a:cubicBezTo>
                  <a:pt x="490762" y="507399"/>
                  <a:pt x="554511" y="528968"/>
                  <a:pt x="619271" y="526571"/>
                </a:cubicBezTo>
                <a:cubicBezTo>
                  <a:pt x="415883" y="578096"/>
                  <a:pt x="210471" y="561321"/>
                  <a:pt x="0" y="579294"/>
                </a:cubicBezTo>
                <a:cubicBezTo>
                  <a:pt x="27321" y="615241"/>
                  <a:pt x="62737" y="585286"/>
                  <a:pt x="83986" y="611647"/>
                </a:cubicBezTo>
                <a:cubicBezTo>
                  <a:pt x="63748" y="666766"/>
                  <a:pt x="71844" y="696722"/>
                  <a:pt x="112319" y="700317"/>
                </a:cubicBezTo>
                <a:cubicBezTo>
                  <a:pt x="151782" y="703912"/>
                  <a:pt x="194281" y="684740"/>
                  <a:pt x="215531" y="750643"/>
                </a:cubicBezTo>
                <a:cubicBezTo>
                  <a:pt x="221602" y="771014"/>
                  <a:pt x="259042" y="765023"/>
                  <a:pt x="282315" y="768617"/>
                </a:cubicBezTo>
                <a:cubicBezTo>
                  <a:pt x="332909" y="777005"/>
                  <a:pt x="386539" y="768617"/>
                  <a:pt x="435109" y="794979"/>
                </a:cubicBezTo>
                <a:cubicBezTo>
                  <a:pt x="454335" y="804565"/>
                  <a:pt x="467489" y="811754"/>
                  <a:pt x="457370" y="838116"/>
                </a:cubicBezTo>
                <a:cubicBezTo>
                  <a:pt x="447252" y="865675"/>
                  <a:pt x="460406" y="875261"/>
                  <a:pt x="476596" y="886046"/>
                </a:cubicBezTo>
                <a:cubicBezTo>
                  <a:pt x="488739" y="894433"/>
                  <a:pt x="506953" y="892037"/>
                  <a:pt x="517071" y="917200"/>
                </a:cubicBezTo>
                <a:cubicBezTo>
                  <a:pt x="410824" y="913605"/>
                  <a:pt x="307612" y="893235"/>
                  <a:pt x="202377" y="912407"/>
                </a:cubicBezTo>
                <a:cubicBezTo>
                  <a:pt x="317731" y="960337"/>
                  <a:pt x="444216" y="957940"/>
                  <a:pt x="557546" y="1013060"/>
                </a:cubicBezTo>
                <a:cubicBezTo>
                  <a:pt x="553499" y="1032232"/>
                  <a:pt x="527190" y="1023844"/>
                  <a:pt x="526178" y="1052602"/>
                </a:cubicBezTo>
                <a:cubicBezTo>
                  <a:pt x="585879" y="1082558"/>
                  <a:pt x="657723" y="1062188"/>
                  <a:pt x="720459" y="1106523"/>
                </a:cubicBezTo>
                <a:cubicBezTo>
                  <a:pt x="684032" y="1126893"/>
                  <a:pt x="650640" y="1093342"/>
                  <a:pt x="616236" y="1112514"/>
                </a:cubicBezTo>
                <a:cubicBezTo>
                  <a:pt x="627367" y="1141273"/>
                  <a:pt x="1131283" y="1318613"/>
                  <a:pt x="1222353" y="1337785"/>
                </a:cubicBezTo>
                <a:cubicBezTo>
                  <a:pt x="1407527" y="1377327"/>
                  <a:pt x="1940788" y="1477980"/>
                  <a:pt x="2087511" y="1500747"/>
                </a:cubicBezTo>
                <a:cubicBezTo>
                  <a:pt x="2200841" y="1517522"/>
                  <a:pt x="2313160" y="1530703"/>
                  <a:pt x="2425479" y="1531901"/>
                </a:cubicBezTo>
                <a:cubicBezTo>
                  <a:pt x="2553988" y="1533099"/>
                  <a:pt x="2681485" y="1527108"/>
                  <a:pt x="2809994" y="1522315"/>
                </a:cubicBezTo>
                <a:cubicBezTo>
                  <a:pt x="2858058" y="1520518"/>
                  <a:pt x="2905933" y="1517372"/>
                  <a:pt x="2953618" y="1512448"/>
                </a:cubicBezTo>
                <a:lnTo>
                  <a:pt x="3021543" y="1502657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93D45B-0CAF-23E6-A660-C24CC50D6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199"/>
            <a:ext cx="4191000" cy="5338763"/>
          </a:xfrm>
        </p:spPr>
        <p:txBody>
          <a:bodyPr>
            <a:normAutofit/>
          </a:bodyPr>
          <a:lstStyle/>
          <a:p>
            <a:r>
              <a:rPr lang="en-US" dirty="0"/>
              <a:t>Strengths &amp; Weaknesses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E9190-DBCC-629E-8958-956B9397B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2332" y="838199"/>
            <a:ext cx="6051468" cy="5338763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/>
              <a:t>Strengths</a:t>
            </a:r>
          </a:p>
          <a:p>
            <a:r>
              <a:rPr lang="en-US" sz="1700" b="1" dirty="0"/>
              <a:t>Simple &amp; Interpretable</a:t>
            </a:r>
            <a:r>
              <a:rPr lang="en-US" sz="1700" dirty="0"/>
              <a:t>: Easy to implement and analyze.</a:t>
            </a:r>
          </a:p>
          <a:p>
            <a:r>
              <a:rPr lang="en-US" sz="1700" b="1" dirty="0"/>
              <a:t>No need for large GPU resources</a:t>
            </a:r>
            <a:r>
              <a:rPr lang="en-US" sz="1700" dirty="0"/>
              <a:t>: Efficient on CPU.</a:t>
            </a:r>
          </a:p>
          <a:p>
            <a:r>
              <a:rPr lang="en-US" sz="1700" b="1" dirty="0"/>
              <a:t>Effective with limited data</a:t>
            </a:r>
            <a:r>
              <a:rPr lang="en-US" sz="1700" dirty="0"/>
              <a:t>: Performs reasonably well without massive datasets.</a:t>
            </a:r>
          </a:p>
          <a:p>
            <a:r>
              <a:rPr lang="en-US" sz="1700" b="1" dirty="0"/>
              <a:t>HOG captures shape/orientation features</a:t>
            </a:r>
            <a:r>
              <a:rPr lang="en-US" sz="1700" dirty="0"/>
              <a:t>: Good for structured patterns (e.g., edges, contours) </a:t>
            </a:r>
            <a:r>
              <a:rPr lang="en-US" sz="1600" dirty="0"/>
              <a:t>(Dalal &amp; Triggs, 2005).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/>
              <a:t>Weaknesses</a:t>
            </a:r>
          </a:p>
          <a:p>
            <a:r>
              <a:rPr lang="en-US" sz="1700" b="1" dirty="0"/>
              <a:t>Lower accuracy on complex datasets like CIFAR-10</a:t>
            </a:r>
            <a:r>
              <a:rPr lang="en-US" sz="1700" dirty="0"/>
              <a:t>: Can't capture high-level abstract features (e.g., textures, context).</a:t>
            </a:r>
          </a:p>
          <a:p>
            <a:r>
              <a:rPr lang="en-US" sz="1700" b="1" dirty="0"/>
              <a:t>No end-to-end learning</a:t>
            </a:r>
            <a:r>
              <a:rPr lang="en-US" sz="1700" dirty="0"/>
              <a:t>: Feature extraction (HOG) is fixed, not optimized with classification.</a:t>
            </a:r>
          </a:p>
          <a:p>
            <a:r>
              <a:rPr lang="en-US" sz="1700" b="1" dirty="0"/>
              <a:t>Scalability issues</a:t>
            </a:r>
            <a:r>
              <a:rPr lang="en-US" sz="1700" dirty="0"/>
              <a:t>:</a:t>
            </a:r>
          </a:p>
          <a:p>
            <a:pPr lvl="1"/>
            <a:r>
              <a:rPr lang="en-US" sz="1700" dirty="0"/>
              <a:t>SVMs are slow on large datasets.</a:t>
            </a:r>
          </a:p>
          <a:p>
            <a:pPr lvl="1"/>
            <a:r>
              <a:rPr lang="en-US" sz="1700" dirty="0"/>
              <a:t>KNN is memory-heavy and slow during prediction.</a:t>
            </a:r>
          </a:p>
          <a:p>
            <a:r>
              <a:rPr lang="en-US" sz="1700" b="1" dirty="0"/>
              <a:t>No training curves</a:t>
            </a:r>
            <a:r>
              <a:rPr lang="en-US" sz="1700" dirty="0"/>
              <a:t>: Harder to monitor learning progress (unlike deep learning models).</a:t>
            </a:r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991564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BC73B2-68B7-F921-2AC3-E960EAFBE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Comparative Insights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F08FBB2-CFEC-3E46-F8B8-5A58340DA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66" y="2031101"/>
            <a:ext cx="4282984" cy="35119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1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Trade-Offs: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457200" marR="0" lvl="1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SVM generalizes better in high-dimensional HOG space.</a:t>
            </a:r>
          </a:p>
          <a:p>
            <a:pPr marL="457200" marR="0" lvl="1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KNN suffers due to curse of dimensionality.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C60DE3-05B1-3221-193B-0C7885E39B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9803553"/>
              </p:ext>
            </p:extLst>
          </p:nvPr>
        </p:nvGraphicFramePr>
        <p:xfrm>
          <a:off x="5987738" y="1131957"/>
          <a:ext cx="5628019" cy="43612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1685">
                  <a:extLst>
                    <a:ext uri="{9D8B030D-6E8A-4147-A177-3AD203B41FA5}">
                      <a16:colId xmlns:a16="http://schemas.microsoft.com/office/drawing/2014/main" val="2231464624"/>
                    </a:ext>
                  </a:extLst>
                </a:gridCol>
                <a:gridCol w="1845738">
                  <a:extLst>
                    <a:ext uri="{9D8B030D-6E8A-4147-A177-3AD203B41FA5}">
                      <a16:colId xmlns:a16="http://schemas.microsoft.com/office/drawing/2014/main" val="4032511499"/>
                    </a:ext>
                  </a:extLst>
                </a:gridCol>
                <a:gridCol w="1860596">
                  <a:extLst>
                    <a:ext uri="{9D8B030D-6E8A-4147-A177-3AD203B41FA5}">
                      <a16:colId xmlns:a16="http://schemas.microsoft.com/office/drawing/2014/main" val="1991981912"/>
                    </a:ext>
                  </a:extLst>
                </a:gridCol>
              </a:tblGrid>
              <a:tr h="672534"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Metric</a:t>
                      </a:r>
                    </a:p>
                  </a:txBody>
                  <a:tcPr marL="301644" marR="226233" marT="150822" marB="150822" anchor="ctr"/>
                </a:tc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SVM</a:t>
                      </a:r>
                    </a:p>
                  </a:txBody>
                  <a:tcPr marL="301644" marR="226233" marT="150822" marB="150822" anchor="ctr"/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KNN</a:t>
                      </a:r>
                    </a:p>
                  </a:txBody>
                  <a:tcPr marL="301644" marR="226233" marT="150822" marB="150822" anchor="ctr"/>
                </a:tc>
                <a:extLst>
                  <a:ext uri="{0D108BD9-81ED-4DB2-BD59-A6C34878D82A}">
                    <a16:rowId xmlns:a16="http://schemas.microsoft.com/office/drawing/2014/main" val="658601818"/>
                  </a:ext>
                </a:extLst>
              </a:tr>
              <a:tr h="672534"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Accuracy</a:t>
                      </a:r>
                    </a:p>
                  </a:txBody>
                  <a:tcPr marL="301644" marR="226233" marT="150822" marB="150822" anchor="ctr"/>
                </a:tc>
                <a:tc>
                  <a:txBody>
                    <a:bodyPr/>
                    <a:lstStyle/>
                    <a:p>
                      <a:r>
                        <a:rPr lang="en-US" sz="22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52.4%</a:t>
                      </a:r>
                    </a:p>
                  </a:txBody>
                  <a:tcPr marL="301644" marR="226233" marT="150822" marB="150822" anchor="ctr"/>
                </a:tc>
                <a:tc>
                  <a:txBody>
                    <a:bodyPr/>
                    <a:lstStyle/>
                    <a:p>
                      <a:r>
                        <a:rPr lang="en-US" sz="2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47.0%</a:t>
                      </a:r>
                    </a:p>
                  </a:txBody>
                  <a:tcPr marL="301644" marR="226233" marT="150822" marB="150822" anchor="ctr"/>
                </a:tc>
                <a:extLst>
                  <a:ext uri="{0D108BD9-81ED-4DB2-BD59-A6C34878D82A}">
                    <a16:rowId xmlns:a16="http://schemas.microsoft.com/office/drawing/2014/main" val="2916028585"/>
                  </a:ext>
                </a:extLst>
              </a:tr>
              <a:tr h="672534"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Precision</a:t>
                      </a:r>
                    </a:p>
                  </a:txBody>
                  <a:tcPr marL="301644" marR="226233" marT="150822" marB="150822" anchor="ctr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Moderate</a:t>
                      </a:r>
                    </a:p>
                  </a:txBody>
                  <a:tcPr marL="301644" marR="226233" marT="150822" marB="150822" anchor="ctr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Lower</a:t>
                      </a:r>
                    </a:p>
                  </a:txBody>
                  <a:tcPr marL="301644" marR="226233" marT="150822" marB="150822" anchor="ctr"/>
                </a:tc>
                <a:extLst>
                  <a:ext uri="{0D108BD9-81ED-4DB2-BD59-A6C34878D82A}">
                    <a16:rowId xmlns:a16="http://schemas.microsoft.com/office/drawing/2014/main" val="2072480438"/>
                  </a:ext>
                </a:extLst>
              </a:tr>
              <a:tr h="1338233"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Confusion</a:t>
                      </a:r>
                    </a:p>
                  </a:txBody>
                  <a:tcPr marL="301644" marR="226233" marT="150822" marB="150822" anchor="ctr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Balanced</a:t>
                      </a:r>
                    </a:p>
                  </a:txBody>
                  <a:tcPr marL="301644" marR="226233" marT="150822" marB="150822" anchor="ctr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More class confusion</a:t>
                      </a:r>
                    </a:p>
                  </a:txBody>
                  <a:tcPr marL="301644" marR="226233" marT="150822" marB="150822" anchor="ctr"/>
                </a:tc>
                <a:extLst>
                  <a:ext uri="{0D108BD9-81ED-4DB2-BD59-A6C34878D82A}">
                    <a16:rowId xmlns:a16="http://schemas.microsoft.com/office/drawing/2014/main" val="763655839"/>
                  </a:ext>
                </a:extLst>
              </a:tr>
              <a:tr h="1005383"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Train Speed</a:t>
                      </a:r>
                    </a:p>
                  </a:txBody>
                  <a:tcPr marL="301644" marR="226233" marT="150822" marB="150822" anchor="ctr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Slower</a:t>
                      </a:r>
                    </a:p>
                  </a:txBody>
                  <a:tcPr marL="301644" marR="226233" marT="150822" marB="150822" anchor="ctr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Faster</a:t>
                      </a:r>
                    </a:p>
                  </a:txBody>
                  <a:tcPr marL="301644" marR="226233" marT="150822" marB="150822" anchor="ctr"/>
                </a:tc>
                <a:extLst>
                  <a:ext uri="{0D108BD9-81ED-4DB2-BD59-A6C34878D82A}">
                    <a16:rowId xmlns:a16="http://schemas.microsoft.com/office/drawing/2014/main" val="1774388828"/>
                  </a:ext>
                </a:extLst>
              </a:tr>
            </a:tbl>
          </a:graphicData>
        </a:graphic>
      </p:graphicFrame>
      <p:pic>
        <p:nvPicPr>
          <p:cNvPr id="3" name="صوت مسجّل">
            <a:hlinkClick r:id="" action="ppaction://media"/>
            <a:extLst>
              <a:ext uri="{FF2B5EF4-FFF2-40B4-BE49-F238E27FC236}">
                <a16:creationId xmlns:a16="http://schemas.microsoft.com/office/drawing/2014/main" id="{C6712416-D453-1E06-9B51-4A5A4997F6E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95053" y="5008975"/>
            <a:ext cx="1502229" cy="1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438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77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A5B6B-0BF9-2E17-34C0-B8FB43B1C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/>
              <a:t>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DE7F5A-3A04-86E2-8EC6-3FA6DB8AC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39" y="2236142"/>
            <a:ext cx="5744851" cy="40678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CC08D7-049F-D5DA-5890-258C52363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505" y="2144486"/>
            <a:ext cx="5828261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741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DF9929-4194-BB19-99CE-82151C604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43" y="718456"/>
            <a:ext cx="6074228" cy="52360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489565-BC71-A624-D1D8-9BA84881D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572" y="816429"/>
            <a:ext cx="5562600" cy="471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771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939D29-E857-4708-2B6F-BB68BEE84A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466088"/>
            <a:ext cx="10905066" cy="392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3114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4677D8-ABFB-1B7F-82E5-C0093135F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en-US" sz="4600"/>
              <a:t>Conclusion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B3357-1E41-DFE3-D5AC-803CA6924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r>
              <a:rPr lang="en-US" sz="2400"/>
              <a:t>Classical ML still viable with good feature engineering.</a:t>
            </a:r>
          </a:p>
          <a:p>
            <a:r>
              <a:rPr lang="en-US" sz="2400"/>
              <a:t>HOG + SVM provides modest performance on CIFAR-10.</a:t>
            </a:r>
          </a:p>
          <a:p>
            <a:r>
              <a:rPr lang="en-US" sz="2400"/>
              <a:t>Animal classes harder due to complex texture.</a:t>
            </a:r>
          </a:p>
          <a:p>
            <a:r>
              <a:rPr lang="en-US" sz="2400"/>
              <a:t>Deep learning likely outperforms due to automatic feature learning.</a:t>
            </a:r>
          </a:p>
          <a:p>
            <a:pPr marL="0" indent="0">
              <a:buNone/>
            </a:pPr>
            <a:endParaRPr lang="en-US" sz="2400"/>
          </a:p>
        </p:txBody>
      </p:sp>
      <p:pic>
        <p:nvPicPr>
          <p:cNvPr id="4" name="صوت مسجّل">
            <a:hlinkClick r:id="" action="ppaction://media"/>
            <a:extLst>
              <a:ext uri="{FF2B5EF4-FFF2-40B4-BE49-F238E27FC236}">
                <a16:creationId xmlns:a16="http://schemas.microsoft.com/office/drawing/2014/main" id="{8336345D-6FE5-93A3-D8AB-07DD1AF7C16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222640" y="4936067"/>
            <a:ext cx="1642522" cy="164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613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5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682D8A-DA2A-ADD7-6536-D2A68E54E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0C86A-6843-668F-DC85-B8CB9141A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500" dirty="0"/>
              <a:t>Cortes, C., &amp; </a:t>
            </a:r>
            <a:r>
              <a:rPr lang="en-US" sz="1500" dirty="0" err="1"/>
              <a:t>Vapnik</a:t>
            </a:r>
            <a:r>
              <a:rPr lang="en-US" sz="1500" dirty="0"/>
              <a:t>, V. (1995). </a:t>
            </a:r>
            <a:r>
              <a:rPr lang="en-US" sz="1500" i="1" dirty="0"/>
              <a:t>Support-vector networks</a:t>
            </a:r>
            <a:r>
              <a:rPr lang="en-US" sz="1500" dirty="0"/>
              <a:t>. Machine Learning, 20(3), 273–297. Available at: </a:t>
            </a:r>
            <a:r>
              <a:rPr lang="en-US" sz="15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https://doi.org/10.1007/BF00994018</a:t>
            </a:r>
            <a:r>
              <a:rPr lang="en-US" sz="1500" dirty="0"/>
              <a:t> (Accessed: 11 July 2025).</a:t>
            </a:r>
          </a:p>
          <a:p>
            <a:pPr marL="0" indent="0">
              <a:buNone/>
            </a:pPr>
            <a:r>
              <a:rPr lang="en-US" sz="1500" dirty="0"/>
              <a:t>Cover, T., &amp; Hart, P. (1967). </a:t>
            </a:r>
            <a:r>
              <a:rPr lang="en-US" sz="1500" i="1" dirty="0"/>
              <a:t>Nearest neighbor pattern classification</a:t>
            </a:r>
            <a:r>
              <a:rPr lang="en-US" sz="1500" dirty="0"/>
              <a:t>. IEEE Transactions on Information Theory, 13(1), 21–27. Available at: </a:t>
            </a:r>
            <a:r>
              <a:rPr lang="en-US" sz="15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https://doi.org/10.1109/TIT.1967.1053964</a:t>
            </a:r>
            <a:r>
              <a:rPr lang="en-US" sz="1500" dirty="0"/>
              <a:t> (Accessed: 11 July 2025).</a:t>
            </a:r>
          </a:p>
          <a:p>
            <a:pPr marL="0" indent="0">
              <a:buNone/>
            </a:pPr>
            <a:r>
              <a:rPr lang="en-US" sz="1500" dirty="0"/>
              <a:t>Dalal, N., &amp; Triggs, B. (2005). </a:t>
            </a:r>
            <a:r>
              <a:rPr lang="en-US" sz="1500" i="1" dirty="0"/>
              <a:t>Histograms of Oriented Gradients for Human Detection</a:t>
            </a:r>
            <a:r>
              <a:rPr lang="en-US" sz="1500" dirty="0"/>
              <a:t>. In Proceedings of the IEEE Computer Society Conference on Computer Vision and Pattern Recognition (CVPR), 886–893. Available at: </a:t>
            </a:r>
            <a:r>
              <a:rPr lang="en-US" sz="15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https://doi.org/10.1109/CVPR.2005.177</a:t>
            </a:r>
            <a:r>
              <a:rPr lang="en-US" sz="1500" dirty="0"/>
              <a:t> (Accessed: 12 July 2025).</a:t>
            </a:r>
          </a:p>
          <a:p>
            <a:pPr marL="0" indent="0">
              <a:buNone/>
            </a:pPr>
            <a:r>
              <a:rPr lang="en-US" sz="1500" dirty="0" err="1"/>
              <a:t>Krizhevsky</a:t>
            </a:r>
            <a:r>
              <a:rPr lang="en-US" sz="1500" dirty="0"/>
              <a:t>, A. (2009). </a:t>
            </a:r>
            <a:r>
              <a:rPr lang="en-US" sz="1500" i="1" dirty="0"/>
              <a:t>Learning Multiple Layers of Features from Tiny Images</a:t>
            </a:r>
            <a:r>
              <a:rPr lang="en-US" sz="1500" dirty="0"/>
              <a:t>. Technical Report, University of Toronto. Available at: </a:t>
            </a:r>
            <a:br>
              <a:rPr lang="en-US" sz="1500" dirty="0"/>
            </a:br>
            <a:r>
              <a:rPr lang="en-US" sz="15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https://www.cs.toronto.edu/~kriz/cifar.html</a:t>
            </a:r>
            <a:r>
              <a:rPr lang="en-US" sz="1500" dirty="0"/>
              <a:t> (Accessed: 12 July 2025).</a:t>
            </a:r>
          </a:p>
          <a:p>
            <a:pPr marL="0" indent="0">
              <a:buNone/>
            </a:pPr>
            <a:r>
              <a:rPr lang="en-US" sz="1500" dirty="0"/>
              <a:t>Pedregosa, F., et al. (2011). </a:t>
            </a:r>
            <a:r>
              <a:rPr lang="en-US" sz="1500" i="1" dirty="0"/>
              <a:t>Scikit-learn: Machine Learning in Python</a:t>
            </a:r>
            <a:r>
              <a:rPr lang="en-US" sz="1500" dirty="0"/>
              <a:t>. Journal of Machine Learning Research, 12, 2825–2830. Available at: </a:t>
            </a:r>
            <a:br>
              <a:rPr lang="en-US" sz="1500" dirty="0"/>
            </a:br>
            <a:r>
              <a:rPr lang="en-US" sz="1500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https://www.jmlr.org/papers/v12/pedregosa11a.html</a:t>
            </a:r>
            <a:r>
              <a:rPr lang="en-US" sz="1500" dirty="0"/>
              <a:t> (Accessed: 13 July 2025).</a:t>
            </a:r>
          </a:p>
          <a:p>
            <a:pPr marL="0" indent="0">
              <a:buNone/>
            </a:pPr>
            <a:r>
              <a:rPr lang="en-US" sz="1500" dirty="0"/>
              <a:t>Rawat, W., &amp; Wang, Z. (2017). </a:t>
            </a:r>
            <a:r>
              <a:rPr lang="en-US" sz="1500" i="1" dirty="0"/>
              <a:t>Deep Convolutional Neural Networks for Image Classification: A Comprehensive Review</a:t>
            </a:r>
            <a:r>
              <a:rPr lang="en-US" sz="1500" dirty="0"/>
              <a:t>. Neural Computation, 29(9), 2352–2449. Available at: </a:t>
            </a:r>
            <a:r>
              <a:rPr lang="en-US" sz="1500" dirty="0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https://doi.org/10.1162/neco_a_00990</a:t>
            </a:r>
            <a:r>
              <a:rPr lang="en-US" sz="1500" dirty="0"/>
              <a:t> (Accessed: 14 July 2025).</a:t>
            </a:r>
          </a:p>
        </p:txBody>
      </p:sp>
      <p:pic>
        <p:nvPicPr>
          <p:cNvPr id="4" name="صوت مسجّل">
            <a:hlinkClick r:id="" action="ppaction://media"/>
            <a:extLst>
              <a:ext uri="{FF2B5EF4-FFF2-40B4-BE49-F238E27FC236}">
                <a16:creationId xmlns:a16="http://schemas.microsoft.com/office/drawing/2014/main" id="{709312CB-F871-6DD9-A26F-44043908514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38201" y="4489677"/>
            <a:ext cx="1687286" cy="168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56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14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162</TotalTime>
  <Words>1361</Words>
  <Application>Microsoft Office PowerPoint</Application>
  <PresentationFormat>Widescreen</PresentationFormat>
  <Paragraphs>125</Paragraphs>
  <Slides>21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Office Theme</vt:lpstr>
      <vt:lpstr>Object Recognition using Classical Machine Learning (Track 1)</vt:lpstr>
      <vt:lpstr>Contents</vt:lpstr>
      <vt:lpstr>Introduction</vt:lpstr>
      <vt:lpstr>Exploratory Data Analysis (EDA)</vt:lpstr>
      <vt:lpstr>Pre-Processing</vt:lpstr>
      <vt:lpstr>Data Partitioning</vt:lpstr>
      <vt:lpstr>Model Architecture (Classical ML)</vt:lpstr>
      <vt:lpstr>Training Strategy</vt:lpstr>
      <vt:lpstr>Evaluation – SVM (Validation)</vt:lpstr>
      <vt:lpstr>Evaluation – KNN (Validation)</vt:lpstr>
      <vt:lpstr>Test Set Evaluation</vt:lpstr>
      <vt:lpstr>Confusion Matrix - SVM</vt:lpstr>
      <vt:lpstr>Confusion Matrix - KNN</vt:lpstr>
      <vt:lpstr>Single Image Test</vt:lpstr>
      <vt:lpstr>Strengths &amp; Weaknesses</vt:lpstr>
      <vt:lpstr>Comparative Insights</vt:lpstr>
      <vt:lpstr>Code</vt:lpstr>
      <vt:lpstr>PowerPoint Presentation</vt:lpstr>
      <vt:lpstr>PowerPoint Presentation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Hassan Khan</dc:creator>
  <cp:lastModifiedBy>Fahad Saleh Murad Abdallah</cp:lastModifiedBy>
  <cp:revision>7</cp:revision>
  <dcterms:created xsi:type="dcterms:W3CDTF">2025-07-05T05:51:41Z</dcterms:created>
  <dcterms:modified xsi:type="dcterms:W3CDTF">2025-07-22T11:56:41Z</dcterms:modified>
</cp:coreProperties>
</file>