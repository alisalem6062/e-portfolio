
<file path=[Content_Types].xml><?xml version="1.0" encoding="utf-8"?>
<Types xmlns="http://schemas.openxmlformats.org/package/2006/content-types"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1DFAF8-AB86-4FC7-B151-82EF8B0F69A9}" v="20" dt="2025-10-13T20:49:26.2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alem" userId="0daa50836810a26f" providerId="LiveId" clId="{A3ED0403-3712-421D-BB45-42218C8983C9}"/>
    <pc:docChg chg="custSel modSld">
      <pc:chgData name="ali salem" userId="0daa50836810a26f" providerId="LiveId" clId="{A3ED0403-3712-421D-BB45-42218C8983C9}" dt="2025-10-13T20:48:10.554" v="6" actId="478"/>
      <pc:docMkLst>
        <pc:docMk/>
      </pc:docMkLst>
      <pc:sldChg chg="delSp mod delAnim">
        <pc:chgData name="ali salem" userId="0daa50836810a26f" providerId="LiveId" clId="{A3ED0403-3712-421D-BB45-42218C8983C9}" dt="2025-10-13T19:55:27.916" v="0" actId="478"/>
        <pc:sldMkLst>
          <pc:docMk/>
          <pc:sldMk cId="0" sldId="257"/>
        </pc:sldMkLst>
        <pc:picChg chg="del">
          <ac:chgData name="ali salem" userId="0daa50836810a26f" providerId="LiveId" clId="{A3ED0403-3712-421D-BB45-42218C8983C9}" dt="2025-10-13T19:55:27.916" v="0" actId="478"/>
          <ac:picMkLst>
            <pc:docMk/>
            <pc:sldMk cId="0" sldId="257"/>
            <ac:picMk id="5" creationId="{005425AD-440D-9093-B4F1-0B91AC368253}"/>
          </ac:picMkLst>
        </pc:picChg>
      </pc:sldChg>
      <pc:sldChg chg="modSp mod">
        <pc:chgData name="ali salem" userId="0daa50836810a26f" providerId="LiveId" clId="{A3ED0403-3712-421D-BB45-42218C8983C9}" dt="2025-10-13T20:39:16.420" v="1" actId="1076"/>
        <pc:sldMkLst>
          <pc:docMk/>
          <pc:sldMk cId="0" sldId="263"/>
        </pc:sldMkLst>
        <pc:picChg chg="mod">
          <ac:chgData name="ali salem" userId="0daa50836810a26f" providerId="LiveId" clId="{A3ED0403-3712-421D-BB45-42218C8983C9}" dt="2025-10-13T20:39:16.420" v="1" actId="1076"/>
          <ac:picMkLst>
            <pc:docMk/>
            <pc:sldMk cId="0" sldId="263"/>
            <ac:picMk id="21" creationId="{BBEE7B19-9E83-AE8A-2766-BA535B1E7A4C}"/>
          </ac:picMkLst>
        </pc:picChg>
      </pc:sldChg>
      <pc:sldChg chg="delSp mod delAnim">
        <pc:chgData name="ali salem" userId="0daa50836810a26f" providerId="LiveId" clId="{A3ED0403-3712-421D-BB45-42218C8983C9}" dt="2025-10-13T20:40:33.120" v="2" actId="478"/>
        <pc:sldMkLst>
          <pc:docMk/>
          <pc:sldMk cId="0" sldId="264"/>
        </pc:sldMkLst>
        <pc:picChg chg="del">
          <ac:chgData name="ali salem" userId="0daa50836810a26f" providerId="LiveId" clId="{A3ED0403-3712-421D-BB45-42218C8983C9}" dt="2025-10-13T20:40:33.120" v="2" actId="478"/>
          <ac:picMkLst>
            <pc:docMk/>
            <pc:sldMk cId="0" sldId="264"/>
            <ac:picMk id="6" creationId="{89B1ACC4-B4D9-45B0-F39F-FFD7C24DB370}"/>
          </ac:picMkLst>
        </pc:picChg>
      </pc:sldChg>
      <pc:sldChg chg="delSp mod delAnim">
        <pc:chgData name="ali salem" userId="0daa50836810a26f" providerId="LiveId" clId="{A3ED0403-3712-421D-BB45-42218C8983C9}" dt="2025-10-13T20:42:23.413" v="3" actId="478"/>
        <pc:sldMkLst>
          <pc:docMk/>
          <pc:sldMk cId="0" sldId="265"/>
        </pc:sldMkLst>
        <pc:picChg chg="del">
          <ac:chgData name="ali salem" userId="0daa50836810a26f" providerId="LiveId" clId="{A3ED0403-3712-421D-BB45-42218C8983C9}" dt="2025-10-13T20:42:23.413" v="3" actId="478"/>
          <ac:picMkLst>
            <pc:docMk/>
            <pc:sldMk cId="0" sldId="265"/>
            <ac:picMk id="12" creationId="{ACFE7702-10AF-B0FC-4CE7-F02AB7EC104D}"/>
          </ac:picMkLst>
        </pc:picChg>
      </pc:sldChg>
      <pc:sldChg chg="delSp mod delAnim">
        <pc:chgData name="ali salem" userId="0daa50836810a26f" providerId="LiveId" clId="{A3ED0403-3712-421D-BB45-42218C8983C9}" dt="2025-10-13T20:43:47.102" v="4" actId="478"/>
        <pc:sldMkLst>
          <pc:docMk/>
          <pc:sldMk cId="0" sldId="266"/>
        </pc:sldMkLst>
        <pc:picChg chg="del">
          <ac:chgData name="ali salem" userId="0daa50836810a26f" providerId="LiveId" clId="{A3ED0403-3712-421D-BB45-42218C8983C9}" dt="2025-10-13T20:43:47.102" v="4" actId="478"/>
          <ac:picMkLst>
            <pc:docMk/>
            <pc:sldMk cId="0" sldId="266"/>
            <ac:picMk id="19" creationId="{E4591DBC-9930-A8C7-DBC5-C1A874FFF886}"/>
          </ac:picMkLst>
        </pc:picChg>
      </pc:sldChg>
      <pc:sldChg chg="delSp mod delAnim">
        <pc:chgData name="ali salem" userId="0daa50836810a26f" providerId="LiveId" clId="{A3ED0403-3712-421D-BB45-42218C8983C9}" dt="2025-10-13T20:46:05.934" v="5" actId="478"/>
        <pc:sldMkLst>
          <pc:docMk/>
          <pc:sldMk cId="0" sldId="267"/>
        </pc:sldMkLst>
        <pc:picChg chg="del">
          <ac:chgData name="ali salem" userId="0daa50836810a26f" providerId="LiveId" clId="{A3ED0403-3712-421D-BB45-42218C8983C9}" dt="2025-10-13T20:46:05.934" v="5" actId="478"/>
          <ac:picMkLst>
            <pc:docMk/>
            <pc:sldMk cId="0" sldId="267"/>
            <ac:picMk id="10" creationId="{E375233F-757B-9D19-C8BB-A23DA3BBAE5C}"/>
          </ac:picMkLst>
        </pc:picChg>
      </pc:sldChg>
      <pc:sldChg chg="delSp mod delAnim">
        <pc:chgData name="ali salem" userId="0daa50836810a26f" providerId="LiveId" clId="{A3ED0403-3712-421D-BB45-42218C8983C9}" dt="2025-10-13T20:48:10.554" v="6" actId="478"/>
        <pc:sldMkLst>
          <pc:docMk/>
          <pc:sldMk cId="0" sldId="268"/>
        </pc:sldMkLst>
        <pc:picChg chg="del">
          <ac:chgData name="ali salem" userId="0daa50836810a26f" providerId="LiveId" clId="{A3ED0403-3712-421D-BB45-42218C8983C9}" dt="2025-10-13T20:48:10.554" v="6" actId="478"/>
          <ac:picMkLst>
            <pc:docMk/>
            <pc:sldMk cId="0" sldId="268"/>
            <ac:picMk id="9" creationId="{92927939-B3B8-84E1-B0EE-A1A2C411ED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2C02D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C02D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214" y="7749540"/>
            <a:ext cx="1722604" cy="41147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C02D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82190" y="2186850"/>
            <a:ext cx="6073775" cy="5163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C02D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214" y="7749540"/>
            <a:ext cx="1722604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135" y="342941"/>
            <a:ext cx="13862129" cy="1144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2C02D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009" y="2702712"/>
            <a:ext cx="13068380" cy="4618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2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0555" y="2615513"/>
            <a:ext cx="7035800" cy="21901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algn="ctr">
              <a:lnSpc>
                <a:spcPts val="5550"/>
              </a:lnSpc>
              <a:spcBef>
                <a:spcPts val="590"/>
              </a:spcBef>
            </a:pPr>
            <a:r>
              <a:rPr sz="4950" spc="-245" dirty="0">
                <a:solidFill>
                  <a:srgbClr val="3C0DFC"/>
                </a:solidFill>
              </a:rPr>
              <a:t>Academic</a:t>
            </a:r>
            <a:r>
              <a:rPr sz="4950" spc="-270" dirty="0">
                <a:solidFill>
                  <a:srgbClr val="3C0DFC"/>
                </a:solidFill>
              </a:rPr>
              <a:t> </a:t>
            </a:r>
            <a:r>
              <a:rPr sz="4950" spc="-320" dirty="0">
                <a:solidFill>
                  <a:srgbClr val="3C0DFC"/>
                </a:solidFill>
              </a:rPr>
              <a:t>Research</a:t>
            </a:r>
            <a:r>
              <a:rPr sz="4950" spc="-254" dirty="0">
                <a:solidFill>
                  <a:srgbClr val="3C0DFC"/>
                </a:solidFill>
              </a:rPr>
              <a:t> </a:t>
            </a:r>
            <a:r>
              <a:rPr sz="4950" spc="-275" dirty="0">
                <a:solidFill>
                  <a:srgbClr val="3C0DFC"/>
                </a:solidFill>
              </a:rPr>
              <a:t>Online </a:t>
            </a:r>
            <a:r>
              <a:rPr sz="4950" spc="-215" dirty="0">
                <a:solidFill>
                  <a:srgbClr val="3C0DFC"/>
                </a:solidFill>
              </a:rPr>
              <a:t>Agent</a:t>
            </a:r>
            <a:r>
              <a:rPr sz="4950" spc="-229" dirty="0">
                <a:solidFill>
                  <a:srgbClr val="3C0DFC"/>
                </a:solidFill>
              </a:rPr>
              <a:t> </a:t>
            </a:r>
            <a:r>
              <a:rPr sz="4950" spc="-254" dirty="0">
                <a:solidFill>
                  <a:srgbClr val="3C0DFC"/>
                </a:solidFill>
              </a:rPr>
              <a:t>System</a:t>
            </a:r>
            <a:r>
              <a:rPr sz="4950" spc="-225" dirty="0">
                <a:solidFill>
                  <a:srgbClr val="3C0DFC"/>
                </a:solidFill>
              </a:rPr>
              <a:t> </a:t>
            </a:r>
            <a:r>
              <a:rPr sz="4950" spc="-395" dirty="0">
                <a:solidFill>
                  <a:srgbClr val="3C0DFC"/>
                </a:solidFill>
              </a:rPr>
              <a:t>(AROAS): </a:t>
            </a:r>
            <a:r>
              <a:rPr sz="4950" spc="-120" dirty="0">
                <a:solidFill>
                  <a:srgbClr val="3C0DFC"/>
                </a:solidFill>
              </a:rPr>
              <a:t>Critical</a:t>
            </a:r>
            <a:r>
              <a:rPr sz="4950" spc="-250" dirty="0">
                <a:solidFill>
                  <a:srgbClr val="3C0DFC"/>
                </a:solidFill>
              </a:rPr>
              <a:t> </a:t>
            </a:r>
            <a:r>
              <a:rPr sz="4950" spc="-285" dirty="0">
                <a:solidFill>
                  <a:srgbClr val="3C0DFC"/>
                </a:solidFill>
              </a:rPr>
              <a:t>Design</a:t>
            </a:r>
            <a:r>
              <a:rPr sz="4950" spc="-240" dirty="0">
                <a:solidFill>
                  <a:srgbClr val="3C0DFC"/>
                </a:solidFill>
              </a:rPr>
              <a:t> </a:t>
            </a:r>
            <a:r>
              <a:rPr sz="4950" spc="-400" dirty="0">
                <a:solidFill>
                  <a:srgbClr val="3C0DFC"/>
                </a:solidFill>
              </a:rPr>
              <a:t>&amp;</a:t>
            </a:r>
            <a:r>
              <a:rPr sz="4950" spc="-250" dirty="0">
                <a:solidFill>
                  <a:srgbClr val="3C0DFC"/>
                </a:solidFill>
              </a:rPr>
              <a:t> </a:t>
            </a:r>
            <a:r>
              <a:rPr sz="4950" spc="-215" dirty="0">
                <a:solidFill>
                  <a:srgbClr val="3C0DFC"/>
                </a:solidFill>
              </a:rPr>
              <a:t>Evaluation</a:t>
            </a:r>
            <a:endParaRPr sz="4950" dirty="0"/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02881" y="7757504"/>
            <a:ext cx="2027517" cy="472095"/>
          </a:xfrm>
          <a:prstGeom prst="rect">
            <a:avLst/>
          </a:prstGeom>
        </p:spPr>
      </p:pic>
      <p:pic>
        <p:nvPicPr>
          <p:cNvPr id="5" name="صوت مسجّل">
            <a:hlinkClick r:id="" action="ppaction://media"/>
            <a:extLst>
              <a:ext uri="{FF2B5EF4-FFF2-40B4-BE49-F238E27FC236}">
                <a16:creationId xmlns:a16="http://schemas.microsoft.com/office/drawing/2014/main" id="{096ED41E-037D-1985-7CDC-076E78140E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62800" y="39624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90" y="1509778"/>
            <a:ext cx="9786620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50" spc="-130" dirty="0">
                <a:solidFill>
                  <a:srgbClr val="3C0DFC"/>
                </a:solidFill>
              </a:rPr>
              <a:t>Introduction</a:t>
            </a:r>
            <a:r>
              <a:rPr sz="4950" spc="-250" dirty="0">
                <a:solidFill>
                  <a:srgbClr val="3C0DFC"/>
                </a:solidFill>
              </a:rPr>
              <a:t> </a:t>
            </a:r>
            <a:r>
              <a:rPr sz="4950" spc="-305" dirty="0">
                <a:solidFill>
                  <a:srgbClr val="3C0DFC"/>
                </a:solidFill>
              </a:rPr>
              <a:t>and</a:t>
            </a:r>
            <a:r>
              <a:rPr sz="4950" spc="-240" dirty="0">
                <a:solidFill>
                  <a:srgbClr val="3C0DFC"/>
                </a:solidFill>
              </a:rPr>
              <a:t> </a:t>
            </a:r>
            <a:r>
              <a:rPr sz="4950" spc="-245" dirty="0">
                <a:solidFill>
                  <a:srgbClr val="3C0DFC"/>
                </a:solidFill>
              </a:rPr>
              <a:t>Problem</a:t>
            </a:r>
            <a:r>
              <a:rPr sz="4950" spc="-250" dirty="0">
                <a:solidFill>
                  <a:srgbClr val="3C0DFC"/>
                </a:solidFill>
              </a:rPr>
              <a:t> </a:t>
            </a:r>
            <a:r>
              <a:rPr sz="4950" spc="-120" dirty="0">
                <a:solidFill>
                  <a:srgbClr val="3C0DFC"/>
                </a:solidFill>
              </a:rPr>
              <a:t>Signi</a:t>
            </a:r>
            <a:r>
              <a:rPr sz="4500" spc="-120" dirty="0">
                <a:solidFill>
                  <a:srgbClr val="3C0DFC"/>
                </a:solidFill>
              </a:rPr>
              <a:t>ﬁ</a:t>
            </a:r>
            <a:r>
              <a:rPr sz="4950" spc="-120" dirty="0">
                <a:solidFill>
                  <a:srgbClr val="3C0DFC"/>
                </a:solidFill>
              </a:rPr>
              <a:t>cance</a:t>
            </a:r>
            <a:endParaRPr sz="495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dirty="0"/>
              <a:t>Global</a:t>
            </a:r>
            <a:r>
              <a:rPr spc="45" dirty="0"/>
              <a:t> </a:t>
            </a:r>
            <a:r>
              <a:rPr dirty="0"/>
              <a:t>research</a:t>
            </a:r>
            <a:r>
              <a:rPr spc="45" dirty="0"/>
              <a:t> </a:t>
            </a:r>
            <a:r>
              <a:rPr dirty="0"/>
              <a:t>output</a:t>
            </a:r>
            <a:r>
              <a:rPr spc="45" dirty="0"/>
              <a:t> </a:t>
            </a:r>
            <a:r>
              <a:rPr dirty="0"/>
              <a:t>has</a:t>
            </a:r>
            <a:r>
              <a:rPr spc="45" dirty="0"/>
              <a:t> </a:t>
            </a:r>
            <a:r>
              <a:rPr dirty="0"/>
              <a:t>expanded</a:t>
            </a:r>
            <a:r>
              <a:rPr spc="45" dirty="0"/>
              <a:t> </a:t>
            </a:r>
            <a:r>
              <a:rPr dirty="0"/>
              <a:t>markedly</a:t>
            </a:r>
            <a:r>
              <a:rPr spc="45" dirty="0"/>
              <a:t> </a:t>
            </a:r>
            <a:r>
              <a:rPr dirty="0"/>
              <a:t>in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past</a:t>
            </a:r>
            <a:r>
              <a:rPr spc="45" dirty="0"/>
              <a:t> </a:t>
            </a:r>
            <a:r>
              <a:rPr dirty="0"/>
              <a:t>decade,</a:t>
            </a:r>
            <a:r>
              <a:rPr spc="45" dirty="0"/>
              <a:t> </a:t>
            </a:r>
            <a:r>
              <a:rPr dirty="0"/>
              <a:t>raising</a:t>
            </a:r>
            <a:r>
              <a:rPr spc="45" dirty="0"/>
              <a:t> </a:t>
            </a:r>
            <a:r>
              <a:rPr dirty="0"/>
              <a:t>discovery</a:t>
            </a:r>
            <a:r>
              <a:rPr spc="45" dirty="0"/>
              <a:t> </a:t>
            </a:r>
            <a:r>
              <a:rPr dirty="0"/>
              <a:t>costs</a:t>
            </a:r>
            <a:r>
              <a:rPr spc="45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likelihood</a:t>
            </a:r>
            <a:r>
              <a:rPr spc="45" dirty="0"/>
              <a:t> </a:t>
            </a:r>
            <a:r>
              <a:rPr dirty="0"/>
              <a:t>that</a:t>
            </a:r>
            <a:r>
              <a:rPr spc="45" dirty="0"/>
              <a:t> </a:t>
            </a:r>
            <a:r>
              <a:rPr dirty="0"/>
              <a:t>salient</a:t>
            </a:r>
            <a:r>
              <a:rPr spc="45" dirty="0"/>
              <a:t> </a:t>
            </a:r>
            <a:r>
              <a:rPr spc="-10" dirty="0"/>
              <a:t>studies </a:t>
            </a:r>
            <a:r>
              <a:rPr dirty="0"/>
              <a:t>are</a:t>
            </a:r>
            <a:r>
              <a:rPr spc="45" dirty="0"/>
              <a:t> </a:t>
            </a:r>
            <a:r>
              <a:rPr dirty="0"/>
              <a:t>overlooked.</a:t>
            </a:r>
            <a:r>
              <a:rPr spc="45" dirty="0"/>
              <a:t> </a:t>
            </a:r>
            <a:r>
              <a:rPr dirty="0"/>
              <a:t>Large-scale</a:t>
            </a:r>
            <a:r>
              <a:rPr spc="45" dirty="0"/>
              <a:t> </a:t>
            </a:r>
            <a:r>
              <a:rPr dirty="0"/>
              <a:t>samplings</a:t>
            </a:r>
            <a:r>
              <a:rPr spc="45" dirty="0"/>
              <a:t> </a:t>
            </a:r>
            <a:r>
              <a:rPr dirty="0"/>
              <a:t>indicate</a:t>
            </a:r>
            <a:r>
              <a:rPr spc="45" dirty="0"/>
              <a:t> </a:t>
            </a:r>
            <a:r>
              <a:rPr dirty="0"/>
              <a:t>steady</a:t>
            </a:r>
            <a:r>
              <a:rPr spc="45" dirty="0"/>
              <a:t> </a:t>
            </a:r>
            <a:r>
              <a:rPr dirty="0"/>
              <a:t>growth</a:t>
            </a:r>
            <a:r>
              <a:rPr spc="45" dirty="0"/>
              <a:t> </a:t>
            </a:r>
            <a:r>
              <a:rPr dirty="0"/>
              <a:t>in</a:t>
            </a:r>
            <a:r>
              <a:rPr spc="45" dirty="0"/>
              <a:t> </a:t>
            </a:r>
            <a:r>
              <a:rPr dirty="0"/>
              <a:t>article</a:t>
            </a:r>
            <a:r>
              <a:rPr spc="45" dirty="0"/>
              <a:t> </a:t>
            </a:r>
            <a:r>
              <a:rPr dirty="0"/>
              <a:t>volumes</a:t>
            </a:r>
            <a:r>
              <a:rPr spc="45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substantive</a:t>
            </a:r>
            <a:r>
              <a:rPr spc="45" dirty="0"/>
              <a:t> </a:t>
            </a:r>
            <a:r>
              <a:rPr dirty="0"/>
              <a:t>structural</a:t>
            </a:r>
            <a:r>
              <a:rPr spc="45" dirty="0"/>
              <a:t> </a:t>
            </a:r>
            <a:r>
              <a:rPr dirty="0"/>
              <a:t>shift</a:t>
            </a:r>
            <a:r>
              <a:rPr spc="45" dirty="0"/>
              <a:t> </a:t>
            </a:r>
            <a:r>
              <a:rPr dirty="0"/>
              <a:t>towards</a:t>
            </a:r>
            <a:r>
              <a:rPr spc="45" dirty="0"/>
              <a:t> </a:t>
            </a:r>
            <a:r>
              <a:rPr spc="-20" dirty="0"/>
              <a:t>open </a:t>
            </a:r>
            <a:r>
              <a:rPr dirty="0"/>
              <a:t>access</a:t>
            </a:r>
            <a:r>
              <a:rPr spc="-10" dirty="0"/>
              <a:t> </a:t>
            </a:r>
            <a:r>
              <a:rPr dirty="0"/>
              <a:t>(OA):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example,</a:t>
            </a:r>
            <a:r>
              <a:rPr spc="-5" dirty="0"/>
              <a:t> </a:t>
            </a:r>
            <a:r>
              <a:rPr dirty="0"/>
              <a:t>Piwowar</a:t>
            </a:r>
            <a:r>
              <a:rPr spc="-5" dirty="0"/>
              <a:t> </a:t>
            </a:r>
            <a:r>
              <a:rPr dirty="0"/>
              <a:t>et</a:t>
            </a:r>
            <a:r>
              <a:rPr spc="-10" dirty="0"/>
              <a:t> </a:t>
            </a:r>
            <a:r>
              <a:rPr dirty="0"/>
              <a:t>al.</a:t>
            </a:r>
            <a:r>
              <a:rPr spc="-5" dirty="0"/>
              <a:t> </a:t>
            </a:r>
            <a:r>
              <a:rPr dirty="0"/>
              <a:t>(2018)</a:t>
            </a:r>
            <a:r>
              <a:rPr spc="-5" dirty="0"/>
              <a:t> </a:t>
            </a:r>
            <a:r>
              <a:rPr dirty="0"/>
              <a:t>estimate</a:t>
            </a:r>
            <a:r>
              <a:rPr spc="-5" dirty="0"/>
              <a:t> </a:t>
            </a:r>
            <a:r>
              <a:rPr dirty="0"/>
              <a:t>that</a:t>
            </a:r>
            <a:r>
              <a:rPr spc="-5" dirty="0"/>
              <a:t> </a:t>
            </a:r>
            <a:r>
              <a:rPr dirty="0"/>
              <a:t>around</a:t>
            </a:r>
            <a:r>
              <a:rPr spc="-10" dirty="0"/>
              <a:t> </a:t>
            </a:r>
            <a:r>
              <a:rPr dirty="0"/>
              <a:t>28%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scholarly</a:t>
            </a:r>
            <a:r>
              <a:rPr spc="-5" dirty="0"/>
              <a:t> </a:t>
            </a:r>
            <a:r>
              <a:rPr dirty="0"/>
              <a:t>literature</a:t>
            </a:r>
            <a:r>
              <a:rPr spc="-10" dirty="0"/>
              <a:t> </a:t>
            </a:r>
            <a:r>
              <a:rPr dirty="0"/>
              <a:t>was</a:t>
            </a:r>
            <a:r>
              <a:rPr spc="-5" dirty="0"/>
              <a:t> </a:t>
            </a:r>
            <a:r>
              <a:rPr dirty="0"/>
              <a:t>OA</a:t>
            </a:r>
            <a:r>
              <a:rPr spc="-5" dirty="0"/>
              <a:t> </a:t>
            </a:r>
            <a:r>
              <a:rPr dirty="0"/>
              <a:t>at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time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their </a:t>
            </a:r>
            <a:r>
              <a:rPr dirty="0"/>
              <a:t>study,</a:t>
            </a:r>
            <a:r>
              <a:rPr spc="200" dirty="0"/>
              <a:t> </a:t>
            </a:r>
            <a:r>
              <a:rPr dirty="0"/>
              <a:t>while</a:t>
            </a:r>
            <a:r>
              <a:rPr spc="200" dirty="0"/>
              <a:t> </a:t>
            </a:r>
            <a:r>
              <a:rPr dirty="0"/>
              <a:t>Unpaywall/OurResearch</a:t>
            </a:r>
            <a:r>
              <a:rPr spc="200" dirty="0"/>
              <a:t> </a:t>
            </a:r>
            <a:r>
              <a:rPr dirty="0"/>
              <a:t>data</a:t>
            </a:r>
            <a:r>
              <a:rPr spc="200" dirty="0"/>
              <a:t> </a:t>
            </a:r>
            <a:r>
              <a:rPr dirty="0"/>
              <a:t>suggest</a:t>
            </a:r>
            <a:r>
              <a:rPr spc="200" dirty="0"/>
              <a:t> </a:t>
            </a:r>
            <a:r>
              <a:rPr dirty="0"/>
              <a:t>that</a:t>
            </a:r>
            <a:r>
              <a:rPr spc="200" dirty="0"/>
              <a:t> </a:t>
            </a:r>
            <a:r>
              <a:rPr dirty="0"/>
              <a:t>by</a:t>
            </a:r>
            <a:r>
              <a:rPr spc="200" dirty="0"/>
              <a:t> </a:t>
            </a:r>
            <a:r>
              <a:rPr dirty="0"/>
              <a:t>2022</a:t>
            </a:r>
            <a:r>
              <a:rPr spc="200" dirty="0"/>
              <a:t> </a:t>
            </a:r>
            <a:r>
              <a:rPr dirty="0"/>
              <a:t>the</a:t>
            </a:r>
            <a:r>
              <a:rPr spc="200" dirty="0"/>
              <a:t> </a:t>
            </a:r>
            <a:r>
              <a:rPr dirty="0"/>
              <a:t>freely</a:t>
            </a:r>
            <a:r>
              <a:rPr spc="200" dirty="0"/>
              <a:t> </a:t>
            </a:r>
            <a:r>
              <a:rPr dirty="0"/>
              <a:t>accessible</a:t>
            </a:r>
            <a:r>
              <a:rPr spc="200" dirty="0"/>
              <a:t> </a:t>
            </a:r>
            <a:r>
              <a:rPr dirty="0"/>
              <a:t>share</a:t>
            </a:r>
            <a:r>
              <a:rPr spc="200" dirty="0"/>
              <a:t> </a:t>
            </a:r>
            <a:r>
              <a:rPr dirty="0"/>
              <a:t>exceeded</a:t>
            </a:r>
            <a:r>
              <a:rPr spc="200" dirty="0"/>
              <a:t> </a:t>
            </a:r>
            <a:r>
              <a:rPr dirty="0"/>
              <a:t>45%,</a:t>
            </a:r>
            <a:r>
              <a:rPr spc="200" dirty="0"/>
              <a:t> </a:t>
            </a:r>
            <a:r>
              <a:rPr dirty="0"/>
              <a:t>with</a:t>
            </a:r>
            <a:r>
              <a:rPr spc="200" dirty="0"/>
              <a:t> </a:t>
            </a:r>
            <a:r>
              <a:rPr dirty="0"/>
              <a:t>year-on-</a:t>
            </a:r>
            <a:r>
              <a:rPr spc="-20" dirty="0"/>
              <a:t>year </a:t>
            </a:r>
            <a:r>
              <a:rPr dirty="0"/>
              <a:t>gains</a:t>
            </a:r>
            <a:r>
              <a:rPr spc="45" dirty="0"/>
              <a:t> </a:t>
            </a:r>
            <a:r>
              <a:rPr dirty="0"/>
              <a:t>continuing</a:t>
            </a:r>
            <a:r>
              <a:rPr spc="50" dirty="0"/>
              <a:t> </a:t>
            </a:r>
            <a:r>
              <a:rPr dirty="0"/>
              <a:t>(Piwowar</a:t>
            </a:r>
            <a:r>
              <a:rPr spc="45" dirty="0"/>
              <a:t> </a:t>
            </a:r>
            <a:r>
              <a:rPr dirty="0"/>
              <a:t>et</a:t>
            </a:r>
            <a:r>
              <a:rPr spc="50" dirty="0"/>
              <a:t> </a:t>
            </a:r>
            <a:r>
              <a:rPr dirty="0"/>
              <a:t>al.,</a:t>
            </a:r>
            <a:r>
              <a:rPr spc="50" dirty="0"/>
              <a:t> </a:t>
            </a:r>
            <a:r>
              <a:rPr dirty="0"/>
              <a:t>2018;</a:t>
            </a:r>
            <a:r>
              <a:rPr spc="45" dirty="0"/>
              <a:t> </a:t>
            </a:r>
            <a:r>
              <a:rPr dirty="0"/>
              <a:t>OurResearch,</a:t>
            </a:r>
            <a:r>
              <a:rPr spc="50" dirty="0"/>
              <a:t> </a:t>
            </a:r>
            <a:r>
              <a:rPr dirty="0"/>
              <a:t>2022).</a:t>
            </a:r>
            <a:r>
              <a:rPr spc="50" dirty="0"/>
              <a:t> </a:t>
            </a:r>
            <a:r>
              <a:rPr dirty="0"/>
              <a:t>UNESCO’s</a:t>
            </a:r>
            <a:r>
              <a:rPr spc="45" dirty="0"/>
              <a:t> </a:t>
            </a:r>
            <a:r>
              <a:rPr dirty="0"/>
              <a:t>2021</a:t>
            </a:r>
            <a:r>
              <a:rPr spc="50" dirty="0"/>
              <a:t> </a:t>
            </a:r>
            <a:r>
              <a:rPr dirty="0"/>
              <a:t>report</a:t>
            </a:r>
            <a:r>
              <a:rPr spc="50" dirty="0"/>
              <a:t> </a:t>
            </a:r>
            <a:r>
              <a:rPr dirty="0"/>
              <a:t>similarly</a:t>
            </a:r>
            <a:r>
              <a:rPr spc="45" dirty="0"/>
              <a:t> </a:t>
            </a:r>
            <a:r>
              <a:rPr dirty="0"/>
              <a:t>highlights</a:t>
            </a:r>
            <a:r>
              <a:rPr spc="50" dirty="0"/>
              <a:t> </a:t>
            </a:r>
            <a:r>
              <a:rPr dirty="0"/>
              <a:t>sustained</a:t>
            </a:r>
            <a:r>
              <a:rPr spc="50" dirty="0"/>
              <a:t> </a:t>
            </a:r>
            <a:r>
              <a:rPr spc="-10" dirty="0"/>
              <a:t>publication </a:t>
            </a:r>
            <a:r>
              <a:rPr dirty="0"/>
              <a:t>growth</a:t>
            </a:r>
            <a:r>
              <a:rPr spc="5" dirty="0"/>
              <a:t> </a:t>
            </a:r>
            <a:r>
              <a:rPr dirty="0"/>
              <a:t>across</a:t>
            </a:r>
            <a:r>
              <a:rPr spc="5" dirty="0"/>
              <a:t> </a:t>
            </a:r>
            <a:r>
              <a:rPr dirty="0"/>
              <a:t>regions,</a:t>
            </a:r>
            <a:r>
              <a:rPr spc="5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middle-income</a:t>
            </a:r>
            <a:r>
              <a:rPr spc="5" dirty="0"/>
              <a:t> </a:t>
            </a:r>
            <a:r>
              <a:rPr dirty="0"/>
              <a:t>countries</a:t>
            </a:r>
            <a:r>
              <a:rPr spc="5" dirty="0"/>
              <a:t> </a:t>
            </a:r>
            <a:r>
              <a:rPr dirty="0"/>
              <a:t>contributing</a:t>
            </a:r>
            <a:r>
              <a:rPr spc="5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increasing</a:t>
            </a:r>
            <a:r>
              <a:rPr spc="5" dirty="0"/>
              <a:t> </a:t>
            </a:r>
            <a:r>
              <a:rPr dirty="0"/>
              <a:t>share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STEM</a:t>
            </a:r>
            <a:r>
              <a:rPr spc="5" dirty="0"/>
              <a:t> </a:t>
            </a:r>
            <a:r>
              <a:rPr dirty="0"/>
              <a:t>outputs</a:t>
            </a:r>
            <a:r>
              <a:rPr spc="5" dirty="0"/>
              <a:t> </a:t>
            </a:r>
            <a:r>
              <a:rPr dirty="0"/>
              <a:t>(UNESCO,</a:t>
            </a:r>
            <a:r>
              <a:rPr spc="5" dirty="0"/>
              <a:t> </a:t>
            </a:r>
            <a:r>
              <a:rPr dirty="0"/>
              <a:t>2021).</a:t>
            </a:r>
            <a:r>
              <a:rPr spc="5" dirty="0"/>
              <a:t> </a:t>
            </a:r>
            <a:r>
              <a:rPr spc="-20" dirty="0"/>
              <a:t>This </a:t>
            </a:r>
            <a:r>
              <a:rPr dirty="0"/>
              <a:t>widening corpus fragments retrieval pathways and complicates recall across heterogeneous </a:t>
            </a:r>
            <a:r>
              <a:rPr spc="-10" dirty="0"/>
              <a:t>platforms.</a:t>
            </a: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pc="-10" dirty="0"/>
          </a:p>
          <a:p>
            <a:pPr marL="12700" marR="5080" algn="just">
              <a:lnSpc>
                <a:spcPct val="150000"/>
              </a:lnSpc>
            </a:pPr>
            <a:r>
              <a:rPr dirty="0"/>
              <a:t>AROAS</a:t>
            </a:r>
            <a:r>
              <a:rPr spc="225" dirty="0"/>
              <a:t> </a:t>
            </a:r>
            <a:r>
              <a:rPr dirty="0"/>
              <a:t>addresses</a:t>
            </a:r>
            <a:r>
              <a:rPr spc="229" dirty="0"/>
              <a:t> </a:t>
            </a:r>
            <a:r>
              <a:rPr dirty="0"/>
              <a:t>this</a:t>
            </a:r>
            <a:r>
              <a:rPr spc="229" dirty="0"/>
              <a:t> </a:t>
            </a:r>
            <a:r>
              <a:rPr dirty="0"/>
              <a:t>by</a:t>
            </a:r>
            <a:r>
              <a:rPr spc="229" dirty="0"/>
              <a:t> </a:t>
            </a:r>
            <a:r>
              <a:rPr dirty="0"/>
              <a:t>operationalising</a:t>
            </a:r>
            <a:r>
              <a:rPr spc="229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dirty="0"/>
              <a:t>multi-agent</a:t>
            </a:r>
            <a:r>
              <a:rPr spc="229" dirty="0"/>
              <a:t> </a:t>
            </a:r>
            <a:r>
              <a:rPr dirty="0"/>
              <a:t>architecture</a:t>
            </a:r>
            <a:r>
              <a:rPr spc="229" dirty="0"/>
              <a:t> </a:t>
            </a:r>
            <a:r>
              <a:rPr dirty="0"/>
              <a:t>that</a:t>
            </a:r>
            <a:r>
              <a:rPr spc="229" dirty="0"/>
              <a:t> </a:t>
            </a:r>
            <a:r>
              <a:rPr dirty="0"/>
              <a:t>automates</a:t>
            </a:r>
            <a:r>
              <a:rPr spc="229" dirty="0"/>
              <a:t> </a:t>
            </a:r>
            <a:r>
              <a:rPr dirty="0"/>
              <a:t>acquisition,</a:t>
            </a:r>
            <a:r>
              <a:rPr spc="229" dirty="0"/>
              <a:t> </a:t>
            </a:r>
            <a:r>
              <a:rPr dirty="0"/>
              <a:t>normalisation,</a:t>
            </a:r>
            <a:r>
              <a:rPr spc="229" dirty="0"/>
              <a:t> </a:t>
            </a:r>
            <a:r>
              <a:rPr dirty="0"/>
              <a:t>and</a:t>
            </a:r>
            <a:r>
              <a:rPr spc="229" dirty="0"/>
              <a:t> </a:t>
            </a:r>
            <a:r>
              <a:rPr spc="-10" dirty="0"/>
              <a:t>ranking, </a:t>
            </a:r>
            <a:r>
              <a:rPr dirty="0"/>
              <a:t>aiming to lift early precision while maintaining transparency and auditability suitable for formal </a:t>
            </a:r>
            <a:r>
              <a:rPr spc="-10" dirty="0"/>
              <a:t>assessment.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7293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100"/>
              </a:spcBef>
            </a:pPr>
            <a:r>
              <a:rPr sz="4950" spc="-180" dirty="0">
                <a:solidFill>
                  <a:srgbClr val="3C0DFC"/>
                </a:solidFill>
              </a:rPr>
              <a:t>Theoretical</a:t>
            </a:r>
            <a:r>
              <a:rPr sz="4950" spc="-250" dirty="0">
                <a:solidFill>
                  <a:srgbClr val="3C0DFC"/>
                </a:solidFill>
              </a:rPr>
              <a:t> </a:t>
            </a:r>
            <a:r>
              <a:rPr sz="4950" spc="-200" dirty="0">
                <a:solidFill>
                  <a:srgbClr val="3C0DFC"/>
                </a:solidFill>
              </a:rPr>
              <a:t>Foundation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781090" y="2008815"/>
            <a:ext cx="3554729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5" dirty="0">
                <a:solidFill>
                  <a:srgbClr val="006FC0"/>
                </a:solidFill>
                <a:latin typeface="Arial MT"/>
                <a:cs typeface="Arial MT"/>
              </a:rPr>
              <a:t>Multi-</a:t>
            </a:r>
            <a:r>
              <a:rPr sz="2450" spc="-65" dirty="0">
                <a:solidFill>
                  <a:srgbClr val="006FC0"/>
                </a:solidFill>
                <a:latin typeface="Arial MT"/>
                <a:cs typeface="Arial MT"/>
              </a:rPr>
              <a:t>Agent</a:t>
            </a:r>
            <a:r>
              <a:rPr sz="245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50" spc="-125" dirty="0">
                <a:solidFill>
                  <a:srgbClr val="006FC0"/>
                </a:solidFill>
                <a:latin typeface="Arial MT"/>
                <a:cs typeface="Arial MT"/>
              </a:rPr>
              <a:t>Systems</a:t>
            </a:r>
            <a:r>
              <a:rPr sz="245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50" spc="-105" dirty="0">
                <a:solidFill>
                  <a:srgbClr val="006FC0"/>
                </a:solidFill>
                <a:latin typeface="Arial MT"/>
                <a:cs typeface="Arial MT"/>
              </a:rPr>
              <a:t>(MAS)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090" y="2584959"/>
            <a:ext cx="627062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3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draws</a:t>
            </a:r>
            <a:r>
              <a:rPr sz="2000" spc="3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autonomy,</a:t>
            </a:r>
            <a:r>
              <a:rPr sz="2000" spc="3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social</a:t>
            </a:r>
            <a:r>
              <a:rPr sz="2000" spc="3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ability,</a:t>
            </a:r>
            <a:r>
              <a:rPr sz="2000" spc="38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decentralised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partition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competence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agents </a:t>
            </a:r>
            <a:r>
              <a:rPr sz="2000" dirty="0">
                <a:latin typeface="Times New Roman"/>
                <a:cs typeface="Times New Roman"/>
              </a:rPr>
              <a:t>and to localise failure (Wooldridge &amp; Jennings, </a:t>
            </a:r>
            <a:r>
              <a:rPr sz="2000" spc="-10" dirty="0">
                <a:latin typeface="Times New Roman"/>
                <a:cs typeface="Times New Roman"/>
              </a:rPr>
              <a:t>1995).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6820" y="2008815"/>
            <a:ext cx="32099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70" dirty="0">
                <a:solidFill>
                  <a:srgbClr val="006FC0"/>
                </a:solidFill>
                <a:latin typeface="Arial MT"/>
                <a:cs typeface="Arial MT"/>
              </a:rPr>
              <a:t>Information</a:t>
            </a:r>
            <a:r>
              <a:rPr sz="2450" spc="-110" dirty="0">
                <a:solidFill>
                  <a:srgbClr val="006FC0"/>
                </a:solidFill>
                <a:latin typeface="Arial MT"/>
                <a:cs typeface="Arial MT"/>
              </a:rPr>
              <a:t> Retrieval</a:t>
            </a:r>
            <a:r>
              <a:rPr sz="245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006FC0"/>
                </a:solidFill>
                <a:latin typeface="Arial MT"/>
                <a:cs typeface="Arial MT"/>
              </a:rPr>
              <a:t>(IR)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6820" y="2589772"/>
            <a:ext cx="6270625" cy="242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750" dirty="0">
                <a:latin typeface="Times New Roman"/>
                <a:cs typeface="Times New Roman"/>
              </a:rPr>
              <a:t>It</a:t>
            </a:r>
            <a:r>
              <a:rPr sz="1750" spc="65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adopts</a:t>
            </a:r>
            <a:r>
              <a:rPr sz="1750" spc="7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explainable</a:t>
            </a:r>
            <a:r>
              <a:rPr sz="1750" spc="7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lexical</a:t>
            </a:r>
            <a:r>
              <a:rPr sz="1750" spc="7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ranking—specifically</a:t>
            </a:r>
            <a:r>
              <a:rPr sz="1750" spc="70" dirty="0">
                <a:latin typeface="Times New Roman"/>
                <a:cs typeface="Times New Roman"/>
              </a:rPr>
              <a:t>  </a:t>
            </a:r>
            <a:r>
              <a:rPr sz="1750" spc="-20" dirty="0">
                <a:latin typeface="Times New Roman"/>
                <a:cs typeface="Times New Roman"/>
              </a:rPr>
              <a:t>TF–IDF—over </a:t>
            </a:r>
            <a:r>
              <a:rPr sz="1750" dirty="0">
                <a:latin typeface="Times New Roman"/>
                <a:cs typeface="Times New Roman"/>
              </a:rPr>
              <a:t>titles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abstracts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3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produce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deterministic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signals</a:t>
            </a:r>
            <a:r>
              <a:rPr sz="1750" spc="3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examiners </a:t>
            </a:r>
            <a:r>
              <a:rPr sz="1750" dirty="0">
                <a:latin typeface="Times New Roman"/>
                <a:cs typeface="Times New Roman"/>
              </a:rPr>
              <a:t>can scrutinise.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This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intentional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contrast to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purely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neural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ranking, </a:t>
            </a:r>
            <a:r>
              <a:rPr sz="1750" dirty="0">
                <a:latin typeface="Times New Roman"/>
                <a:cs typeface="Times New Roman"/>
              </a:rPr>
              <a:t>where</a:t>
            </a:r>
            <a:r>
              <a:rPr sz="1750" spc="8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stochastic</a:t>
            </a:r>
            <a:r>
              <a:rPr sz="1750" spc="8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optimisation</a:t>
            </a:r>
            <a:r>
              <a:rPr sz="1750" spc="8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85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hardware</a:t>
            </a:r>
            <a:r>
              <a:rPr sz="1750" spc="8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variance</a:t>
            </a:r>
            <a:r>
              <a:rPr sz="1750" spc="8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can</a:t>
            </a:r>
            <a:r>
              <a:rPr sz="1750" spc="85" dirty="0">
                <a:latin typeface="Times New Roman"/>
                <a:cs typeface="Times New Roman"/>
              </a:rPr>
              <a:t>  </a:t>
            </a:r>
            <a:r>
              <a:rPr sz="1750" spc="-10" dirty="0">
                <a:latin typeface="Times New Roman"/>
                <a:cs typeface="Times New Roman"/>
              </a:rPr>
              <a:t>hinder </a:t>
            </a:r>
            <a:r>
              <a:rPr sz="1750" dirty="0">
                <a:latin typeface="Times New Roman"/>
                <a:cs typeface="Times New Roman"/>
              </a:rPr>
              <a:t>reproducibility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within tight module timelines (Robertson &amp; </a:t>
            </a:r>
            <a:r>
              <a:rPr sz="1750" spc="-10" dirty="0">
                <a:latin typeface="Times New Roman"/>
                <a:cs typeface="Times New Roman"/>
              </a:rPr>
              <a:t>Zaragoza, </a:t>
            </a:r>
            <a:r>
              <a:rPr sz="1750" dirty="0">
                <a:latin typeface="Times New Roman"/>
                <a:cs typeface="Times New Roman"/>
              </a:rPr>
              <a:t>2009;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Nogueira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Cho,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2019).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090" y="5584500"/>
            <a:ext cx="1306830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Volume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automatically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translate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value.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Nature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reported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pronounced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growth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retractions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editorial </a:t>
            </a:r>
            <a:r>
              <a:rPr sz="2000" dirty="0">
                <a:latin typeface="Times New Roman"/>
                <a:cs typeface="Times New Roman"/>
              </a:rPr>
              <a:t>concerns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linked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paper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mills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(Else,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2023),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Committee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Publication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Ethics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(COPE)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documents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systemic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risks </a:t>
            </a:r>
            <a:r>
              <a:rPr sz="2000" dirty="0">
                <a:latin typeface="Times New Roman"/>
                <a:cs typeface="Times New Roman"/>
              </a:rPr>
              <a:t>around predatory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venues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(COPE,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2021).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Accordingly,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AROAS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foregrounds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provenance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(hashes,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timestamps,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URIs), </a:t>
            </a:r>
            <a:r>
              <a:rPr sz="2000" dirty="0">
                <a:latin typeface="Times New Roman"/>
                <a:cs typeface="Times New Roman"/>
              </a:rPr>
              <a:t>transparent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weighting,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governance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(robots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observance;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minimisation)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temper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quality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noise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surrendering recall.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4"/>
            <a:ext cx="2027517" cy="472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2618" y="859615"/>
            <a:ext cx="799909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145" dirty="0">
                <a:solidFill>
                  <a:srgbClr val="3C0DFC"/>
                </a:solidFill>
              </a:rPr>
              <a:t>Theoretical</a:t>
            </a:r>
            <a:r>
              <a:rPr sz="3950" spc="-180" dirty="0">
                <a:solidFill>
                  <a:srgbClr val="3C0DFC"/>
                </a:solidFill>
              </a:rPr>
              <a:t> </a:t>
            </a:r>
            <a:r>
              <a:rPr sz="3950" spc="-215" dirty="0">
                <a:solidFill>
                  <a:srgbClr val="3C0DFC"/>
                </a:solidFill>
              </a:rPr>
              <a:t>Framing</a:t>
            </a:r>
            <a:r>
              <a:rPr sz="3950" spc="-175" dirty="0">
                <a:solidFill>
                  <a:srgbClr val="3C0DFC"/>
                </a:solidFill>
              </a:rPr>
              <a:t> </a:t>
            </a:r>
            <a:r>
              <a:rPr sz="3950" spc="-250" dirty="0">
                <a:solidFill>
                  <a:srgbClr val="3C0DFC"/>
                </a:solidFill>
              </a:rPr>
              <a:t>and</a:t>
            </a:r>
            <a:r>
              <a:rPr sz="3950" spc="-180" dirty="0">
                <a:solidFill>
                  <a:srgbClr val="3C0DFC"/>
                </a:solidFill>
              </a:rPr>
              <a:t> </a:t>
            </a:r>
            <a:r>
              <a:rPr sz="3950" spc="-235" dirty="0">
                <a:solidFill>
                  <a:srgbClr val="3C0DFC"/>
                </a:solidFill>
              </a:rPr>
              <a:t>Design</a:t>
            </a:r>
            <a:r>
              <a:rPr sz="3950" spc="-180" dirty="0">
                <a:solidFill>
                  <a:srgbClr val="3C0DFC"/>
                </a:solidFill>
              </a:rPr>
              <a:t> </a:t>
            </a:r>
            <a:r>
              <a:rPr sz="3950" spc="-145" dirty="0">
                <a:solidFill>
                  <a:srgbClr val="3C0DFC"/>
                </a:solidFill>
              </a:rPr>
              <a:t>Choice</a:t>
            </a:r>
            <a:endParaRPr sz="3950"/>
          </a:p>
        </p:txBody>
      </p:sp>
      <p:grpSp>
        <p:nvGrpSpPr>
          <p:cNvPr id="4" name="object 4"/>
          <p:cNvGrpSpPr/>
          <p:nvPr/>
        </p:nvGrpSpPr>
        <p:grpSpPr>
          <a:xfrm>
            <a:off x="612458" y="1843801"/>
            <a:ext cx="4366895" cy="5472430"/>
            <a:chOff x="612458" y="1843801"/>
            <a:chExt cx="4366895" cy="5472430"/>
          </a:xfrm>
        </p:grpSpPr>
        <p:sp>
          <p:nvSpPr>
            <p:cNvPr id="5" name="object 5"/>
            <p:cNvSpPr/>
            <p:nvPr/>
          </p:nvSpPr>
          <p:spPr>
            <a:xfrm>
              <a:off x="635318" y="1855231"/>
              <a:ext cx="4332605" cy="5449570"/>
            </a:xfrm>
            <a:custGeom>
              <a:avLst/>
              <a:gdLst/>
              <a:ahLst/>
              <a:cxnLst/>
              <a:rect l="l" t="t" r="r" b="b"/>
              <a:pathLst>
                <a:path w="4332605" h="5449570">
                  <a:moveTo>
                    <a:pt x="0" y="109734"/>
                  </a:moveTo>
                  <a:lnTo>
                    <a:pt x="8353" y="67741"/>
                  </a:lnTo>
                  <a:lnTo>
                    <a:pt x="32140" y="32140"/>
                  </a:lnTo>
                  <a:lnTo>
                    <a:pt x="67741" y="8353"/>
                  </a:lnTo>
                  <a:lnTo>
                    <a:pt x="109734" y="0"/>
                  </a:lnTo>
                  <a:lnTo>
                    <a:pt x="4222472" y="0"/>
                  </a:lnTo>
                  <a:lnTo>
                    <a:pt x="4264466" y="8353"/>
                  </a:lnTo>
                  <a:lnTo>
                    <a:pt x="4300067" y="32140"/>
                  </a:lnTo>
                  <a:lnTo>
                    <a:pt x="4323854" y="67741"/>
                  </a:lnTo>
                  <a:lnTo>
                    <a:pt x="4332207" y="109734"/>
                  </a:lnTo>
                  <a:lnTo>
                    <a:pt x="4332207" y="5339517"/>
                  </a:lnTo>
                  <a:lnTo>
                    <a:pt x="4323854" y="5381510"/>
                  </a:lnTo>
                  <a:lnTo>
                    <a:pt x="4300066" y="5417110"/>
                  </a:lnTo>
                  <a:lnTo>
                    <a:pt x="4264466" y="5440898"/>
                  </a:lnTo>
                  <a:lnTo>
                    <a:pt x="4222472" y="5449252"/>
                  </a:lnTo>
                  <a:lnTo>
                    <a:pt x="109734" y="5449252"/>
                  </a:lnTo>
                  <a:lnTo>
                    <a:pt x="67741" y="5440898"/>
                  </a:lnTo>
                  <a:lnTo>
                    <a:pt x="32140" y="5417111"/>
                  </a:lnTo>
                  <a:lnTo>
                    <a:pt x="8353" y="5381510"/>
                  </a:lnTo>
                  <a:lnTo>
                    <a:pt x="0" y="5339517"/>
                  </a:lnTo>
                  <a:lnTo>
                    <a:pt x="0" y="109734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58" y="1855231"/>
              <a:ext cx="91440" cy="5449570"/>
            </a:xfrm>
            <a:custGeom>
              <a:avLst/>
              <a:gdLst/>
              <a:ahLst/>
              <a:cxnLst/>
              <a:rect l="l" t="t" r="r" b="b"/>
              <a:pathLst>
                <a:path w="91440" h="5449570">
                  <a:moveTo>
                    <a:pt x="45720" y="5449252"/>
                  </a:moveTo>
                  <a:lnTo>
                    <a:pt x="7532" y="5428818"/>
                  </a:lnTo>
                  <a:lnTo>
                    <a:pt x="0" y="5403532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5403532"/>
                  </a:lnTo>
                  <a:lnTo>
                    <a:pt x="71006" y="5441719"/>
                  </a:lnTo>
                  <a:lnTo>
                    <a:pt x="45720" y="5449252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5509" y="1986114"/>
            <a:ext cx="3880485" cy="835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50" dirty="0">
                <a:solidFill>
                  <a:srgbClr val="006FC0"/>
                </a:solidFill>
                <a:latin typeface="Arial MT"/>
                <a:cs typeface="Arial MT"/>
              </a:rPr>
              <a:t>Tri-</a:t>
            </a:r>
            <a:r>
              <a:rPr sz="2200" spc="-65" dirty="0">
                <a:solidFill>
                  <a:srgbClr val="006FC0"/>
                </a:solidFill>
                <a:latin typeface="Arial MT"/>
                <a:cs typeface="Arial MT"/>
              </a:rPr>
              <a:t>agent</a:t>
            </a:r>
            <a:r>
              <a:rPr sz="2200" spc="-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Decomposition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  <a:tabLst>
                <a:tab pos="570865" algn="l"/>
                <a:tab pos="1393825" algn="l"/>
                <a:tab pos="2480310" algn="l"/>
                <a:tab pos="2799080" algn="l"/>
                <a:tab pos="3771265" algn="l"/>
              </a:tabLst>
            </a:pPr>
            <a:r>
              <a:rPr sz="1700" spc="-2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system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delineates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Crawler,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509" y="2795165"/>
            <a:ext cx="3880485" cy="235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Processor,</a:t>
            </a:r>
            <a:r>
              <a:rPr sz="1700" spc="27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7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7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Storage/Notifier.</a:t>
            </a:r>
            <a:r>
              <a:rPr sz="1700" spc="275" dirty="0">
                <a:latin typeface="Times New Roman"/>
                <a:cs typeface="Times New Roman"/>
              </a:rPr>
              <a:t>  </a:t>
            </a:r>
            <a:r>
              <a:rPr sz="1700" spc="-20" dirty="0">
                <a:latin typeface="Times New Roman"/>
                <a:cs typeface="Times New Roman"/>
              </a:rPr>
              <a:t>This </a:t>
            </a:r>
            <a:r>
              <a:rPr sz="1700" dirty="0">
                <a:latin typeface="Times New Roman"/>
                <a:cs typeface="Times New Roman"/>
              </a:rPr>
              <a:t>follows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MAS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doctrine: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decomposing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spc="-25" dirty="0">
                <a:latin typeface="Times New Roman"/>
                <a:cs typeface="Times New Roman"/>
              </a:rPr>
              <a:t>by </a:t>
            </a:r>
            <a:r>
              <a:rPr sz="1700" dirty="0">
                <a:latin typeface="Times New Roman"/>
                <a:cs typeface="Times New Roman"/>
              </a:rPr>
              <a:t>competence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reduces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global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complexity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dirty="0">
                <a:latin typeface="Times New Roman"/>
                <a:cs typeface="Times New Roman"/>
              </a:rPr>
              <a:t>allows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domain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specific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optimisation—</a:t>
            </a:r>
            <a:r>
              <a:rPr sz="1700" spc="-10" dirty="0">
                <a:latin typeface="Times New Roman"/>
                <a:cs typeface="Times New Roman"/>
              </a:rPr>
              <a:t>crawl politenessversusCPU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boundtextmodelling— </a:t>
            </a:r>
            <a:r>
              <a:rPr sz="1700" dirty="0">
                <a:latin typeface="Times New Roman"/>
                <a:cs typeface="Times New Roman"/>
              </a:rPr>
              <a:t>whilst</a:t>
            </a:r>
            <a:r>
              <a:rPr sz="1700" spc="8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enabling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independent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evolution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spc="-25" dirty="0">
                <a:latin typeface="Times New Roman"/>
                <a:cs typeface="Times New Roman"/>
              </a:rPr>
              <a:t>of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5509" y="5126885"/>
            <a:ext cx="38804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716915" algn="l"/>
                <a:tab pos="1299210" algn="l"/>
                <a:tab pos="2002789" algn="l"/>
                <a:tab pos="2646045" algn="l"/>
                <a:tab pos="2713355" algn="l"/>
                <a:tab pos="3057525" algn="l"/>
                <a:tab pos="3123565" algn="l"/>
              </a:tabLst>
            </a:pPr>
            <a:r>
              <a:rPr sz="1700" spc="-10" dirty="0">
                <a:latin typeface="Times New Roman"/>
                <a:cs typeface="Times New Roman"/>
              </a:rPr>
              <a:t>components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(Wooldridge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&amp;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Jennings, 1995).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Coordination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occurs</a:t>
            </a:r>
            <a:r>
              <a:rPr sz="1700" dirty="0">
                <a:latin typeface="Times New Roman"/>
                <a:cs typeface="Times New Roman"/>
              </a:rPr>
              <a:t>		</a:t>
            </a:r>
            <a:r>
              <a:rPr sz="1700" spc="-25" dirty="0">
                <a:latin typeface="Times New Roman"/>
                <a:cs typeface="Times New Roman"/>
              </a:rPr>
              <a:t>via</a:t>
            </a:r>
            <a:r>
              <a:rPr sz="1700" dirty="0">
                <a:latin typeface="Times New Roman"/>
                <a:cs typeface="Times New Roman"/>
              </a:rPr>
              <a:t>		</a:t>
            </a:r>
            <a:r>
              <a:rPr sz="1700" spc="-10" dirty="0">
                <a:latin typeface="Times New Roman"/>
                <a:cs typeface="Times New Roman"/>
              </a:rPr>
              <a:t>publish–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5509" y="5908071"/>
            <a:ext cx="3880485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  <a:tabLst>
                <a:tab pos="1051560" algn="l"/>
                <a:tab pos="2240280" algn="l"/>
                <a:tab pos="2992120" algn="l"/>
              </a:tabLst>
            </a:pPr>
            <a:r>
              <a:rPr sz="1700" spc="-10" dirty="0">
                <a:latin typeface="Times New Roman"/>
                <a:cs typeface="Times New Roman"/>
              </a:rPr>
              <a:t>subscribe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messaging,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which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constrains </a:t>
            </a:r>
            <a:r>
              <a:rPr sz="1700" dirty="0">
                <a:latin typeface="Times New Roman"/>
                <a:cs typeface="Times New Roman"/>
              </a:rPr>
              <a:t>coupling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supports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back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pressure.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26116" y="1843801"/>
            <a:ext cx="4366895" cy="5472430"/>
            <a:chOff x="5126116" y="1843801"/>
            <a:chExt cx="4366895" cy="5472430"/>
          </a:xfrm>
        </p:grpSpPr>
        <p:sp>
          <p:nvSpPr>
            <p:cNvPr id="12" name="object 12"/>
            <p:cNvSpPr/>
            <p:nvPr/>
          </p:nvSpPr>
          <p:spPr>
            <a:xfrm>
              <a:off x="5148977" y="1855231"/>
              <a:ext cx="4332605" cy="5449570"/>
            </a:xfrm>
            <a:custGeom>
              <a:avLst/>
              <a:gdLst/>
              <a:ahLst/>
              <a:cxnLst/>
              <a:rect l="l" t="t" r="r" b="b"/>
              <a:pathLst>
                <a:path w="4332605" h="5449570">
                  <a:moveTo>
                    <a:pt x="0" y="109737"/>
                  </a:moveTo>
                  <a:lnTo>
                    <a:pt x="8353" y="67742"/>
                  </a:lnTo>
                  <a:lnTo>
                    <a:pt x="32141" y="32141"/>
                  </a:lnTo>
                  <a:lnTo>
                    <a:pt x="67742" y="8353"/>
                  </a:lnTo>
                  <a:lnTo>
                    <a:pt x="109737" y="0"/>
                  </a:lnTo>
                  <a:lnTo>
                    <a:pt x="4222589" y="0"/>
                  </a:lnTo>
                  <a:lnTo>
                    <a:pt x="4264583" y="8353"/>
                  </a:lnTo>
                  <a:lnTo>
                    <a:pt x="4300185" y="32141"/>
                  </a:lnTo>
                  <a:lnTo>
                    <a:pt x="4323972" y="67742"/>
                  </a:lnTo>
                  <a:lnTo>
                    <a:pt x="4332326" y="109737"/>
                  </a:lnTo>
                  <a:lnTo>
                    <a:pt x="4332326" y="5339513"/>
                  </a:lnTo>
                  <a:lnTo>
                    <a:pt x="4323972" y="5381507"/>
                  </a:lnTo>
                  <a:lnTo>
                    <a:pt x="4300185" y="5417110"/>
                  </a:lnTo>
                  <a:lnTo>
                    <a:pt x="4264583" y="5440898"/>
                  </a:lnTo>
                  <a:lnTo>
                    <a:pt x="4222589" y="5449252"/>
                  </a:lnTo>
                  <a:lnTo>
                    <a:pt x="109737" y="5449252"/>
                  </a:lnTo>
                  <a:lnTo>
                    <a:pt x="67742" y="5440898"/>
                  </a:lnTo>
                  <a:lnTo>
                    <a:pt x="32141" y="5417110"/>
                  </a:lnTo>
                  <a:lnTo>
                    <a:pt x="8353" y="5381508"/>
                  </a:lnTo>
                  <a:lnTo>
                    <a:pt x="0" y="5339513"/>
                  </a:lnTo>
                  <a:lnTo>
                    <a:pt x="0" y="109737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6116" y="1855231"/>
              <a:ext cx="91440" cy="5449570"/>
            </a:xfrm>
            <a:custGeom>
              <a:avLst/>
              <a:gdLst/>
              <a:ahLst/>
              <a:cxnLst/>
              <a:rect l="l" t="t" r="r" b="b"/>
              <a:pathLst>
                <a:path w="91439" h="5449570">
                  <a:moveTo>
                    <a:pt x="45720" y="5449252"/>
                  </a:moveTo>
                  <a:lnTo>
                    <a:pt x="7532" y="5428818"/>
                  </a:lnTo>
                  <a:lnTo>
                    <a:pt x="0" y="5403532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5403532"/>
                  </a:lnTo>
                  <a:lnTo>
                    <a:pt x="71006" y="5441719"/>
                  </a:lnTo>
                  <a:lnTo>
                    <a:pt x="45720" y="5449252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09167" y="1986114"/>
            <a:ext cx="3225800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Consistency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Arial MT"/>
                <a:cs typeface="Arial MT"/>
              </a:rPr>
              <a:t>Under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006FC0"/>
                </a:solidFill>
                <a:latin typeface="Arial MT"/>
                <a:cs typeface="Arial MT"/>
              </a:rPr>
              <a:t>Partition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09167" y="2401043"/>
            <a:ext cx="3881120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5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line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post</a:t>
            </a:r>
            <a:r>
              <a:rPr sz="1600" dirty="0">
                <a:latin typeface="Microsoft Sans Serif"/>
                <a:cs typeface="Microsoft Sans Serif"/>
              </a:rPr>
              <a:t>‑</a:t>
            </a:r>
            <a:r>
              <a:rPr sz="1600" dirty="0">
                <a:latin typeface="Times New Roman"/>
                <a:cs typeface="Times New Roman"/>
              </a:rPr>
              <a:t>CAP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refinements</a:t>
            </a:r>
            <a:r>
              <a:rPr sz="1600" spc="4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(Brewer, </a:t>
            </a:r>
            <a:r>
              <a:rPr sz="1600" dirty="0">
                <a:latin typeface="Times New Roman"/>
                <a:cs typeface="Times New Roman"/>
              </a:rPr>
              <a:t>2012;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Abadi,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2012),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signalling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plane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9167" y="3139990"/>
            <a:ext cx="916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engineered partitions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58588" y="3139990"/>
            <a:ext cx="1245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225">
              <a:lnSpc>
                <a:spcPct val="150000"/>
              </a:lnSpc>
              <a:spcBef>
                <a:spcPts val="100"/>
              </a:spcBef>
              <a:tabLst>
                <a:tab pos="527685" algn="l"/>
                <a:tab pos="589280" algn="l"/>
              </a:tabLst>
            </a:pP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favour </a:t>
            </a:r>
            <a:r>
              <a:rPr sz="1600" spc="-20" dirty="0">
                <a:latin typeface="Times New Roman"/>
                <a:cs typeface="Times New Roman"/>
              </a:rPr>
              <a:t>(AP)</a:t>
            </a:r>
            <a:r>
              <a:rPr sz="1600" dirty="0">
                <a:latin typeface="Times New Roman"/>
                <a:cs typeface="Times New Roman"/>
              </a:rPr>
              <a:t>		</a:t>
            </a:r>
            <a:r>
              <a:rPr sz="1600" spc="-10" dirty="0">
                <a:latin typeface="Times New Roman"/>
                <a:cs typeface="Times New Roman"/>
              </a:rPr>
              <a:t>because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1958" y="3139990"/>
            <a:ext cx="16783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 marR="5080" indent="-148590">
              <a:lnSpc>
                <a:spcPct val="150000"/>
              </a:lnSpc>
              <a:spcBef>
                <a:spcPts val="100"/>
              </a:spcBef>
              <a:tabLst>
                <a:tab pos="1031240" algn="l"/>
                <a:tab pos="1134110" algn="l"/>
                <a:tab pos="1529080" algn="l"/>
              </a:tabLst>
            </a:pPr>
            <a:r>
              <a:rPr sz="1600" spc="-10" dirty="0">
                <a:latin typeface="Times New Roman"/>
                <a:cs typeface="Times New Roman"/>
              </a:rPr>
              <a:t>availability</a:t>
            </a:r>
            <a:r>
              <a:rPr sz="1600" dirty="0">
                <a:latin typeface="Times New Roman"/>
                <a:cs typeface="Times New Roman"/>
              </a:rPr>
              <a:t>		</a:t>
            </a:r>
            <a:r>
              <a:rPr sz="1600" spc="-10" dirty="0">
                <a:latin typeface="Times New Roman"/>
                <a:cs typeface="Times New Roman"/>
              </a:rPr>
              <a:t>during message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09167" y="3871510"/>
            <a:ext cx="3881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tolerable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recomputable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events;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contrast, </a:t>
            </a:r>
            <a:r>
              <a:rPr sz="1600" dirty="0">
                <a:latin typeface="Times New Roman"/>
                <a:cs typeface="Times New Roman"/>
              </a:rPr>
              <a:t>persistence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engineered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CP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prioritise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09167" y="4599316"/>
            <a:ext cx="3881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613410" algn="l"/>
                <a:tab pos="806450" algn="l"/>
                <a:tab pos="1829435" algn="l"/>
                <a:tab pos="1990089" algn="l"/>
                <a:tab pos="2459355" algn="l"/>
                <a:tab pos="3100705" algn="l"/>
                <a:tab pos="3179445" algn="l"/>
              </a:tabLst>
            </a:pPr>
            <a:r>
              <a:rPr sz="1600" spc="-10" dirty="0">
                <a:latin typeface="Times New Roman"/>
                <a:cs typeface="Times New Roman"/>
              </a:rPr>
              <a:t>durable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consistency.</a:t>
            </a:r>
            <a:r>
              <a:rPr sz="1600" dirty="0">
                <a:latin typeface="Times New Roman"/>
                <a:cs typeface="Times New Roman"/>
              </a:rPr>
              <a:t>		</a:t>
            </a:r>
            <a:r>
              <a:rPr sz="1600" spc="-10" dirty="0">
                <a:latin typeface="Times New Roman"/>
                <a:cs typeface="Times New Roman"/>
              </a:rPr>
              <a:t>Idempotent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25" dirty="0">
                <a:latin typeface="Times New Roman"/>
                <a:cs typeface="Times New Roman"/>
              </a:rPr>
              <a:t>hand</a:t>
            </a:r>
            <a:r>
              <a:rPr sz="1600" spc="-25" dirty="0">
                <a:latin typeface="Microsoft Sans Serif"/>
                <a:cs typeface="Microsoft Sans Serif"/>
              </a:rPr>
              <a:t>‑</a:t>
            </a:r>
            <a:r>
              <a:rPr sz="1600" spc="-25" dirty="0">
                <a:latin typeface="Times New Roman"/>
                <a:cs typeface="Times New Roman"/>
              </a:rPr>
              <a:t>offs </a:t>
            </a:r>
            <a:r>
              <a:rPr sz="1600" spc="-10" dirty="0">
                <a:latin typeface="Times New Roman"/>
                <a:cs typeface="Times New Roman"/>
              </a:rPr>
              <a:t>(e.g.,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content</a:t>
            </a:r>
            <a:r>
              <a:rPr sz="1600" spc="-10" dirty="0">
                <a:latin typeface="Microsoft Sans Serif"/>
                <a:cs typeface="Microsoft Sans Serif"/>
              </a:rPr>
              <a:t>‑</a:t>
            </a:r>
            <a:r>
              <a:rPr sz="1600" spc="-10" dirty="0">
                <a:latin typeface="Times New Roman"/>
                <a:cs typeface="Times New Roman"/>
              </a:rPr>
              <a:t>hash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keys)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ensure</a:t>
            </a:r>
            <a:r>
              <a:rPr sz="1600" dirty="0">
                <a:latin typeface="Times New Roman"/>
                <a:cs typeface="Times New Roman"/>
              </a:rPr>
              <a:t>		</a:t>
            </a:r>
            <a:r>
              <a:rPr sz="1600" spc="-10" dirty="0">
                <a:latin typeface="Times New Roman"/>
                <a:cs typeface="Times New Roman"/>
              </a:rPr>
              <a:t>eventual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09167" y="5334550"/>
            <a:ext cx="388112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convergence.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Critically,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separation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reflects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normative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design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stance: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inconsistency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quarantined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ephemeral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coordination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while </a:t>
            </a:r>
            <a:r>
              <a:rPr sz="1600" dirty="0">
                <a:latin typeface="Times New Roman"/>
                <a:cs typeface="Times New Roman"/>
              </a:rPr>
              <a:t>state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remains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coherent.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639895" y="1843801"/>
            <a:ext cx="4366895" cy="5472430"/>
            <a:chOff x="9639895" y="1843801"/>
            <a:chExt cx="4366895" cy="5472430"/>
          </a:xfrm>
        </p:grpSpPr>
        <p:sp>
          <p:nvSpPr>
            <p:cNvPr id="23" name="object 23"/>
            <p:cNvSpPr/>
            <p:nvPr/>
          </p:nvSpPr>
          <p:spPr>
            <a:xfrm>
              <a:off x="9662755" y="1855231"/>
              <a:ext cx="4332605" cy="5449570"/>
            </a:xfrm>
            <a:custGeom>
              <a:avLst/>
              <a:gdLst/>
              <a:ahLst/>
              <a:cxnLst/>
              <a:rect l="l" t="t" r="r" b="b"/>
              <a:pathLst>
                <a:path w="4332605" h="5449570">
                  <a:moveTo>
                    <a:pt x="0" y="109734"/>
                  </a:moveTo>
                  <a:lnTo>
                    <a:pt x="8353" y="67741"/>
                  </a:lnTo>
                  <a:lnTo>
                    <a:pt x="32140" y="32140"/>
                  </a:lnTo>
                  <a:lnTo>
                    <a:pt x="67741" y="8353"/>
                  </a:lnTo>
                  <a:lnTo>
                    <a:pt x="109734" y="0"/>
                  </a:lnTo>
                  <a:lnTo>
                    <a:pt x="4222472" y="0"/>
                  </a:lnTo>
                  <a:lnTo>
                    <a:pt x="4264466" y="8353"/>
                  </a:lnTo>
                  <a:lnTo>
                    <a:pt x="4300067" y="32140"/>
                  </a:lnTo>
                  <a:lnTo>
                    <a:pt x="4323854" y="67741"/>
                  </a:lnTo>
                  <a:lnTo>
                    <a:pt x="4332207" y="109734"/>
                  </a:lnTo>
                  <a:lnTo>
                    <a:pt x="4332207" y="5339517"/>
                  </a:lnTo>
                  <a:lnTo>
                    <a:pt x="4323854" y="5381510"/>
                  </a:lnTo>
                  <a:lnTo>
                    <a:pt x="4300066" y="5417110"/>
                  </a:lnTo>
                  <a:lnTo>
                    <a:pt x="4264466" y="5440898"/>
                  </a:lnTo>
                  <a:lnTo>
                    <a:pt x="4222472" y="5449252"/>
                  </a:lnTo>
                  <a:lnTo>
                    <a:pt x="109734" y="5449252"/>
                  </a:lnTo>
                  <a:lnTo>
                    <a:pt x="67741" y="5440898"/>
                  </a:lnTo>
                  <a:lnTo>
                    <a:pt x="32140" y="5417111"/>
                  </a:lnTo>
                  <a:lnTo>
                    <a:pt x="8353" y="5381510"/>
                  </a:lnTo>
                  <a:lnTo>
                    <a:pt x="0" y="5339517"/>
                  </a:lnTo>
                  <a:lnTo>
                    <a:pt x="0" y="109734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39895" y="1855231"/>
              <a:ext cx="91440" cy="5449570"/>
            </a:xfrm>
            <a:custGeom>
              <a:avLst/>
              <a:gdLst/>
              <a:ahLst/>
              <a:cxnLst/>
              <a:rect l="l" t="t" r="r" b="b"/>
              <a:pathLst>
                <a:path w="91440" h="5449570">
                  <a:moveTo>
                    <a:pt x="45720" y="5449252"/>
                  </a:moveTo>
                  <a:lnTo>
                    <a:pt x="7532" y="5428818"/>
                  </a:lnTo>
                  <a:lnTo>
                    <a:pt x="0" y="5403532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5403532"/>
                  </a:lnTo>
                  <a:lnTo>
                    <a:pt x="71006" y="5441719"/>
                  </a:lnTo>
                  <a:lnTo>
                    <a:pt x="45720" y="5449252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922947" y="1986114"/>
            <a:ext cx="3880485" cy="25076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2200" spc="-185" dirty="0">
                <a:solidFill>
                  <a:srgbClr val="006FC0"/>
                </a:solidFill>
                <a:latin typeface="Arial MT"/>
                <a:cs typeface="Arial MT"/>
              </a:rPr>
              <a:t>IR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Baseline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Explainability</a:t>
            </a:r>
            <a:endParaRPr sz="2200">
              <a:latin typeface="Arial MT"/>
              <a:cs typeface="Arial MT"/>
            </a:endParaRPr>
          </a:p>
          <a:p>
            <a:pPr marL="12700" marR="5080" algn="just">
              <a:lnSpc>
                <a:spcPct val="150000"/>
              </a:lnSpc>
              <a:spcBef>
                <a:spcPts val="675"/>
              </a:spcBef>
            </a:pPr>
            <a:r>
              <a:rPr sz="1500" dirty="0">
                <a:latin typeface="Times New Roman"/>
                <a:cs typeface="Times New Roman"/>
              </a:rPr>
              <a:t>TF–IDF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selected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because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weighting</a:t>
            </a:r>
            <a:r>
              <a:rPr sz="1500" spc="160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Times New Roman"/>
                <a:cs typeface="Times New Roman"/>
              </a:rPr>
              <a:t>is </a:t>
            </a:r>
            <a:r>
              <a:rPr sz="1500" dirty="0">
                <a:latin typeface="Times New Roman"/>
                <a:cs typeface="Times New Roman"/>
              </a:rPr>
              <a:t>interpretable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strong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short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scholarly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fields. </a:t>
            </a:r>
            <a:r>
              <a:rPr sz="1500" dirty="0">
                <a:latin typeface="Times New Roman"/>
                <a:cs typeface="Times New Roman"/>
              </a:rPr>
              <a:t>BM25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could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replace</a:t>
            </a:r>
            <a:r>
              <a:rPr sz="1500" spc="15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complement</a:t>
            </a:r>
            <a:r>
              <a:rPr sz="1500" spc="15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TF–IDF </a:t>
            </a:r>
            <a:r>
              <a:rPr sz="1500" dirty="0">
                <a:latin typeface="Times New Roman"/>
                <a:cs typeface="Times New Roman"/>
              </a:rPr>
              <a:t>where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length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normalisation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materially</a:t>
            </a:r>
            <a:r>
              <a:rPr sz="1500" spc="3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improves </a:t>
            </a:r>
            <a:r>
              <a:rPr sz="1500" dirty="0">
                <a:latin typeface="Times New Roman"/>
                <a:cs typeface="Times New Roman"/>
              </a:rPr>
              <a:t>ranking;</a:t>
            </a:r>
            <a:r>
              <a:rPr sz="1500" spc="1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however,</a:t>
            </a:r>
            <a:r>
              <a:rPr sz="1500" spc="1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1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titles</a:t>
            </a:r>
            <a:r>
              <a:rPr sz="1500" spc="1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abstracts</a:t>
            </a:r>
            <a:r>
              <a:rPr sz="1500" spc="165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Times New Roman"/>
                <a:cs typeface="Times New Roman"/>
              </a:rPr>
              <a:t>of </a:t>
            </a:r>
            <a:r>
              <a:rPr sz="1500" dirty="0">
                <a:latin typeface="Times New Roman"/>
                <a:cs typeface="Times New Roman"/>
              </a:rPr>
              <a:t>relatively</a:t>
            </a:r>
            <a:r>
              <a:rPr sz="1500" spc="27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constrained</a:t>
            </a:r>
            <a:r>
              <a:rPr sz="1500" spc="27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length,</a:t>
            </a:r>
            <a:r>
              <a:rPr sz="1500" spc="27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TF–IDF</a:t>
            </a:r>
            <a:r>
              <a:rPr sz="1500" spc="275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offers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922947" y="4467796"/>
            <a:ext cx="388048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competitive</a:t>
            </a:r>
            <a:r>
              <a:rPr sz="1500" spc="459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effectiveness</a:t>
            </a:r>
            <a:r>
              <a:rPr sz="1500" spc="459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459" dirty="0">
                <a:latin typeface="Times New Roman"/>
                <a:cs typeface="Times New Roman"/>
              </a:rPr>
              <a:t>   </a:t>
            </a:r>
            <a:r>
              <a:rPr sz="1500" spc="-10" dirty="0">
                <a:latin typeface="Times New Roman"/>
                <a:cs typeface="Times New Roman"/>
              </a:rPr>
              <a:t>maximal </a:t>
            </a:r>
            <a:r>
              <a:rPr sz="1500" dirty="0">
                <a:latin typeface="Times New Roman"/>
                <a:cs typeface="Times New Roman"/>
              </a:rPr>
              <a:t>transparency</a:t>
            </a:r>
            <a:r>
              <a:rPr sz="1500" spc="25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(Robertson</a:t>
            </a:r>
            <a:r>
              <a:rPr sz="1500" spc="254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&amp;</a:t>
            </a:r>
            <a:r>
              <a:rPr sz="1500" spc="25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Zaragoza,</a:t>
            </a:r>
            <a:r>
              <a:rPr sz="1500" spc="254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2009). </a:t>
            </a:r>
            <a:r>
              <a:rPr sz="1500" dirty="0">
                <a:latin typeface="Times New Roman"/>
                <a:cs typeface="Times New Roman"/>
              </a:rPr>
              <a:t>Neural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ranking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(e.g.,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BERT)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layered </a:t>
            </a: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2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2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valid</a:t>
            </a:r>
            <a:r>
              <a:rPr sz="1500" spc="2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lexical</a:t>
            </a:r>
            <a:r>
              <a:rPr sz="1500" spc="2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baseline</a:t>
            </a:r>
            <a:r>
              <a:rPr sz="1500" spc="2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20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established, </a:t>
            </a:r>
            <a:r>
              <a:rPr sz="1500" dirty="0">
                <a:latin typeface="Times New Roman"/>
                <a:cs typeface="Times New Roman"/>
              </a:rPr>
              <a:t>following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IR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pedagogy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emphasises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controlled </a:t>
            </a:r>
            <a:r>
              <a:rPr sz="1500" dirty="0">
                <a:latin typeface="Times New Roman"/>
                <a:cs typeface="Times New Roman"/>
              </a:rPr>
              <a:t>ablations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(Nogueira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&amp;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Cho,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2019).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staged </a:t>
            </a:r>
            <a:r>
              <a:rPr sz="1500" dirty="0">
                <a:latin typeface="Times New Roman"/>
                <a:cs typeface="Times New Roman"/>
              </a:rPr>
              <a:t>complexity</a:t>
            </a:r>
            <a:r>
              <a:rPr sz="1500" spc="35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directly</a:t>
            </a:r>
            <a:r>
              <a:rPr sz="1500" spc="350" dirty="0">
                <a:latin typeface="Times New Roman"/>
                <a:cs typeface="Times New Roman"/>
              </a:rPr>
              <a:t>   </a:t>
            </a:r>
            <a:r>
              <a:rPr sz="1500" dirty="0">
                <a:latin typeface="Times New Roman"/>
                <a:cs typeface="Times New Roman"/>
              </a:rPr>
              <a:t>addresses</a:t>
            </a:r>
            <a:r>
              <a:rPr sz="1500" spc="355" dirty="0">
                <a:latin typeface="Times New Roman"/>
                <a:cs typeface="Times New Roman"/>
              </a:rPr>
              <a:t>   </a:t>
            </a:r>
            <a:r>
              <a:rPr sz="1500" spc="-10" dirty="0">
                <a:latin typeface="Times New Roman"/>
                <a:cs typeface="Times New Roman"/>
              </a:rPr>
              <a:t>assessment </a:t>
            </a:r>
            <a:r>
              <a:rPr sz="1500" dirty="0">
                <a:latin typeface="Times New Roman"/>
                <a:cs typeface="Times New Roman"/>
              </a:rPr>
              <a:t>requirements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auditability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fairness.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2875">
              <a:lnSpc>
                <a:spcPct val="100000"/>
              </a:lnSpc>
              <a:spcBef>
                <a:spcPts val="100"/>
              </a:spcBef>
            </a:pPr>
            <a:r>
              <a:rPr sz="4950" spc="-555" dirty="0">
                <a:solidFill>
                  <a:srgbClr val="3C0DFC"/>
                </a:solidFill>
              </a:rPr>
              <a:t>AROAS</a:t>
            </a:r>
            <a:r>
              <a:rPr sz="4950" spc="-229" dirty="0">
                <a:solidFill>
                  <a:srgbClr val="3C0DFC"/>
                </a:solidFill>
              </a:rPr>
              <a:t> </a:t>
            </a:r>
            <a:r>
              <a:rPr sz="4950" spc="-110" dirty="0">
                <a:solidFill>
                  <a:srgbClr val="3C0DFC"/>
                </a:solidFill>
              </a:rPr>
              <a:t>Multi-</a:t>
            </a:r>
            <a:r>
              <a:rPr sz="4950" spc="-135" dirty="0">
                <a:solidFill>
                  <a:srgbClr val="3C0DFC"/>
                </a:solidFill>
              </a:rPr>
              <a:t>Agent</a:t>
            </a:r>
            <a:r>
              <a:rPr sz="4950" spc="-225" dirty="0">
                <a:solidFill>
                  <a:srgbClr val="3C0DFC"/>
                </a:solidFill>
              </a:rPr>
              <a:t> </a:t>
            </a:r>
            <a:r>
              <a:rPr sz="4950" spc="-110" dirty="0">
                <a:solidFill>
                  <a:srgbClr val="3C0DFC"/>
                </a:solidFill>
              </a:rPr>
              <a:t>Architecture</a:t>
            </a:r>
            <a:endParaRPr sz="4950"/>
          </a:p>
        </p:txBody>
      </p:sp>
      <p:sp>
        <p:nvSpPr>
          <p:cNvPr id="4" name="object 4"/>
          <p:cNvSpPr txBox="1"/>
          <p:nvPr/>
        </p:nvSpPr>
        <p:spPr>
          <a:xfrm>
            <a:off x="1705898" y="6279514"/>
            <a:ext cx="1177353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0" dirty="0">
                <a:latin typeface="Microsoft Sans Serif"/>
                <a:cs typeface="Microsoft Sans Serif"/>
              </a:rPr>
              <a:t>Figure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1.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spc="-120" dirty="0">
                <a:latin typeface="Microsoft Sans Serif"/>
                <a:cs typeface="Microsoft Sans Serif"/>
              </a:rPr>
              <a:t>AROAS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multi-agent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architecture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showing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modular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separation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and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communication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via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a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publish/subscribe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spc="-20" dirty="0">
                <a:latin typeface="Microsoft Sans Serif"/>
                <a:cs typeface="Microsoft Sans Serif"/>
              </a:rPr>
              <a:t>bus.</a:t>
            </a:r>
            <a:endParaRPr sz="1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750">
              <a:latin typeface="Microsoft Sans Serif"/>
              <a:cs typeface="Microsoft Sans Serif"/>
            </a:endParaRPr>
          </a:p>
          <a:p>
            <a:pPr marR="546735" algn="ctr">
              <a:lnSpc>
                <a:spcPct val="100000"/>
              </a:lnSpc>
            </a:pPr>
            <a:r>
              <a:rPr sz="1750" spc="-20" dirty="0">
                <a:latin typeface="Microsoft Sans Serif"/>
                <a:cs typeface="Microsoft Sans Serif"/>
              </a:rPr>
              <a:t>Source:</a:t>
            </a:r>
            <a:r>
              <a:rPr sz="1750" spc="-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Author</a:t>
            </a:r>
            <a:r>
              <a:rPr sz="1750" spc="-30" dirty="0">
                <a:latin typeface="Microsoft Sans Serif"/>
                <a:cs typeface="Microsoft Sans Serif"/>
              </a:rPr>
              <a:t> </a:t>
            </a:r>
            <a:r>
              <a:rPr sz="1750" spc="-20" dirty="0">
                <a:latin typeface="Microsoft Sans Serif"/>
                <a:cs typeface="Microsoft Sans Serif"/>
              </a:rPr>
              <a:t>Made</a:t>
            </a:r>
            <a:endParaRPr sz="17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1182" y="1700951"/>
            <a:ext cx="10120577" cy="4351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117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90"/>
              </a:spcBef>
            </a:pPr>
            <a:r>
              <a:rPr sz="4350" spc="-195" dirty="0">
                <a:solidFill>
                  <a:srgbClr val="3C0DFC"/>
                </a:solidFill>
              </a:rPr>
              <a:t>Software</a:t>
            </a:r>
            <a:r>
              <a:rPr sz="4350" spc="-225" dirty="0">
                <a:solidFill>
                  <a:srgbClr val="3C0DFC"/>
                </a:solidFill>
              </a:rPr>
              <a:t> </a:t>
            </a:r>
            <a:r>
              <a:rPr sz="4350" spc="-295" dirty="0">
                <a:solidFill>
                  <a:srgbClr val="3C0DFC"/>
                </a:solidFill>
              </a:rPr>
              <a:t>Stack</a:t>
            </a:r>
            <a:r>
              <a:rPr sz="3750" spc="-295" dirty="0">
                <a:solidFill>
                  <a:srgbClr val="3C0DFC"/>
                </a:solidFill>
                <a:latin typeface="Lucida Sans Unicode"/>
                <a:cs typeface="Lucida Sans Unicode"/>
              </a:rPr>
              <a:t>—</a:t>
            </a:r>
            <a:r>
              <a:rPr sz="4350" spc="-180" dirty="0">
                <a:solidFill>
                  <a:srgbClr val="3C0DFC"/>
                </a:solidFill>
              </a:rPr>
              <a:t>Selection</a:t>
            </a:r>
            <a:r>
              <a:rPr sz="4350" spc="-225" dirty="0">
                <a:solidFill>
                  <a:srgbClr val="3C0DFC"/>
                </a:solidFill>
              </a:rPr>
              <a:t> </a:t>
            </a:r>
            <a:r>
              <a:rPr sz="4350" spc="-105" dirty="0">
                <a:solidFill>
                  <a:srgbClr val="3C0DFC"/>
                </a:solidFill>
              </a:rPr>
              <a:t>with</a:t>
            </a:r>
            <a:r>
              <a:rPr sz="4350" spc="-225" dirty="0">
                <a:solidFill>
                  <a:srgbClr val="3C0DFC"/>
                </a:solidFill>
              </a:rPr>
              <a:t> </a:t>
            </a:r>
            <a:r>
              <a:rPr sz="4350" spc="-270" dirty="0">
                <a:solidFill>
                  <a:srgbClr val="3C0DFC"/>
                </a:solidFill>
              </a:rPr>
              <a:t>Evidence</a:t>
            </a:r>
            <a:r>
              <a:rPr sz="4350" spc="-220" dirty="0">
                <a:solidFill>
                  <a:srgbClr val="3C0DFC"/>
                </a:solidFill>
              </a:rPr>
              <a:t> </a:t>
            </a:r>
            <a:r>
              <a:rPr sz="4350" spc="-295" dirty="0">
                <a:solidFill>
                  <a:srgbClr val="3C0DFC"/>
                </a:solidFill>
              </a:rPr>
              <a:t>and</a:t>
            </a:r>
            <a:r>
              <a:rPr sz="4350" spc="-229" dirty="0">
                <a:solidFill>
                  <a:srgbClr val="3C0DFC"/>
                </a:solidFill>
              </a:rPr>
              <a:t> </a:t>
            </a:r>
            <a:r>
              <a:rPr sz="4350" spc="-85" dirty="0">
                <a:solidFill>
                  <a:srgbClr val="3C0DFC"/>
                </a:solidFill>
              </a:rPr>
              <a:t>Critique</a:t>
            </a:r>
            <a:endParaRPr sz="435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5563" y="1882496"/>
            <a:ext cx="4284980" cy="5488940"/>
            <a:chOff x="695563" y="1882496"/>
            <a:chExt cx="4284980" cy="5488940"/>
          </a:xfrm>
        </p:grpSpPr>
        <p:sp>
          <p:nvSpPr>
            <p:cNvPr id="5" name="object 5"/>
            <p:cNvSpPr/>
            <p:nvPr/>
          </p:nvSpPr>
          <p:spPr>
            <a:xfrm>
              <a:off x="699373" y="1886306"/>
              <a:ext cx="4277360" cy="5481320"/>
            </a:xfrm>
            <a:custGeom>
              <a:avLst/>
              <a:gdLst/>
              <a:ahLst/>
              <a:cxnLst/>
              <a:rect l="l" t="t" r="r" b="b"/>
              <a:pathLst>
                <a:path w="4277360" h="5481320">
                  <a:moveTo>
                    <a:pt x="4193399" y="5480922"/>
                  </a:moveTo>
                  <a:lnTo>
                    <a:pt x="83921" y="5480922"/>
                  </a:lnTo>
                  <a:lnTo>
                    <a:pt x="75653" y="5480522"/>
                  </a:lnTo>
                  <a:lnTo>
                    <a:pt x="37288" y="5466791"/>
                  </a:lnTo>
                  <a:lnTo>
                    <a:pt x="9920" y="5436600"/>
                  </a:lnTo>
                  <a:lnTo>
                    <a:pt x="0" y="5397001"/>
                  </a:lnTo>
                  <a:lnTo>
                    <a:pt x="0" y="83921"/>
                  </a:lnTo>
                  <a:lnTo>
                    <a:pt x="9920" y="44320"/>
                  </a:lnTo>
                  <a:lnTo>
                    <a:pt x="37288" y="14130"/>
                  </a:lnTo>
                  <a:lnTo>
                    <a:pt x="75653" y="399"/>
                  </a:lnTo>
                  <a:lnTo>
                    <a:pt x="83921" y="0"/>
                  </a:lnTo>
                  <a:lnTo>
                    <a:pt x="4193399" y="0"/>
                  </a:lnTo>
                  <a:lnTo>
                    <a:pt x="4232998" y="9920"/>
                  </a:lnTo>
                  <a:lnTo>
                    <a:pt x="4263189" y="37288"/>
                  </a:lnTo>
                  <a:lnTo>
                    <a:pt x="4276920" y="75653"/>
                  </a:lnTo>
                  <a:lnTo>
                    <a:pt x="4277319" y="83921"/>
                  </a:lnTo>
                  <a:lnTo>
                    <a:pt x="4277319" y="5397001"/>
                  </a:lnTo>
                  <a:lnTo>
                    <a:pt x="4267398" y="5436600"/>
                  </a:lnTo>
                  <a:lnTo>
                    <a:pt x="4240031" y="5466791"/>
                  </a:lnTo>
                  <a:lnTo>
                    <a:pt x="4201665" y="5480522"/>
                  </a:lnTo>
                  <a:lnTo>
                    <a:pt x="4193399" y="5480922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9373" y="1886306"/>
              <a:ext cx="4277360" cy="5481320"/>
            </a:xfrm>
            <a:custGeom>
              <a:avLst/>
              <a:gdLst/>
              <a:ahLst/>
              <a:cxnLst/>
              <a:rect l="l" t="t" r="r" b="b"/>
              <a:pathLst>
                <a:path w="4277360" h="5481320">
                  <a:moveTo>
                    <a:pt x="0" y="83921"/>
                  </a:moveTo>
                  <a:lnTo>
                    <a:pt x="9920" y="44320"/>
                  </a:lnTo>
                  <a:lnTo>
                    <a:pt x="37288" y="14130"/>
                  </a:lnTo>
                  <a:lnTo>
                    <a:pt x="75653" y="399"/>
                  </a:lnTo>
                  <a:lnTo>
                    <a:pt x="83921" y="0"/>
                  </a:lnTo>
                  <a:lnTo>
                    <a:pt x="4193399" y="0"/>
                  </a:lnTo>
                  <a:lnTo>
                    <a:pt x="4232998" y="9920"/>
                  </a:lnTo>
                  <a:lnTo>
                    <a:pt x="4263189" y="37288"/>
                  </a:lnTo>
                  <a:lnTo>
                    <a:pt x="4276920" y="75653"/>
                  </a:lnTo>
                  <a:lnTo>
                    <a:pt x="4277319" y="83921"/>
                  </a:lnTo>
                  <a:lnTo>
                    <a:pt x="4277319" y="5397001"/>
                  </a:lnTo>
                  <a:lnTo>
                    <a:pt x="4267398" y="5436600"/>
                  </a:lnTo>
                  <a:lnTo>
                    <a:pt x="4240031" y="5466791"/>
                  </a:lnTo>
                  <a:lnTo>
                    <a:pt x="4201665" y="5480522"/>
                  </a:lnTo>
                  <a:lnTo>
                    <a:pt x="4193399" y="5480922"/>
                  </a:lnTo>
                  <a:lnTo>
                    <a:pt x="83921" y="5480922"/>
                  </a:lnTo>
                  <a:lnTo>
                    <a:pt x="44320" y="5471000"/>
                  </a:lnTo>
                  <a:lnTo>
                    <a:pt x="14130" y="5443633"/>
                  </a:lnTo>
                  <a:lnTo>
                    <a:pt x="399" y="5405268"/>
                  </a:lnTo>
                  <a:lnTo>
                    <a:pt x="0" y="5397001"/>
                  </a:lnTo>
                  <a:lnTo>
                    <a:pt x="0" y="83921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6780" y="2093714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299739" y="599479"/>
                  </a:moveTo>
                  <a:lnTo>
                    <a:pt x="255776" y="596240"/>
                  </a:lnTo>
                  <a:lnTo>
                    <a:pt x="212729" y="586576"/>
                  </a:lnTo>
                  <a:lnTo>
                    <a:pt x="171567" y="570695"/>
                  </a:lnTo>
                  <a:lnTo>
                    <a:pt x="133213" y="548964"/>
                  </a:lnTo>
                  <a:lnTo>
                    <a:pt x="98458" y="521846"/>
                  </a:lnTo>
                  <a:lnTo>
                    <a:pt x="68035" y="489895"/>
                  </a:lnTo>
                  <a:lnTo>
                    <a:pt x="42633" y="453822"/>
                  </a:lnTo>
                  <a:lnTo>
                    <a:pt x="22816" y="414445"/>
                  </a:lnTo>
                  <a:lnTo>
                    <a:pt x="8985" y="372588"/>
                  </a:lnTo>
                  <a:lnTo>
                    <a:pt x="1439" y="329119"/>
                  </a:lnTo>
                  <a:lnTo>
                    <a:pt x="0" y="299739"/>
                  </a:lnTo>
                  <a:lnTo>
                    <a:pt x="359" y="285014"/>
                  </a:lnTo>
                  <a:lnTo>
                    <a:pt x="5759" y="241263"/>
                  </a:lnTo>
                  <a:lnTo>
                    <a:pt x="17513" y="198776"/>
                  </a:lnTo>
                  <a:lnTo>
                    <a:pt x="35389" y="158441"/>
                  </a:lnTo>
                  <a:lnTo>
                    <a:pt x="58995" y="121169"/>
                  </a:lnTo>
                  <a:lnTo>
                    <a:pt x="87791" y="87791"/>
                  </a:lnTo>
                  <a:lnTo>
                    <a:pt x="121169" y="58995"/>
                  </a:lnTo>
                  <a:lnTo>
                    <a:pt x="158441" y="35389"/>
                  </a:lnTo>
                  <a:lnTo>
                    <a:pt x="198776" y="17513"/>
                  </a:lnTo>
                  <a:lnTo>
                    <a:pt x="241263" y="5759"/>
                  </a:lnTo>
                  <a:lnTo>
                    <a:pt x="285014" y="359"/>
                  </a:lnTo>
                  <a:lnTo>
                    <a:pt x="299739" y="0"/>
                  </a:lnTo>
                  <a:lnTo>
                    <a:pt x="314465" y="359"/>
                  </a:lnTo>
                  <a:lnTo>
                    <a:pt x="358216" y="5759"/>
                  </a:lnTo>
                  <a:lnTo>
                    <a:pt x="400703" y="17513"/>
                  </a:lnTo>
                  <a:lnTo>
                    <a:pt x="441037" y="35389"/>
                  </a:lnTo>
                  <a:lnTo>
                    <a:pt x="478310" y="58995"/>
                  </a:lnTo>
                  <a:lnTo>
                    <a:pt x="511688" y="87791"/>
                  </a:lnTo>
                  <a:lnTo>
                    <a:pt x="540484" y="121169"/>
                  </a:lnTo>
                  <a:lnTo>
                    <a:pt x="564090" y="158441"/>
                  </a:lnTo>
                  <a:lnTo>
                    <a:pt x="581966" y="198776"/>
                  </a:lnTo>
                  <a:lnTo>
                    <a:pt x="593720" y="241263"/>
                  </a:lnTo>
                  <a:lnTo>
                    <a:pt x="599119" y="285014"/>
                  </a:lnTo>
                  <a:lnTo>
                    <a:pt x="599479" y="299739"/>
                  </a:lnTo>
                  <a:lnTo>
                    <a:pt x="599119" y="314465"/>
                  </a:lnTo>
                  <a:lnTo>
                    <a:pt x="593720" y="358216"/>
                  </a:lnTo>
                  <a:lnTo>
                    <a:pt x="581966" y="400703"/>
                  </a:lnTo>
                  <a:lnTo>
                    <a:pt x="564090" y="441037"/>
                  </a:lnTo>
                  <a:lnTo>
                    <a:pt x="540484" y="478310"/>
                  </a:lnTo>
                  <a:lnTo>
                    <a:pt x="511688" y="511688"/>
                  </a:lnTo>
                  <a:lnTo>
                    <a:pt x="478310" y="540484"/>
                  </a:lnTo>
                  <a:lnTo>
                    <a:pt x="441037" y="564090"/>
                  </a:lnTo>
                  <a:lnTo>
                    <a:pt x="400703" y="581966"/>
                  </a:lnTo>
                  <a:lnTo>
                    <a:pt x="358216" y="593720"/>
                  </a:lnTo>
                  <a:lnTo>
                    <a:pt x="314465" y="599119"/>
                  </a:lnTo>
                  <a:lnTo>
                    <a:pt x="299739" y="599479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1681" y="2224801"/>
              <a:ext cx="269676" cy="33718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94080" y="2830642"/>
            <a:ext cx="3888104" cy="16408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2300" spc="-45" dirty="0">
                <a:solidFill>
                  <a:srgbClr val="006FC0"/>
                </a:solidFill>
                <a:latin typeface="Arial MT"/>
                <a:cs typeface="Arial MT"/>
              </a:rPr>
              <a:t>Acquisition</a:t>
            </a:r>
            <a:r>
              <a:rPr sz="2300" spc="-7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06FC0"/>
                </a:solidFill>
                <a:latin typeface="Arial MT"/>
                <a:cs typeface="Arial MT"/>
              </a:rPr>
              <a:t>Layer</a:t>
            </a:r>
            <a:endParaRPr sz="2300">
              <a:latin typeface="Arial MT"/>
              <a:cs typeface="Arial MT"/>
            </a:endParaRPr>
          </a:p>
          <a:p>
            <a:pPr marL="12700" marR="5080" algn="just">
              <a:lnSpc>
                <a:spcPct val="150000"/>
              </a:lnSpc>
              <a:spcBef>
                <a:spcPts val="740"/>
              </a:spcBef>
            </a:pPr>
            <a:r>
              <a:rPr sz="1700" dirty="0">
                <a:latin typeface="Times New Roman"/>
                <a:cs typeface="Times New Roman"/>
              </a:rPr>
              <a:t>Scrapy</a:t>
            </a:r>
            <a:r>
              <a:rPr sz="1700" spc="19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provides</a:t>
            </a:r>
            <a:r>
              <a:rPr sz="1700" spc="19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9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mature</a:t>
            </a:r>
            <a:r>
              <a:rPr sz="1700" spc="190" dirty="0">
                <a:latin typeface="Times New Roman"/>
                <a:cs typeface="Times New Roman"/>
              </a:rPr>
              <a:t>   </a:t>
            </a:r>
            <a:r>
              <a:rPr sz="1700" spc="-10" dirty="0">
                <a:latin typeface="Times New Roman"/>
                <a:cs typeface="Times New Roman"/>
              </a:rPr>
              <a:t>scheduler,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domain</a:t>
            </a:r>
            <a:r>
              <a:rPr sz="1700" spc="26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concurrency</a:t>
            </a:r>
            <a:r>
              <a:rPr sz="1700" spc="26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controls</a:t>
            </a:r>
            <a:r>
              <a:rPr sz="1700" spc="265" dirty="0">
                <a:latin typeface="Times New Roman"/>
                <a:cs typeface="Times New Roman"/>
              </a:rPr>
              <a:t>   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dirty="0">
                <a:latin typeface="Times New Roman"/>
                <a:cs typeface="Times New Roman"/>
              </a:rPr>
              <a:t>adaptive</a:t>
            </a:r>
            <a:r>
              <a:rPr sz="1700" spc="4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throttling</a:t>
            </a:r>
            <a:r>
              <a:rPr sz="1700" spc="4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4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reduce</a:t>
            </a:r>
            <a:r>
              <a:rPr sz="1700" spc="4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HTTP</a:t>
            </a:r>
            <a:r>
              <a:rPr sz="1700" spc="44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429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080" y="4449435"/>
            <a:ext cx="3888104" cy="27419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65"/>
              </a:spcBef>
            </a:pPr>
            <a:r>
              <a:rPr sz="1700" dirty="0">
                <a:latin typeface="Times New Roman"/>
                <a:cs typeface="Times New Roman"/>
              </a:rPr>
              <a:t>responses</a:t>
            </a:r>
            <a:r>
              <a:rPr sz="1700" spc="37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37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server</a:t>
            </a:r>
            <a:r>
              <a:rPr sz="1700" spc="37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overload</a:t>
            </a:r>
            <a:r>
              <a:rPr sz="1700" spc="370" dirty="0">
                <a:latin typeface="Times New Roman"/>
                <a:cs typeface="Times New Roman"/>
              </a:rPr>
              <a:t>   </a:t>
            </a:r>
            <a:r>
              <a:rPr sz="1700" spc="-25" dirty="0">
                <a:latin typeface="Times New Roman"/>
                <a:cs typeface="Times New Roman"/>
              </a:rPr>
              <a:t>on </a:t>
            </a:r>
            <a:r>
              <a:rPr sz="1700" dirty="0">
                <a:latin typeface="Times New Roman"/>
                <a:cs typeface="Times New Roman"/>
              </a:rPr>
              <a:t>heterogeneous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scholarly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sites.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trade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off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0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0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Twisted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centric</a:t>
            </a:r>
            <a:r>
              <a:rPr sz="1700" spc="10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asynchronous</a:t>
            </a:r>
            <a:r>
              <a:rPr sz="1700" spc="105" dirty="0">
                <a:latin typeface="Times New Roman"/>
                <a:cs typeface="Times New Roman"/>
              </a:rPr>
              <a:t>  </a:t>
            </a:r>
            <a:r>
              <a:rPr sz="1700" spc="-20" dirty="0">
                <a:latin typeface="Times New Roman"/>
                <a:cs typeface="Times New Roman"/>
              </a:rPr>
              <a:t>model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3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raises</a:t>
            </a:r>
            <a:r>
              <a:rPr sz="1700" spc="3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entry</a:t>
            </a:r>
            <a:r>
              <a:rPr sz="1700" spc="3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barrier;</a:t>
            </a:r>
            <a:r>
              <a:rPr sz="1700" spc="340" dirty="0">
                <a:latin typeface="Times New Roman"/>
                <a:cs typeface="Times New Roman"/>
              </a:rPr>
              <a:t>  </a:t>
            </a:r>
            <a:r>
              <a:rPr sz="1700" spc="-20" dirty="0">
                <a:latin typeface="Times New Roman"/>
                <a:cs typeface="Times New Roman"/>
              </a:rPr>
              <a:t>AROAS </a:t>
            </a:r>
            <a:r>
              <a:rPr sz="1700" dirty="0">
                <a:latin typeface="Times New Roman"/>
                <a:cs typeface="Times New Roman"/>
              </a:rPr>
              <a:t>mitigates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templated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spiders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 </a:t>
            </a:r>
            <a:r>
              <a:rPr sz="1700" dirty="0">
                <a:latin typeface="Times New Roman"/>
                <a:cs typeface="Times New Roman"/>
              </a:rPr>
              <a:t>linter</a:t>
            </a:r>
            <a:r>
              <a:rPr sz="1700" spc="39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40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enforces</a:t>
            </a:r>
            <a:r>
              <a:rPr sz="1700" spc="40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robots</a:t>
            </a:r>
            <a:r>
              <a:rPr sz="1700" spc="40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observance </a:t>
            </a:r>
            <a:r>
              <a:rPr sz="1700" dirty="0">
                <a:latin typeface="Times New Roman"/>
                <a:cs typeface="Times New Roman"/>
              </a:rPr>
              <a:t>(Scrapy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Community,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2024).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72670" y="1882496"/>
            <a:ext cx="4284980" cy="5488940"/>
            <a:chOff x="5172670" y="1882496"/>
            <a:chExt cx="4284980" cy="5488940"/>
          </a:xfrm>
        </p:grpSpPr>
        <p:sp>
          <p:nvSpPr>
            <p:cNvPr id="12" name="object 12"/>
            <p:cNvSpPr/>
            <p:nvPr/>
          </p:nvSpPr>
          <p:spPr>
            <a:xfrm>
              <a:off x="5176480" y="1886306"/>
              <a:ext cx="4277360" cy="5481320"/>
            </a:xfrm>
            <a:custGeom>
              <a:avLst/>
              <a:gdLst/>
              <a:ahLst/>
              <a:cxnLst/>
              <a:rect l="l" t="t" r="r" b="b"/>
              <a:pathLst>
                <a:path w="4277359" h="5481320">
                  <a:moveTo>
                    <a:pt x="4193399" y="5480922"/>
                  </a:moveTo>
                  <a:lnTo>
                    <a:pt x="83921" y="5480922"/>
                  </a:lnTo>
                  <a:lnTo>
                    <a:pt x="75653" y="5480522"/>
                  </a:lnTo>
                  <a:lnTo>
                    <a:pt x="37288" y="5466791"/>
                  </a:lnTo>
                  <a:lnTo>
                    <a:pt x="9920" y="5436600"/>
                  </a:lnTo>
                  <a:lnTo>
                    <a:pt x="0" y="5397001"/>
                  </a:lnTo>
                  <a:lnTo>
                    <a:pt x="0" y="83921"/>
                  </a:lnTo>
                  <a:lnTo>
                    <a:pt x="9920" y="44320"/>
                  </a:lnTo>
                  <a:lnTo>
                    <a:pt x="37288" y="14130"/>
                  </a:lnTo>
                  <a:lnTo>
                    <a:pt x="75653" y="399"/>
                  </a:lnTo>
                  <a:lnTo>
                    <a:pt x="83921" y="0"/>
                  </a:lnTo>
                  <a:lnTo>
                    <a:pt x="4193399" y="0"/>
                  </a:lnTo>
                  <a:lnTo>
                    <a:pt x="4232998" y="9920"/>
                  </a:lnTo>
                  <a:lnTo>
                    <a:pt x="4263189" y="37288"/>
                  </a:lnTo>
                  <a:lnTo>
                    <a:pt x="4276920" y="75653"/>
                  </a:lnTo>
                  <a:lnTo>
                    <a:pt x="4277319" y="83921"/>
                  </a:lnTo>
                  <a:lnTo>
                    <a:pt x="4277319" y="5397001"/>
                  </a:lnTo>
                  <a:lnTo>
                    <a:pt x="4267398" y="5436600"/>
                  </a:lnTo>
                  <a:lnTo>
                    <a:pt x="4240031" y="5466791"/>
                  </a:lnTo>
                  <a:lnTo>
                    <a:pt x="4201665" y="5480522"/>
                  </a:lnTo>
                  <a:lnTo>
                    <a:pt x="4193399" y="5480922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76480" y="1886306"/>
              <a:ext cx="4277360" cy="5481320"/>
            </a:xfrm>
            <a:custGeom>
              <a:avLst/>
              <a:gdLst/>
              <a:ahLst/>
              <a:cxnLst/>
              <a:rect l="l" t="t" r="r" b="b"/>
              <a:pathLst>
                <a:path w="4277359" h="5481320">
                  <a:moveTo>
                    <a:pt x="0" y="83921"/>
                  </a:moveTo>
                  <a:lnTo>
                    <a:pt x="9920" y="44320"/>
                  </a:lnTo>
                  <a:lnTo>
                    <a:pt x="37288" y="14130"/>
                  </a:lnTo>
                  <a:lnTo>
                    <a:pt x="75653" y="399"/>
                  </a:lnTo>
                  <a:lnTo>
                    <a:pt x="83921" y="0"/>
                  </a:lnTo>
                  <a:lnTo>
                    <a:pt x="4193399" y="0"/>
                  </a:lnTo>
                  <a:lnTo>
                    <a:pt x="4232998" y="9920"/>
                  </a:lnTo>
                  <a:lnTo>
                    <a:pt x="4263189" y="37288"/>
                  </a:lnTo>
                  <a:lnTo>
                    <a:pt x="4276920" y="75653"/>
                  </a:lnTo>
                  <a:lnTo>
                    <a:pt x="4277319" y="83921"/>
                  </a:lnTo>
                  <a:lnTo>
                    <a:pt x="4277319" y="5397001"/>
                  </a:lnTo>
                  <a:lnTo>
                    <a:pt x="4267398" y="5436600"/>
                  </a:lnTo>
                  <a:lnTo>
                    <a:pt x="4240031" y="5466791"/>
                  </a:lnTo>
                  <a:lnTo>
                    <a:pt x="4201665" y="5480522"/>
                  </a:lnTo>
                  <a:lnTo>
                    <a:pt x="4193399" y="5480922"/>
                  </a:lnTo>
                  <a:lnTo>
                    <a:pt x="83921" y="5480922"/>
                  </a:lnTo>
                  <a:lnTo>
                    <a:pt x="44320" y="5471000"/>
                  </a:lnTo>
                  <a:lnTo>
                    <a:pt x="14130" y="5443633"/>
                  </a:lnTo>
                  <a:lnTo>
                    <a:pt x="399" y="5405268"/>
                  </a:lnTo>
                  <a:lnTo>
                    <a:pt x="0" y="5397001"/>
                  </a:lnTo>
                  <a:lnTo>
                    <a:pt x="0" y="83921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83887" y="2093714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299739" y="599479"/>
                  </a:moveTo>
                  <a:lnTo>
                    <a:pt x="255776" y="596240"/>
                  </a:lnTo>
                  <a:lnTo>
                    <a:pt x="212729" y="586576"/>
                  </a:lnTo>
                  <a:lnTo>
                    <a:pt x="171567" y="570695"/>
                  </a:lnTo>
                  <a:lnTo>
                    <a:pt x="133213" y="548964"/>
                  </a:lnTo>
                  <a:lnTo>
                    <a:pt x="98458" y="521846"/>
                  </a:lnTo>
                  <a:lnTo>
                    <a:pt x="68035" y="489895"/>
                  </a:lnTo>
                  <a:lnTo>
                    <a:pt x="42633" y="453822"/>
                  </a:lnTo>
                  <a:lnTo>
                    <a:pt x="22816" y="414445"/>
                  </a:lnTo>
                  <a:lnTo>
                    <a:pt x="8985" y="372588"/>
                  </a:lnTo>
                  <a:lnTo>
                    <a:pt x="1439" y="329119"/>
                  </a:lnTo>
                  <a:lnTo>
                    <a:pt x="0" y="299739"/>
                  </a:lnTo>
                  <a:lnTo>
                    <a:pt x="359" y="285014"/>
                  </a:lnTo>
                  <a:lnTo>
                    <a:pt x="5759" y="241263"/>
                  </a:lnTo>
                  <a:lnTo>
                    <a:pt x="17513" y="198776"/>
                  </a:lnTo>
                  <a:lnTo>
                    <a:pt x="35389" y="158441"/>
                  </a:lnTo>
                  <a:lnTo>
                    <a:pt x="58995" y="121169"/>
                  </a:lnTo>
                  <a:lnTo>
                    <a:pt x="87791" y="87791"/>
                  </a:lnTo>
                  <a:lnTo>
                    <a:pt x="121169" y="58995"/>
                  </a:lnTo>
                  <a:lnTo>
                    <a:pt x="158441" y="35389"/>
                  </a:lnTo>
                  <a:lnTo>
                    <a:pt x="198776" y="17513"/>
                  </a:lnTo>
                  <a:lnTo>
                    <a:pt x="241263" y="5759"/>
                  </a:lnTo>
                  <a:lnTo>
                    <a:pt x="285014" y="359"/>
                  </a:lnTo>
                  <a:lnTo>
                    <a:pt x="299739" y="0"/>
                  </a:lnTo>
                  <a:lnTo>
                    <a:pt x="314465" y="359"/>
                  </a:lnTo>
                  <a:lnTo>
                    <a:pt x="358216" y="5759"/>
                  </a:lnTo>
                  <a:lnTo>
                    <a:pt x="400703" y="17513"/>
                  </a:lnTo>
                  <a:lnTo>
                    <a:pt x="441037" y="35389"/>
                  </a:lnTo>
                  <a:lnTo>
                    <a:pt x="478310" y="58995"/>
                  </a:lnTo>
                  <a:lnTo>
                    <a:pt x="511688" y="87791"/>
                  </a:lnTo>
                  <a:lnTo>
                    <a:pt x="540484" y="121169"/>
                  </a:lnTo>
                  <a:lnTo>
                    <a:pt x="564090" y="158441"/>
                  </a:lnTo>
                  <a:lnTo>
                    <a:pt x="581966" y="198776"/>
                  </a:lnTo>
                  <a:lnTo>
                    <a:pt x="593720" y="241263"/>
                  </a:lnTo>
                  <a:lnTo>
                    <a:pt x="599119" y="285014"/>
                  </a:lnTo>
                  <a:lnTo>
                    <a:pt x="599479" y="299739"/>
                  </a:lnTo>
                  <a:lnTo>
                    <a:pt x="599119" y="314465"/>
                  </a:lnTo>
                  <a:lnTo>
                    <a:pt x="593720" y="358216"/>
                  </a:lnTo>
                  <a:lnTo>
                    <a:pt x="581966" y="400703"/>
                  </a:lnTo>
                  <a:lnTo>
                    <a:pt x="564090" y="441037"/>
                  </a:lnTo>
                  <a:lnTo>
                    <a:pt x="540484" y="478310"/>
                  </a:lnTo>
                  <a:lnTo>
                    <a:pt x="511688" y="511688"/>
                  </a:lnTo>
                  <a:lnTo>
                    <a:pt x="478310" y="540484"/>
                  </a:lnTo>
                  <a:lnTo>
                    <a:pt x="441037" y="564090"/>
                  </a:lnTo>
                  <a:lnTo>
                    <a:pt x="400703" y="581966"/>
                  </a:lnTo>
                  <a:lnTo>
                    <a:pt x="358216" y="593720"/>
                  </a:lnTo>
                  <a:lnTo>
                    <a:pt x="314465" y="599119"/>
                  </a:lnTo>
                  <a:lnTo>
                    <a:pt x="299739" y="599479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8789" y="2224801"/>
              <a:ext cx="269676" cy="33718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371186" y="2830642"/>
            <a:ext cx="2360930" cy="381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00" spc="-114" dirty="0">
                <a:solidFill>
                  <a:srgbClr val="006FC0"/>
                </a:solidFill>
                <a:latin typeface="Arial MT"/>
                <a:cs typeface="Arial MT"/>
              </a:rPr>
              <a:t>Dynamic</a:t>
            </a:r>
            <a:r>
              <a:rPr sz="2300" spc="-12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300" spc="-95" dirty="0">
                <a:solidFill>
                  <a:srgbClr val="006FC0"/>
                </a:solidFill>
                <a:latin typeface="Arial MT"/>
                <a:cs typeface="Arial MT"/>
              </a:rPr>
              <a:t>Rendering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71186" y="3279630"/>
            <a:ext cx="3888104" cy="391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AROAS</a:t>
            </a:r>
            <a:r>
              <a:rPr sz="1700" spc="33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employs</a:t>
            </a:r>
            <a:r>
              <a:rPr sz="1700" spc="3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Selenium</a:t>
            </a:r>
            <a:r>
              <a:rPr sz="1700" spc="34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selectively, </a:t>
            </a:r>
            <a:r>
              <a:rPr sz="1700" dirty="0">
                <a:latin typeface="Times New Roman"/>
                <a:cs typeface="Times New Roman"/>
              </a:rPr>
              <a:t>relying</a:t>
            </a:r>
            <a:r>
              <a:rPr sz="1700" spc="2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explicit</a:t>
            </a:r>
            <a:r>
              <a:rPr sz="1700" spc="2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waits</a:t>
            </a:r>
            <a:r>
              <a:rPr sz="1700" spc="2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9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semantic </a:t>
            </a:r>
            <a:r>
              <a:rPr sz="1700" dirty="0">
                <a:latin typeface="Times New Roman"/>
                <a:cs typeface="Times New Roman"/>
              </a:rPr>
              <a:t>conditions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(for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example,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appearance</a:t>
            </a:r>
            <a:r>
              <a:rPr sz="1700" spc="25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of </a:t>
            </a:r>
            <a:r>
              <a:rPr sz="1700" dirty="0">
                <a:latin typeface="Times New Roman"/>
                <a:cs typeface="Times New Roman"/>
              </a:rPr>
              <a:t>recognised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scholarly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meta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tags)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rather</a:t>
            </a:r>
            <a:r>
              <a:rPr sz="1700" spc="26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than </a:t>
            </a:r>
            <a:r>
              <a:rPr sz="1700" dirty="0">
                <a:latin typeface="Times New Roman"/>
                <a:cs typeface="Times New Roman"/>
              </a:rPr>
              <a:t>fixed</a:t>
            </a:r>
            <a:r>
              <a:rPr sz="1700" spc="4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sleeps,</a:t>
            </a:r>
            <a:r>
              <a:rPr sz="1700" spc="4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which</a:t>
            </a:r>
            <a:r>
              <a:rPr sz="1700" spc="4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reduces</a:t>
            </a:r>
            <a:r>
              <a:rPr sz="1700" spc="4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flakiness</a:t>
            </a:r>
            <a:r>
              <a:rPr sz="1700" spc="47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dirty="0">
                <a:latin typeface="Times New Roman"/>
                <a:cs typeface="Times New Roman"/>
              </a:rPr>
              <a:t>timeouts.</a:t>
            </a:r>
            <a:r>
              <a:rPr sz="1700" spc="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Because</a:t>
            </a:r>
            <a:r>
              <a:rPr sz="1700" spc="7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rendering</a:t>
            </a:r>
            <a:r>
              <a:rPr sz="1700" spc="7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7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increase </a:t>
            </a:r>
            <a:r>
              <a:rPr sz="1700" dirty="0">
                <a:latin typeface="Times New Roman"/>
                <a:cs typeface="Times New Roman"/>
              </a:rPr>
              <a:t>crawl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multiples,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Selenium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gated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4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domain</a:t>
            </a:r>
            <a:r>
              <a:rPr sz="1700" spc="44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44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page</a:t>
            </a:r>
            <a:r>
              <a:rPr sz="1700" spc="44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type;</a:t>
            </a:r>
            <a:r>
              <a:rPr sz="1700" spc="44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headless </a:t>
            </a:r>
            <a:r>
              <a:rPr sz="1700" dirty="0">
                <a:latin typeface="Times New Roman"/>
                <a:cs typeface="Times New Roman"/>
              </a:rPr>
              <a:t>execution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resource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caps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limit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overhead </a:t>
            </a:r>
            <a:r>
              <a:rPr sz="1700" dirty="0">
                <a:latin typeface="Times New Roman"/>
                <a:cs typeface="Times New Roman"/>
              </a:rPr>
              <a:t>(SeleniumHQ,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2024;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ThoughtWorks,</a:t>
            </a:r>
            <a:r>
              <a:rPr sz="1700" spc="-10" dirty="0">
                <a:latin typeface="Times New Roman"/>
                <a:cs typeface="Times New Roman"/>
              </a:rPr>
              <a:t> 2023).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649778" y="1882496"/>
            <a:ext cx="4284980" cy="5488940"/>
            <a:chOff x="9649778" y="1882496"/>
            <a:chExt cx="4284980" cy="5488940"/>
          </a:xfrm>
        </p:grpSpPr>
        <p:sp>
          <p:nvSpPr>
            <p:cNvPr id="19" name="object 19"/>
            <p:cNvSpPr/>
            <p:nvPr/>
          </p:nvSpPr>
          <p:spPr>
            <a:xfrm>
              <a:off x="9653588" y="1886306"/>
              <a:ext cx="4277360" cy="5481320"/>
            </a:xfrm>
            <a:custGeom>
              <a:avLst/>
              <a:gdLst/>
              <a:ahLst/>
              <a:cxnLst/>
              <a:rect l="l" t="t" r="r" b="b"/>
              <a:pathLst>
                <a:path w="4277359" h="5481320">
                  <a:moveTo>
                    <a:pt x="4193399" y="5480922"/>
                  </a:moveTo>
                  <a:lnTo>
                    <a:pt x="83921" y="5480922"/>
                  </a:lnTo>
                  <a:lnTo>
                    <a:pt x="75653" y="5480522"/>
                  </a:lnTo>
                  <a:lnTo>
                    <a:pt x="37288" y="5466791"/>
                  </a:lnTo>
                  <a:lnTo>
                    <a:pt x="9920" y="5436600"/>
                  </a:lnTo>
                  <a:lnTo>
                    <a:pt x="0" y="5397001"/>
                  </a:lnTo>
                  <a:lnTo>
                    <a:pt x="0" y="83921"/>
                  </a:lnTo>
                  <a:lnTo>
                    <a:pt x="9920" y="44320"/>
                  </a:lnTo>
                  <a:lnTo>
                    <a:pt x="37288" y="14130"/>
                  </a:lnTo>
                  <a:lnTo>
                    <a:pt x="75653" y="399"/>
                  </a:lnTo>
                  <a:lnTo>
                    <a:pt x="83921" y="0"/>
                  </a:lnTo>
                  <a:lnTo>
                    <a:pt x="4193399" y="0"/>
                  </a:lnTo>
                  <a:lnTo>
                    <a:pt x="4232998" y="9920"/>
                  </a:lnTo>
                  <a:lnTo>
                    <a:pt x="4263189" y="37288"/>
                  </a:lnTo>
                  <a:lnTo>
                    <a:pt x="4276920" y="75653"/>
                  </a:lnTo>
                  <a:lnTo>
                    <a:pt x="4277319" y="83921"/>
                  </a:lnTo>
                  <a:lnTo>
                    <a:pt x="4277319" y="5397001"/>
                  </a:lnTo>
                  <a:lnTo>
                    <a:pt x="4267398" y="5436600"/>
                  </a:lnTo>
                  <a:lnTo>
                    <a:pt x="4240031" y="5466791"/>
                  </a:lnTo>
                  <a:lnTo>
                    <a:pt x="4201665" y="5480522"/>
                  </a:lnTo>
                  <a:lnTo>
                    <a:pt x="4193399" y="5480922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53588" y="1886306"/>
              <a:ext cx="4277360" cy="5481320"/>
            </a:xfrm>
            <a:custGeom>
              <a:avLst/>
              <a:gdLst/>
              <a:ahLst/>
              <a:cxnLst/>
              <a:rect l="l" t="t" r="r" b="b"/>
              <a:pathLst>
                <a:path w="4277359" h="5481320">
                  <a:moveTo>
                    <a:pt x="0" y="83921"/>
                  </a:moveTo>
                  <a:lnTo>
                    <a:pt x="9920" y="44320"/>
                  </a:lnTo>
                  <a:lnTo>
                    <a:pt x="37288" y="14130"/>
                  </a:lnTo>
                  <a:lnTo>
                    <a:pt x="75653" y="399"/>
                  </a:lnTo>
                  <a:lnTo>
                    <a:pt x="83921" y="0"/>
                  </a:lnTo>
                  <a:lnTo>
                    <a:pt x="4193399" y="0"/>
                  </a:lnTo>
                  <a:lnTo>
                    <a:pt x="4232998" y="9920"/>
                  </a:lnTo>
                  <a:lnTo>
                    <a:pt x="4263189" y="37288"/>
                  </a:lnTo>
                  <a:lnTo>
                    <a:pt x="4276920" y="75653"/>
                  </a:lnTo>
                  <a:lnTo>
                    <a:pt x="4277319" y="83921"/>
                  </a:lnTo>
                  <a:lnTo>
                    <a:pt x="4277319" y="5397001"/>
                  </a:lnTo>
                  <a:lnTo>
                    <a:pt x="4267398" y="5436600"/>
                  </a:lnTo>
                  <a:lnTo>
                    <a:pt x="4240031" y="5466791"/>
                  </a:lnTo>
                  <a:lnTo>
                    <a:pt x="4201665" y="5480522"/>
                  </a:lnTo>
                  <a:lnTo>
                    <a:pt x="4193399" y="5480922"/>
                  </a:lnTo>
                  <a:lnTo>
                    <a:pt x="83921" y="5480922"/>
                  </a:lnTo>
                  <a:lnTo>
                    <a:pt x="44320" y="5471000"/>
                  </a:lnTo>
                  <a:lnTo>
                    <a:pt x="14130" y="5443633"/>
                  </a:lnTo>
                  <a:lnTo>
                    <a:pt x="399" y="5405268"/>
                  </a:lnTo>
                  <a:lnTo>
                    <a:pt x="0" y="5397001"/>
                  </a:lnTo>
                  <a:lnTo>
                    <a:pt x="0" y="83921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60994" y="2093714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299739" y="599479"/>
                  </a:moveTo>
                  <a:lnTo>
                    <a:pt x="255776" y="596240"/>
                  </a:lnTo>
                  <a:lnTo>
                    <a:pt x="212729" y="586576"/>
                  </a:lnTo>
                  <a:lnTo>
                    <a:pt x="171567" y="570695"/>
                  </a:lnTo>
                  <a:lnTo>
                    <a:pt x="133213" y="548964"/>
                  </a:lnTo>
                  <a:lnTo>
                    <a:pt x="98458" y="521846"/>
                  </a:lnTo>
                  <a:lnTo>
                    <a:pt x="68035" y="489895"/>
                  </a:lnTo>
                  <a:lnTo>
                    <a:pt x="42633" y="453822"/>
                  </a:lnTo>
                  <a:lnTo>
                    <a:pt x="22816" y="414445"/>
                  </a:lnTo>
                  <a:lnTo>
                    <a:pt x="8985" y="372588"/>
                  </a:lnTo>
                  <a:lnTo>
                    <a:pt x="1439" y="329119"/>
                  </a:lnTo>
                  <a:lnTo>
                    <a:pt x="0" y="299739"/>
                  </a:lnTo>
                  <a:lnTo>
                    <a:pt x="359" y="285014"/>
                  </a:lnTo>
                  <a:lnTo>
                    <a:pt x="5759" y="241263"/>
                  </a:lnTo>
                  <a:lnTo>
                    <a:pt x="17513" y="198776"/>
                  </a:lnTo>
                  <a:lnTo>
                    <a:pt x="35389" y="158441"/>
                  </a:lnTo>
                  <a:lnTo>
                    <a:pt x="58995" y="121169"/>
                  </a:lnTo>
                  <a:lnTo>
                    <a:pt x="87791" y="87791"/>
                  </a:lnTo>
                  <a:lnTo>
                    <a:pt x="121169" y="58995"/>
                  </a:lnTo>
                  <a:lnTo>
                    <a:pt x="158441" y="35389"/>
                  </a:lnTo>
                  <a:lnTo>
                    <a:pt x="198776" y="17513"/>
                  </a:lnTo>
                  <a:lnTo>
                    <a:pt x="241263" y="5759"/>
                  </a:lnTo>
                  <a:lnTo>
                    <a:pt x="285014" y="359"/>
                  </a:lnTo>
                  <a:lnTo>
                    <a:pt x="299739" y="0"/>
                  </a:lnTo>
                  <a:lnTo>
                    <a:pt x="314465" y="359"/>
                  </a:lnTo>
                  <a:lnTo>
                    <a:pt x="358216" y="5759"/>
                  </a:lnTo>
                  <a:lnTo>
                    <a:pt x="400703" y="17513"/>
                  </a:lnTo>
                  <a:lnTo>
                    <a:pt x="441037" y="35389"/>
                  </a:lnTo>
                  <a:lnTo>
                    <a:pt x="478310" y="58995"/>
                  </a:lnTo>
                  <a:lnTo>
                    <a:pt x="511688" y="87791"/>
                  </a:lnTo>
                  <a:lnTo>
                    <a:pt x="540484" y="121169"/>
                  </a:lnTo>
                  <a:lnTo>
                    <a:pt x="564090" y="158441"/>
                  </a:lnTo>
                  <a:lnTo>
                    <a:pt x="581966" y="198776"/>
                  </a:lnTo>
                  <a:lnTo>
                    <a:pt x="593720" y="241263"/>
                  </a:lnTo>
                  <a:lnTo>
                    <a:pt x="599119" y="285014"/>
                  </a:lnTo>
                  <a:lnTo>
                    <a:pt x="599479" y="299739"/>
                  </a:lnTo>
                  <a:lnTo>
                    <a:pt x="599119" y="314465"/>
                  </a:lnTo>
                  <a:lnTo>
                    <a:pt x="593720" y="358216"/>
                  </a:lnTo>
                  <a:lnTo>
                    <a:pt x="581966" y="400703"/>
                  </a:lnTo>
                  <a:lnTo>
                    <a:pt x="564090" y="441037"/>
                  </a:lnTo>
                  <a:lnTo>
                    <a:pt x="540484" y="478310"/>
                  </a:lnTo>
                  <a:lnTo>
                    <a:pt x="511688" y="511688"/>
                  </a:lnTo>
                  <a:lnTo>
                    <a:pt x="478310" y="540484"/>
                  </a:lnTo>
                  <a:lnTo>
                    <a:pt x="441037" y="564090"/>
                  </a:lnTo>
                  <a:lnTo>
                    <a:pt x="400703" y="581966"/>
                  </a:lnTo>
                  <a:lnTo>
                    <a:pt x="358216" y="593720"/>
                  </a:lnTo>
                  <a:lnTo>
                    <a:pt x="314465" y="599119"/>
                  </a:lnTo>
                  <a:lnTo>
                    <a:pt x="299739" y="599479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25895" y="2224801"/>
              <a:ext cx="269676" cy="33718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848294" y="2830642"/>
            <a:ext cx="3214370" cy="381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00" spc="-80" dirty="0">
                <a:solidFill>
                  <a:srgbClr val="006FC0"/>
                </a:solidFill>
                <a:latin typeface="Arial MT"/>
                <a:cs typeface="Arial MT"/>
              </a:rPr>
              <a:t>Parsing</a:t>
            </a:r>
            <a:r>
              <a:rPr sz="23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300" spc="-12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3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300" spc="-55" dirty="0">
                <a:solidFill>
                  <a:srgbClr val="006FC0"/>
                </a:solidFill>
                <a:latin typeface="Arial MT"/>
                <a:cs typeface="Arial MT"/>
              </a:rPr>
              <a:t>Normalisation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48294" y="3279630"/>
            <a:ext cx="3888104" cy="3522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pipeline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extracts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established</a:t>
            </a:r>
            <a:r>
              <a:rPr sz="1700" spc="3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scholarly </a:t>
            </a:r>
            <a:r>
              <a:rPr sz="1700" dirty="0">
                <a:latin typeface="Times New Roman"/>
                <a:cs typeface="Times New Roman"/>
              </a:rPr>
              <a:t>metadata—such</a:t>
            </a:r>
            <a:r>
              <a:rPr sz="1700" spc="46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46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Highwire</a:t>
            </a:r>
            <a:r>
              <a:rPr sz="1700" spc="470" dirty="0">
                <a:latin typeface="Times New Roman"/>
                <a:cs typeface="Times New Roman"/>
              </a:rPr>
              <a:t>   </a:t>
            </a:r>
            <a:r>
              <a:rPr sz="1700" spc="-10" dirty="0">
                <a:latin typeface="Times New Roman"/>
                <a:cs typeface="Times New Roman"/>
              </a:rPr>
              <a:t>Press </a:t>
            </a:r>
            <a:r>
              <a:rPr sz="1700" dirty="0">
                <a:latin typeface="Times New Roman"/>
                <a:cs typeface="Times New Roman"/>
              </a:rPr>
              <a:t>‘citation\_title’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‘citation\_author’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tags—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strips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boilerplate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would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otherwise </a:t>
            </a:r>
            <a:r>
              <a:rPr sz="1700" dirty="0">
                <a:latin typeface="Times New Roman"/>
                <a:cs typeface="Times New Roman"/>
              </a:rPr>
              <a:t>dilute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vocabularies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distort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term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weights. </a:t>
            </a:r>
            <a:r>
              <a:rPr sz="1700" dirty="0">
                <a:latin typeface="Times New Roman"/>
                <a:cs typeface="Times New Roman"/>
              </a:rPr>
              <a:t>This curation step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 central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 index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quality,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even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small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amounts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template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noise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can </a:t>
            </a:r>
            <a:r>
              <a:rPr sz="1700" dirty="0">
                <a:latin typeface="Times New Roman"/>
                <a:cs typeface="Times New Roman"/>
              </a:rPr>
              <a:t>depress</a:t>
            </a:r>
            <a:r>
              <a:rPr sz="1700" spc="21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precision</a:t>
            </a:r>
            <a:r>
              <a:rPr sz="1700" spc="21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21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TF–IDF</a:t>
            </a:r>
            <a:r>
              <a:rPr sz="1700" spc="215" dirty="0">
                <a:latin typeface="Times New Roman"/>
                <a:cs typeface="Times New Roman"/>
              </a:rPr>
              <a:t>   </a:t>
            </a:r>
            <a:r>
              <a:rPr sz="1700" spc="-10" dirty="0">
                <a:latin typeface="Times New Roman"/>
                <a:cs typeface="Times New Roman"/>
              </a:rPr>
              <a:t>spaces </a:t>
            </a:r>
            <a:r>
              <a:rPr sz="1700" dirty="0">
                <a:latin typeface="Times New Roman"/>
                <a:cs typeface="Times New Roman"/>
              </a:rPr>
              <a:t>(Highwire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Press,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2011;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Loper,</a:t>
            </a:r>
            <a:r>
              <a:rPr sz="1700" spc="-10" dirty="0">
                <a:latin typeface="Times New Roman"/>
                <a:cs typeface="Times New Roman"/>
              </a:rPr>
              <a:t> 2015).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439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10"/>
              </a:spcBef>
            </a:pPr>
            <a:r>
              <a:rPr sz="4050" spc="-160" dirty="0">
                <a:solidFill>
                  <a:srgbClr val="3C0DFC"/>
                </a:solidFill>
              </a:rPr>
              <a:t>Software</a:t>
            </a:r>
            <a:r>
              <a:rPr sz="4050" spc="-200" dirty="0">
                <a:solidFill>
                  <a:srgbClr val="3C0DFC"/>
                </a:solidFill>
              </a:rPr>
              <a:t> </a:t>
            </a:r>
            <a:r>
              <a:rPr sz="4050" spc="-190" dirty="0">
                <a:solidFill>
                  <a:srgbClr val="3C0DFC"/>
                </a:solidFill>
              </a:rPr>
              <a:t>Stack</a:t>
            </a:r>
            <a:r>
              <a:rPr sz="4050" spc="-200" dirty="0">
                <a:solidFill>
                  <a:srgbClr val="3C0DFC"/>
                </a:solidFill>
              </a:rPr>
              <a:t> </a:t>
            </a:r>
            <a:r>
              <a:rPr sz="4050" spc="-150" dirty="0">
                <a:solidFill>
                  <a:srgbClr val="3C0DFC"/>
                </a:solidFill>
              </a:rPr>
              <a:t>(Continued)</a:t>
            </a:r>
            <a:endParaRPr sz="4050"/>
          </a:p>
        </p:txBody>
      </p:sp>
      <p:grpSp>
        <p:nvGrpSpPr>
          <p:cNvPr id="4" name="object 4"/>
          <p:cNvGrpSpPr/>
          <p:nvPr/>
        </p:nvGrpSpPr>
        <p:grpSpPr>
          <a:xfrm>
            <a:off x="650676" y="1575434"/>
            <a:ext cx="4323715" cy="6036945"/>
            <a:chOff x="650676" y="1575434"/>
            <a:chExt cx="4323715" cy="6036945"/>
          </a:xfrm>
        </p:grpSpPr>
        <p:sp>
          <p:nvSpPr>
            <p:cNvPr id="5" name="object 5"/>
            <p:cNvSpPr/>
            <p:nvPr/>
          </p:nvSpPr>
          <p:spPr>
            <a:xfrm>
              <a:off x="654486" y="1579244"/>
              <a:ext cx="4316095" cy="6029325"/>
            </a:xfrm>
            <a:custGeom>
              <a:avLst/>
              <a:gdLst/>
              <a:ahLst/>
              <a:cxnLst/>
              <a:rect l="l" t="t" r="r" b="b"/>
              <a:pathLst>
                <a:path w="4316095" h="6029325">
                  <a:moveTo>
                    <a:pt x="4237230" y="6029325"/>
                  </a:moveTo>
                  <a:lnTo>
                    <a:pt x="78547" y="6029325"/>
                  </a:lnTo>
                  <a:lnTo>
                    <a:pt x="70809" y="6028951"/>
                  </a:lnTo>
                  <a:lnTo>
                    <a:pt x="34900" y="6016099"/>
                  </a:lnTo>
                  <a:lnTo>
                    <a:pt x="9285" y="5987841"/>
                  </a:lnTo>
                  <a:lnTo>
                    <a:pt x="0" y="5950778"/>
                  </a:lnTo>
                  <a:lnTo>
                    <a:pt x="0" y="78547"/>
                  </a:lnTo>
                  <a:lnTo>
                    <a:pt x="9285" y="41482"/>
                  </a:lnTo>
                  <a:lnTo>
                    <a:pt x="34900" y="13225"/>
                  </a:lnTo>
                  <a:lnTo>
                    <a:pt x="70809" y="373"/>
                  </a:lnTo>
                  <a:lnTo>
                    <a:pt x="78547" y="0"/>
                  </a:lnTo>
                  <a:lnTo>
                    <a:pt x="4237230" y="0"/>
                  </a:lnTo>
                  <a:lnTo>
                    <a:pt x="4274294" y="9285"/>
                  </a:lnTo>
                  <a:lnTo>
                    <a:pt x="4302552" y="34900"/>
                  </a:lnTo>
                  <a:lnTo>
                    <a:pt x="4315404" y="70809"/>
                  </a:lnTo>
                  <a:lnTo>
                    <a:pt x="4315778" y="78547"/>
                  </a:lnTo>
                  <a:lnTo>
                    <a:pt x="4315778" y="5950778"/>
                  </a:lnTo>
                  <a:lnTo>
                    <a:pt x="4306492" y="5987841"/>
                  </a:lnTo>
                  <a:lnTo>
                    <a:pt x="4280876" y="6016099"/>
                  </a:lnTo>
                  <a:lnTo>
                    <a:pt x="4244968" y="6028951"/>
                  </a:lnTo>
                  <a:lnTo>
                    <a:pt x="4237230" y="6029325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486" y="1579244"/>
              <a:ext cx="4316095" cy="6029325"/>
            </a:xfrm>
            <a:custGeom>
              <a:avLst/>
              <a:gdLst/>
              <a:ahLst/>
              <a:cxnLst/>
              <a:rect l="l" t="t" r="r" b="b"/>
              <a:pathLst>
                <a:path w="4316095" h="6029325">
                  <a:moveTo>
                    <a:pt x="0" y="78547"/>
                  </a:moveTo>
                  <a:lnTo>
                    <a:pt x="9285" y="41482"/>
                  </a:lnTo>
                  <a:lnTo>
                    <a:pt x="34900" y="13225"/>
                  </a:lnTo>
                  <a:lnTo>
                    <a:pt x="70809" y="373"/>
                  </a:lnTo>
                  <a:lnTo>
                    <a:pt x="78547" y="0"/>
                  </a:lnTo>
                  <a:lnTo>
                    <a:pt x="4237230" y="0"/>
                  </a:lnTo>
                  <a:lnTo>
                    <a:pt x="4274294" y="9285"/>
                  </a:lnTo>
                  <a:lnTo>
                    <a:pt x="4302552" y="34900"/>
                  </a:lnTo>
                  <a:lnTo>
                    <a:pt x="4315404" y="70809"/>
                  </a:lnTo>
                  <a:lnTo>
                    <a:pt x="4315778" y="78547"/>
                  </a:lnTo>
                  <a:lnTo>
                    <a:pt x="4315778" y="5950778"/>
                  </a:lnTo>
                  <a:lnTo>
                    <a:pt x="4306492" y="5987841"/>
                  </a:lnTo>
                  <a:lnTo>
                    <a:pt x="4280876" y="6016099"/>
                  </a:lnTo>
                  <a:lnTo>
                    <a:pt x="4244968" y="6028951"/>
                  </a:lnTo>
                  <a:lnTo>
                    <a:pt x="4237230" y="6029325"/>
                  </a:lnTo>
                  <a:lnTo>
                    <a:pt x="78547" y="6029325"/>
                  </a:lnTo>
                  <a:lnTo>
                    <a:pt x="41482" y="6020039"/>
                  </a:lnTo>
                  <a:lnTo>
                    <a:pt x="13225" y="5994424"/>
                  </a:lnTo>
                  <a:lnTo>
                    <a:pt x="373" y="5958515"/>
                  </a:lnTo>
                  <a:lnTo>
                    <a:pt x="0" y="5950778"/>
                  </a:lnTo>
                  <a:lnTo>
                    <a:pt x="0" y="78547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034" y="1773793"/>
              <a:ext cx="561340" cy="561340"/>
            </a:xfrm>
            <a:custGeom>
              <a:avLst/>
              <a:gdLst/>
              <a:ahLst/>
              <a:cxnLst/>
              <a:rect l="l" t="t" r="r" b="b"/>
              <a:pathLst>
                <a:path w="561340" h="561339">
                  <a:moveTo>
                    <a:pt x="280511" y="561023"/>
                  </a:moveTo>
                  <a:lnTo>
                    <a:pt x="239368" y="557991"/>
                  </a:lnTo>
                  <a:lnTo>
                    <a:pt x="199082" y="548947"/>
                  </a:lnTo>
                  <a:lnTo>
                    <a:pt x="160561" y="534085"/>
                  </a:lnTo>
                  <a:lnTo>
                    <a:pt x="124667" y="513748"/>
                  </a:lnTo>
                  <a:lnTo>
                    <a:pt x="92142" y="488369"/>
                  </a:lnTo>
                  <a:lnTo>
                    <a:pt x="63670" y="458468"/>
                  </a:lnTo>
                  <a:lnTo>
                    <a:pt x="39898" y="424709"/>
                  </a:lnTo>
                  <a:lnTo>
                    <a:pt x="21352" y="387858"/>
                  </a:lnTo>
                  <a:lnTo>
                    <a:pt x="8408" y="348686"/>
                  </a:lnTo>
                  <a:lnTo>
                    <a:pt x="1347" y="308006"/>
                  </a:lnTo>
                  <a:lnTo>
                    <a:pt x="0" y="280511"/>
                  </a:lnTo>
                  <a:lnTo>
                    <a:pt x="336" y="266730"/>
                  </a:lnTo>
                  <a:lnTo>
                    <a:pt x="5389" y="225786"/>
                  </a:lnTo>
                  <a:lnTo>
                    <a:pt x="16390" y="186025"/>
                  </a:lnTo>
                  <a:lnTo>
                    <a:pt x="33119" y="148277"/>
                  </a:lnTo>
                  <a:lnTo>
                    <a:pt x="55211" y="113396"/>
                  </a:lnTo>
                  <a:lnTo>
                    <a:pt x="82159" y="82159"/>
                  </a:lnTo>
                  <a:lnTo>
                    <a:pt x="113396" y="55211"/>
                  </a:lnTo>
                  <a:lnTo>
                    <a:pt x="148277" y="33119"/>
                  </a:lnTo>
                  <a:lnTo>
                    <a:pt x="186025" y="16390"/>
                  </a:lnTo>
                  <a:lnTo>
                    <a:pt x="225786" y="5389"/>
                  </a:lnTo>
                  <a:lnTo>
                    <a:pt x="266730" y="336"/>
                  </a:lnTo>
                  <a:lnTo>
                    <a:pt x="280511" y="0"/>
                  </a:lnTo>
                  <a:lnTo>
                    <a:pt x="294292" y="336"/>
                  </a:lnTo>
                  <a:lnTo>
                    <a:pt x="335236" y="5389"/>
                  </a:lnTo>
                  <a:lnTo>
                    <a:pt x="374997" y="16390"/>
                  </a:lnTo>
                  <a:lnTo>
                    <a:pt x="412745" y="33119"/>
                  </a:lnTo>
                  <a:lnTo>
                    <a:pt x="447626" y="55211"/>
                  </a:lnTo>
                  <a:lnTo>
                    <a:pt x="478863" y="82159"/>
                  </a:lnTo>
                  <a:lnTo>
                    <a:pt x="505811" y="113396"/>
                  </a:lnTo>
                  <a:lnTo>
                    <a:pt x="527903" y="148277"/>
                  </a:lnTo>
                  <a:lnTo>
                    <a:pt x="544632" y="186025"/>
                  </a:lnTo>
                  <a:lnTo>
                    <a:pt x="555633" y="225786"/>
                  </a:lnTo>
                  <a:lnTo>
                    <a:pt x="560686" y="266730"/>
                  </a:lnTo>
                  <a:lnTo>
                    <a:pt x="561023" y="280511"/>
                  </a:lnTo>
                  <a:lnTo>
                    <a:pt x="560686" y="294292"/>
                  </a:lnTo>
                  <a:lnTo>
                    <a:pt x="555633" y="335236"/>
                  </a:lnTo>
                  <a:lnTo>
                    <a:pt x="544632" y="374997"/>
                  </a:lnTo>
                  <a:lnTo>
                    <a:pt x="527903" y="412745"/>
                  </a:lnTo>
                  <a:lnTo>
                    <a:pt x="505811" y="447626"/>
                  </a:lnTo>
                  <a:lnTo>
                    <a:pt x="478863" y="478863"/>
                  </a:lnTo>
                  <a:lnTo>
                    <a:pt x="447626" y="505811"/>
                  </a:lnTo>
                  <a:lnTo>
                    <a:pt x="412745" y="527903"/>
                  </a:lnTo>
                  <a:lnTo>
                    <a:pt x="374997" y="544632"/>
                  </a:lnTo>
                  <a:lnTo>
                    <a:pt x="335236" y="555633"/>
                  </a:lnTo>
                  <a:lnTo>
                    <a:pt x="294292" y="560686"/>
                  </a:lnTo>
                  <a:lnTo>
                    <a:pt x="280511" y="561023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340" y="1896547"/>
              <a:ext cx="252412" cy="31551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36334" y="2486677"/>
            <a:ext cx="2734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006FC0"/>
                </a:solidFill>
                <a:latin typeface="Arial MT"/>
                <a:cs typeface="Arial MT"/>
              </a:rPr>
              <a:t>Vectorisation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Arial MT"/>
                <a:cs typeface="Arial MT"/>
              </a:rPr>
              <a:t>Ranking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334" y="2880533"/>
            <a:ext cx="3952240" cy="2745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  <a:tabLst>
                <a:tab pos="1229995" algn="l"/>
                <a:tab pos="3136265" algn="l"/>
              </a:tabLst>
            </a:pPr>
            <a:r>
              <a:rPr sz="1700" dirty="0">
                <a:latin typeface="Times New Roman"/>
                <a:cs typeface="Times New Roman"/>
              </a:rPr>
              <a:t>TF–IDF</a:t>
            </a:r>
            <a:r>
              <a:rPr sz="1700" spc="16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weighting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16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implemented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using </a:t>
            </a:r>
            <a:r>
              <a:rPr sz="1700" dirty="0">
                <a:latin typeface="Times New Roman"/>
                <a:cs typeface="Times New Roman"/>
              </a:rPr>
              <a:t>widely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adopted</a:t>
            </a:r>
            <a:r>
              <a:rPr sz="1700" spc="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tooling</a:t>
            </a:r>
            <a:r>
              <a:rPr sz="1700" spc="8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9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deterministic </a:t>
            </a:r>
            <a:r>
              <a:rPr sz="1700" dirty="0">
                <a:latin typeface="Times New Roman"/>
                <a:cs typeface="Times New Roman"/>
              </a:rPr>
              <a:t>behaviour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stable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interfaces.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Adjustable 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grams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disciplined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stop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lists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suit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short texts.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Scikit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learn’s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reference </a:t>
            </a:r>
            <a:r>
              <a:rPr sz="1700" dirty="0">
                <a:latin typeface="Times New Roman"/>
                <a:cs typeface="Times New Roman"/>
              </a:rPr>
              <a:t>implementation</a:t>
            </a:r>
            <a:r>
              <a:rPr sz="1700" spc="2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(Pedregosa</a:t>
            </a:r>
            <a:r>
              <a:rPr sz="1700" spc="2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et</a:t>
            </a:r>
            <a:r>
              <a:rPr sz="1700" spc="2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al.,</a:t>
            </a:r>
            <a:r>
              <a:rPr sz="1700" spc="24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2011) </a:t>
            </a:r>
            <a:r>
              <a:rPr sz="1700" dirty="0">
                <a:latin typeface="Times New Roman"/>
                <a:cs typeface="Times New Roman"/>
              </a:rPr>
              <a:t>suffices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baseline;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larger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corpora,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6334" y="5604819"/>
            <a:ext cx="3952240" cy="11874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65"/>
              </a:spcBef>
            </a:pPr>
            <a:r>
              <a:rPr sz="1700" dirty="0">
                <a:latin typeface="Times New Roman"/>
                <a:cs typeface="Times New Roman"/>
              </a:rPr>
              <a:t>sparse</a:t>
            </a:r>
            <a:r>
              <a:rPr sz="1700" spc="3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linear</a:t>
            </a:r>
            <a:r>
              <a:rPr sz="1700" spc="3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algebra</a:t>
            </a:r>
            <a:r>
              <a:rPr sz="1700" spc="3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backend</a:t>
            </a:r>
            <a:r>
              <a:rPr sz="1700" spc="39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390" dirty="0">
                <a:latin typeface="Times New Roman"/>
                <a:cs typeface="Times New Roman"/>
              </a:rPr>
              <a:t>  </a:t>
            </a:r>
            <a:r>
              <a:rPr sz="1700" spc="-25" dirty="0">
                <a:latin typeface="Times New Roman"/>
                <a:cs typeface="Times New Roman"/>
              </a:rPr>
              <a:t>be </a:t>
            </a:r>
            <a:r>
              <a:rPr sz="1700" dirty="0">
                <a:latin typeface="Times New Roman"/>
                <a:cs typeface="Times New Roman"/>
              </a:rPr>
              <a:t>swapped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without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changing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user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facing semantics.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53382" y="1575434"/>
            <a:ext cx="4323715" cy="6036945"/>
            <a:chOff x="5153382" y="1575434"/>
            <a:chExt cx="4323715" cy="6036945"/>
          </a:xfrm>
        </p:grpSpPr>
        <p:sp>
          <p:nvSpPr>
            <p:cNvPr id="13" name="object 13"/>
            <p:cNvSpPr/>
            <p:nvPr/>
          </p:nvSpPr>
          <p:spPr>
            <a:xfrm>
              <a:off x="5157192" y="1579244"/>
              <a:ext cx="4316095" cy="6029325"/>
            </a:xfrm>
            <a:custGeom>
              <a:avLst/>
              <a:gdLst/>
              <a:ahLst/>
              <a:cxnLst/>
              <a:rect l="l" t="t" r="r" b="b"/>
              <a:pathLst>
                <a:path w="4316095" h="6029325">
                  <a:moveTo>
                    <a:pt x="4237347" y="6029325"/>
                  </a:moveTo>
                  <a:lnTo>
                    <a:pt x="78549" y="6029325"/>
                  </a:lnTo>
                  <a:lnTo>
                    <a:pt x="70811" y="6028951"/>
                  </a:lnTo>
                  <a:lnTo>
                    <a:pt x="34901" y="6016098"/>
                  </a:lnTo>
                  <a:lnTo>
                    <a:pt x="9285" y="5987839"/>
                  </a:lnTo>
                  <a:lnTo>
                    <a:pt x="0" y="5950775"/>
                  </a:lnTo>
                  <a:lnTo>
                    <a:pt x="0" y="78549"/>
                  </a:lnTo>
                  <a:lnTo>
                    <a:pt x="9285" y="41483"/>
                  </a:lnTo>
                  <a:lnTo>
                    <a:pt x="34901" y="13225"/>
                  </a:lnTo>
                  <a:lnTo>
                    <a:pt x="70811" y="373"/>
                  </a:lnTo>
                  <a:lnTo>
                    <a:pt x="78549" y="0"/>
                  </a:lnTo>
                  <a:lnTo>
                    <a:pt x="4237347" y="0"/>
                  </a:lnTo>
                  <a:lnTo>
                    <a:pt x="4274412" y="9285"/>
                  </a:lnTo>
                  <a:lnTo>
                    <a:pt x="4302670" y="34901"/>
                  </a:lnTo>
                  <a:lnTo>
                    <a:pt x="4315523" y="70811"/>
                  </a:lnTo>
                  <a:lnTo>
                    <a:pt x="4315897" y="78549"/>
                  </a:lnTo>
                  <a:lnTo>
                    <a:pt x="4315897" y="5950775"/>
                  </a:lnTo>
                  <a:lnTo>
                    <a:pt x="4306610" y="5987840"/>
                  </a:lnTo>
                  <a:lnTo>
                    <a:pt x="4280995" y="6016098"/>
                  </a:lnTo>
                  <a:lnTo>
                    <a:pt x="4245085" y="6028951"/>
                  </a:lnTo>
                  <a:lnTo>
                    <a:pt x="4237347" y="6029325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7192" y="1579244"/>
              <a:ext cx="4316095" cy="6029325"/>
            </a:xfrm>
            <a:custGeom>
              <a:avLst/>
              <a:gdLst/>
              <a:ahLst/>
              <a:cxnLst/>
              <a:rect l="l" t="t" r="r" b="b"/>
              <a:pathLst>
                <a:path w="4316095" h="6029325">
                  <a:moveTo>
                    <a:pt x="0" y="78549"/>
                  </a:moveTo>
                  <a:lnTo>
                    <a:pt x="9285" y="41483"/>
                  </a:lnTo>
                  <a:lnTo>
                    <a:pt x="34901" y="13225"/>
                  </a:lnTo>
                  <a:lnTo>
                    <a:pt x="70811" y="373"/>
                  </a:lnTo>
                  <a:lnTo>
                    <a:pt x="78549" y="0"/>
                  </a:lnTo>
                  <a:lnTo>
                    <a:pt x="4237347" y="0"/>
                  </a:lnTo>
                  <a:lnTo>
                    <a:pt x="4274412" y="9285"/>
                  </a:lnTo>
                  <a:lnTo>
                    <a:pt x="4302670" y="34901"/>
                  </a:lnTo>
                  <a:lnTo>
                    <a:pt x="4315523" y="70811"/>
                  </a:lnTo>
                  <a:lnTo>
                    <a:pt x="4315897" y="78549"/>
                  </a:lnTo>
                  <a:lnTo>
                    <a:pt x="4315897" y="5950775"/>
                  </a:lnTo>
                  <a:lnTo>
                    <a:pt x="4306610" y="5987840"/>
                  </a:lnTo>
                  <a:lnTo>
                    <a:pt x="4280995" y="6016098"/>
                  </a:lnTo>
                  <a:lnTo>
                    <a:pt x="4245085" y="6028951"/>
                  </a:lnTo>
                  <a:lnTo>
                    <a:pt x="4237347" y="6029325"/>
                  </a:lnTo>
                  <a:lnTo>
                    <a:pt x="78549" y="6029325"/>
                  </a:lnTo>
                  <a:lnTo>
                    <a:pt x="41483" y="6020038"/>
                  </a:lnTo>
                  <a:lnTo>
                    <a:pt x="13225" y="5994422"/>
                  </a:lnTo>
                  <a:lnTo>
                    <a:pt x="373" y="5958512"/>
                  </a:lnTo>
                  <a:lnTo>
                    <a:pt x="0" y="5950775"/>
                  </a:lnTo>
                  <a:lnTo>
                    <a:pt x="0" y="78549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51740" y="1773793"/>
              <a:ext cx="561340" cy="561340"/>
            </a:xfrm>
            <a:custGeom>
              <a:avLst/>
              <a:gdLst/>
              <a:ahLst/>
              <a:cxnLst/>
              <a:rect l="l" t="t" r="r" b="b"/>
              <a:pathLst>
                <a:path w="561339" h="561339">
                  <a:moveTo>
                    <a:pt x="280511" y="561023"/>
                  </a:moveTo>
                  <a:lnTo>
                    <a:pt x="239368" y="557991"/>
                  </a:lnTo>
                  <a:lnTo>
                    <a:pt x="199082" y="548947"/>
                  </a:lnTo>
                  <a:lnTo>
                    <a:pt x="160561" y="534085"/>
                  </a:lnTo>
                  <a:lnTo>
                    <a:pt x="124667" y="513748"/>
                  </a:lnTo>
                  <a:lnTo>
                    <a:pt x="92142" y="488369"/>
                  </a:lnTo>
                  <a:lnTo>
                    <a:pt x="63670" y="458468"/>
                  </a:lnTo>
                  <a:lnTo>
                    <a:pt x="39898" y="424709"/>
                  </a:lnTo>
                  <a:lnTo>
                    <a:pt x="21352" y="387858"/>
                  </a:lnTo>
                  <a:lnTo>
                    <a:pt x="8408" y="348686"/>
                  </a:lnTo>
                  <a:lnTo>
                    <a:pt x="1347" y="308006"/>
                  </a:lnTo>
                  <a:lnTo>
                    <a:pt x="0" y="280511"/>
                  </a:lnTo>
                  <a:lnTo>
                    <a:pt x="336" y="266730"/>
                  </a:lnTo>
                  <a:lnTo>
                    <a:pt x="5389" y="225786"/>
                  </a:lnTo>
                  <a:lnTo>
                    <a:pt x="16390" y="186025"/>
                  </a:lnTo>
                  <a:lnTo>
                    <a:pt x="33119" y="148277"/>
                  </a:lnTo>
                  <a:lnTo>
                    <a:pt x="55211" y="113396"/>
                  </a:lnTo>
                  <a:lnTo>
                    <a:pt x="82159" y="82159"/>
                  </a:lnTo>
                  <a:lnTo>
                    <a:pt x="113396" y="55211"/>
                  </a:lnTo>
                  <a:lnTo>
                    <a:pt x="148277" y="33119"/>
                  </a:lnTo>
                  <a:lnTo>
                    <a:pt x="186025" y="16390"/>
                  </a:lnTo>
                  <a:lnTo>
                    <a:pt x="225786" y="5389"/>
                  </a:lnTo>
                  <a:lnTo>
                    <a:pt x="266730" y="336"/>
                  </a:lnTo>
                  <a:lnTo>
                    <a:pt x="280511" y="0"/>
                  </a:lnTo>
                  <a:lnTo>
                    <a:pt x="294292" y="336"/>
                  </a:lnTo>
                  <a:lnTo>
                    <a:pt x="335236" y="5389"/>
                  </a:lnTo>
                  <a:lnTo>
                    <a:pt x="374997" y="16390"/>
                  </a:lnTo>
                  <a:lnTo>
                    <a:pt x="412745" y="33119"/>
                  </a:lnTo>
                  <a:lnTo>
                    <a:pt x="447626" y="55211"/>
                  </a:lnTo>
                  <a:lnTo>
                    <a:pt x="478863" y="82159"/>
                  </a:lnTo>
                  <a:lnTo>
                    <a:pt x="505811" y="113396"/>
                  </a:lnTo>
                  <a:lnTo>
                    <a:pt x="527903" y="148277"/>
                  </a:lnTo>
                  <a:lnTo>
                    <a:pt x="544632" y="186025"/>
                  </a:lnTo>
                  <a:lnTo>
                    <a:pt x="555633" y="225786"/>
                  </a:lnTo>
                  <a:lnTo>
                    <a:pt x="560686" y="266730"/>
                  </a:lnTo>
                  <a:lnTo>
                    <a:pt x="561023" y="280511"/>
                  </a:lnTo>
                  <a:lnTo>
                    <a:pt x="560686" y="294292"/>
                  </a:lnTo>
                  <a:lnTo>
                    <a:pt x="555633" y="335236"/>
                  </a:lnTo>
                  <a:lnTo>
                    <a:pt x="544632" y="374997"/>
                  </a:lnTo>
                  <a:lnTo>
                    <a:pt x="527903" y="412745"/>
                  </a:lnTo>
                  <a:lnTo>
                    <a:pt x="505811" y="447626"/>
                  </a:lnTo>
                  <a:lnTo>
                    <a:pt x="478863" y="478863"/>
                  </a:lnTo>
                  <a:lnTo>
                    <a:pt x="447626" y="505811"/>
                  </a:lnTo>
                  <a:lnTo>
                    <a:pt x="412745" y="527903"/>
                  </a:lnTo>
                  <a:lnTo>
                    <a:pt x="374997" y="544632"/>
                  </a:lnTo>
                  <a:lnTo>
                    <a:pt x="335236" y="555633"/>
                  </a:lnTo>
                  <a:lnTo>
                    <a:pt x="294292" y="560686"/>
                  </a:lnTo>
                  <a:lnTo>
                    <a:pt x="280511" y="561023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6044" y="1896547"/>
              <a:ext cx="252412" cy="31551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39040" y="2486677"/>
            <a:ext cx="3952240" cy="469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spc="-145" dirty="0">
                <a:solidFill>
                  <a:srgbClr val="006FC0"/>
                </a:solidFill>
                <a:latin typeface="Arial MT"/>
                <a:cs typeface="Arial MT"/>
              </a:rPr>
              <a:t>Graph</a:t>
            </a:r>
            <a:r>
              <a:rPr sz="2000" spc="-11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Arial MT"/>
                <a:cs typeface="Arial MT"/>
              </a:rPr>
              <a:t>Features</a:t>
            </a:r>
            <a:endParaRPr sz="2000">
              <a:latin typeface="Arial MT"/>
              <a:cs typeface="Arial MT"/>
            </a:endParaRPr>
          </a:p>
          <a:p>
            <a:pPr marL="12700" marR="5080" algn="just">
              <a:lnSpc>
                <a:spcPct val="150200"/>
              </a:lnSpc>
              <a:spcBef>
                <a:spcPts val="665"/>
              </a:spcBef>
            </a:pP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0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pruned</a:t>
            </a:r>
            <a:r>
              <a:rPr sz="1700" spc="20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top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04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results,</a:t>
            </a:r>
            <a:r>
              <a:rPr sz="1700" spc="200" dirty="0">
                <a:latin typeface="Times New Roman"/>
                <a:cs typeface="Times New Roman"/>
              </a:rPr>
              <a:t>   </a:t>
            </a:r>
            <a:r>
              <a:rPr sz="1700" spc="-10" dirty="0">
                <a:latin typeface="Times New Roman"/>
                <a:cs typeface="Times New Roman"/>
              </a:rPr>
              <a:t>lightweight </a:t>
            </a:r>
            <a:r>
              <a:rPr sz="1700" dirty="0">
                <a:latin typeface="Times New Roman"/>
                <a:cs typeface="Times New Roman"/>
              </a:rPr>
              <a:t>centrality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metrics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(degree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betweenness)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31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order</a:t>
            </a:r>
            <a:r>
              <a:rPr sz="1700" spc="32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items</a:t>
            </a:r>
            <a:r>
              <a:rPr sz="1700" spc="32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31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co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authorship </a:t>
            </a:r>
            <a:r>
              <a:rPr sz="1700" dirty="0">
                <a:latin typeface="Times New Roman"/>
                <a:cs typeface="Times New Roman"/>
              </a:rPr>
              <a:t>networks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proxy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authority.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</a:t>
            </a:r>
            <a:r>
              <a:rPr sz="1700" spc="3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science </a:t>
            </a:r>
            <a:r>
              <a:rPr sz="1700" dirty="0">
                <a:latin typeface="Times New Roman"/>
                <a:cs typeface="Times New Roman"/>
              </a:rPr>
              <a:t>shows</a:t>
            </a:r>
            <a:r>
              <a:rPr sz="1700" spc="1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1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hubs</a:t>
            </a:r>
            <a:r>
              <a:rPr sz="1700" spc="1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bridges</a:t>
            </a:r>
            <a:r>
              <a:rPr sz="1700" spc="15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15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signal </a:t>
            </a:r>
            <a:r>
              <a:rPr sz="1700" dirty="0">
                <a:latin typeface="Times New Roman"/>
                <a:cs typeface="Times New Roman"/>
              </a:rPr>
              <a:t>influence</a:t>
            </a:r>
            <a:r>
              <a:rPr sz="1700" spc="12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3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knowledge</a:t>
            </a:r>
            <a:r>
              <a:rPr sz="1700" spc="12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flow</a:t>
            </a:r>
            <a:r>
              <a:rPr sz="1700" spc="13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(Newman, </a:t>
            </a:r>
            <a:r>
              <a:rPr sz="1700" dirty="0">
                <a:latin typeface="Times New Roman"/>
                <a:cs typeface="Times New Roman"/>
              </a:rPr>
              <a:t>2010).</a:t>
            </a:r>
            <a:r>
              <a:rPr sz="1700" spc="3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risk</a:t>
            </a:r>
            <a:r>
              <a:rPr sz="1700" spc="3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3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falsely</a:t>
            </a:r>
            <a:r>
              <a:rPr sz="1700" spc="3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boosting</a:t>
            </a:r>
            <a:r>
              <a:rPr sz="1700" spc="3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prolific </a:t>
            </a:r>
            <a:r>
              <a:rPr sz="1700" dirty="0">
                <a:latin typeface="Times New Roman"/>
                <a:cs typeface="Times New Roman"/>
              </a:rPr>
              <a:t>but</a:t>
            </a:r>
            <a:r>
              <a:rPr sz="1700" spc="3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quality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clusters;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AROAS</a:t>
            </a:r>
            <a:r>
              <a:rPr sz="1700" spc="3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therefore </a:t>
            </a:r>
            <a:r>
              <a:rPr sz="1700" dirty="0">
                <a:latin typeface="Times New Roman"/>
                <a:cs typeface="Times New Roman"/>
              </a:rPr>
              <a:t>caps</a:t>
            </a:r>
            <a:r>
              <a:rPr sz="1700" spc="2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contribution</a:t>
            </a:r>
            <a:r>
              <a:rPr sz="1700" spc="2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graph</a:t>
            </a:r>
            <a:r>
              <a:rPr sz="1700" spc="2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features</a:t>
            </a:r>
            <a:r>
              <a:rPr sz="1700" spc="29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dirty="0">
                <a:latin typeface="Times New Roman"/>
                <a:cs typeface="Times New Roman"/>
              </a:rPr>
              <a:t>retains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lexical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evidence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65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dominant signal.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656207" y="1575434"/>
            <a:ext cx="4323715" cy="6036945"/>
            <a:chOff x="9656207" y="1575434"/>
            <a:chExt cx="4323715" cy="6036945"/>
          </a:xfrm>
        </p:grpSpPr>
        <p:sp>
          <p:nvSpPr>
            <p:cNvPr id="19" name="object 19"/>
            <p:cNvSpPr/>
            <p:nvPr/>
          </p:nvSpPr>
          <p:spPr>
            <a:xfrm>
              <a:off x="9660017" y="1579244"/>
              <a:ext cx="4316095" cy="6029325"/>
            </a:xfrm>
            <a:custGeom>
              <a:avLst/>
              <a:gdLst/>
              <a:ahLst/>
              <a:cxnLst/>
              <a:rect l="l" t="t" r="r" b="b"/>
              <a:pathLst>
                <a:path w="4316094" h="6029325">
                  <a:moveTo>
                    <a:pt x="4237347" y="6029325"/>
                  </a:moveTo>
                  <a:lnTo>
                    <a:pt x="78549" y="6029325"/>
                  </a:lnTo>
                  <a:lnTo>
                    <a:pt x="70811" y="6028951"/>
                  </a:lnTo>
                  <a:lnTo>
                    <a:pt x="34901" y="6016098"/>
                  </a:lnTo>
                  <a:lnTo>
                    <a:pt x="9285" y="5987839"/>
                  </a:lnTo>
                  <a:lnTo>
                    <a:pt x="0" y="5950775"/>
                  </a:lnTo>
                  <a:lnTo>
                    <a:pt x="0" y="78549"/>
                  </a:lnTo>
                  <a:lnTo>
                    <a:pt x="9285" y="41483"/>
                  </a:lnTo>
                  <a:lnTo>
                    <a:pt x="34901" y="13225"/>
                  </a:lnTo>
                  <a:lnTo>
                    <a:pt x="70811" y="373"/>
                  </a:lnTo>
                  <a:lnTo>
                    <a:pt x="78549" y="0"/>
                  </a:lnTo>
                  <a:lnTo>
                    <a:pt x="4237347" y="0"/>
                  </a:lnTo>
                  <a:lnTo>
                    <a:pt x="4274412" y="9285"/>
                  </a:lnTo>
                  <a:lnTo>
                    <a:pt x="4302670" y="34901"/>
                  </a:lnTo>
                  <a:lnTo>
                    <a:pt x="4315523" y="70811"/>
                  </a:lnTo>
                  <a:lnTo>
                    <a:pt x="4315897" y="78549"/>
                  </a:lnTo>
                  <a:lnTo>
                    <a:pt x="4315897" y="5950775"/>
                  </a:lnTo>
                  <a:lnTo>
                    <a:pt x="4306610" y="5987840"/>
                  </a:lnTo>
                  <a:lnTo>
                    <a:pt x="4280995" y="6016098"/>
                  </a:lnTo>
                  <a:lnTo>
                    <a:pt x="4245085" y="6028951"/>
                  </a:lnTo>
                  <a:lnTo>
                    <a:pt x="4237347" y="6029325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60017" y="1579244"/>
              <a:ext cx="4316095" cy="6029325"/>
            </a:xfrm>
            <a:custGeom>
              <a:avLst/>
              <a:gdLst/>
              <a:ahLst/>
              <a:cxnLst/>
              <a:rect l="l" t="t" r="r" b="b"/>
              <a:pathLst>
                <a:path w="4316094" h="6029325">
                  <a:moveTo>
                    <a:pt x="0" y="78549"/>
                  </a:moveTo>
                  <a:lnTo>
                    <a:pt x="9285" y="41483"/>
                  </a:lnTo>
                  <a:lnTo>
                    <a:pt x="34901" y="13225"/>
                  </a:lnTo>
                  <a:lnTo>
                    <a:pt x="70811" y="373"/>
                  </a:lnTo>
                  <a:lnTo>
                    <a:pt x="78549" y="0"/>
                  </a:lnTo>
                  <a:lnTo>
                    <a:pt x="4237347" y="0"/>
                  </a:lnTo>
                  <a:lnTo>
                    <a:pt x="4274412" y="9285"/>
                  </a:lnTo>
                  <a:lnTo>
                    <a:pt x="4302670" y="34901"/>
                  </a:lnTo>
                  <a:lnTo>
                    <a:pt x="4315523" y="70811"/>
                  </a:lnTo>
                  <a:lnTo>
                    <a:pt x="4315897" y="78549"/>
                  </a:lnTo>
                  <a:lnTo>
                    <a:pt x="4315897" y="5950775"/>
                  </a:lnTo>
                  <a:lnTo>
                    <a:pt x="4306610" y="5987840"/>
                  </a:lnTo>
                  <a:lnTo>
                    <a:pt x="4280995" y="6016098"/>
                  </a:lnTo>
                  <a:lnTo>
                    <a:pt x="4245085" y="6028951"/>
                  </a:lnTo>
                  <a:lnTo>
                    <a:pt x="4237347" y="6029325"/>
                  </a:lnTo>
                  <a:lnTo>
                    <a:pt x="78549" y="6029325"/>
                  </a:lnTo>
                  <a:lnTo>
                    <a:pt x="41483" y="6020038"/>
                  </a:lnTo>
                  <a:lnTo>
                    <a:pt x="13225" y="5994422"/>
                  </a:lnTo>
                  <a:lnTo>
                    <a:pt x="373" y="5958512"/>
                  </a:lnTo>
                  <a:lnTo>
                    <a:pt x="0" y="5950775"/>
                  </a:lnTo>
                  <a:lnTo>
                    <a:pt x="0" y="78549"/>
                  </a:lnTo>
                  <a:close/>
                </a:path>
              </a:pathLst>
            </a:custGeom>
            <a:ln w="762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54565" y="1773793"/>
              <a:ext cx="561340" cy="561340"/>
            </a:xfrm>
            <a:custGeom>
              <a:avLst/>
              <a:gdLst/>
              <a:ahLst/>
              <a:cxnLst/>
              <a:rect l="l" t="t" r="r" b="b"/>
              <a:pathLst>
                <a:path w="561340" h="561339">
                  <a:moveTo>
                    <a:pt x="280511" y="561023"/>
                  </a:moveTo>
                  <a:lnTo>
                    <a:pt x="239368" y="557991"/>
                  </a:lnTo>
                  <a:lnTo>
                    <a:pt x="199082" y="548947"/>
                  </a:lnTo>
                  <a:lnTo>
                    <a:pt x="160561" y="534085"/>
                  </a:lnTo>
                  <a:lnTo>
                    <a:pt x="124667" y="513748"/>
                  </a:lnTo>
                  <a:lnTo>
                    <a:pt x="92142" y="488369"/>
                  </a:lnTo>
                  <a:lnTo>
                    <a:pt x="63670" y="458468"/>
                  </a:lnTo>
                  <a:lnTo>
                    <a:pt x="39898" y="424709"/>
                  </a:lnTo>
                  <a:lnTo>
                    <a:pt x="21352" y="387858"/>
                  </a:lnTo>
                  <a:lnTo>
                    <a:pt x="8408" y="348686"/>
                  </a:lnTo>
                  <a:lnTo>
                    <a:pt x="1347" y="308006"/>
                  </a:lnTo>
                  <a:lnTo>
                    <a:pt x="0" y="280511"/>
                  </a:lnTo>
                  <a:lnTo>
                    <a:pt x="336" y="266730"/>
                  </a:lnTo>
                  <a:lnTo>
                    <a:pt x="5389" y="225786"/>
                  </a:lnTo>
                  <a:lnTo>
                    <a:pt x="16390" y="186025"/>
                  </a:lnTo>
                  <a:lnTo>
                    <a:pt x="33119" y="148277"/>
                  </a:lnTo>
                  <a:lnTo>
                    <a:pt x="55211" y="113396"/>
                  </a:lnTo>
                  <a:lnTo>
                    <a:pt x="82159" y="82159"/>
                  </a:lnTo>
                  <a:lnTo>
                    <a:pt x="113396" y="55211"/>
                  </a:lnTo>
                  <a:lnTo>
                    <a:pt x="148277" y="33119"/>
                  </a:lnTo>
                  <a:lnTo>
                    <a:pt x="186025" y="16390"/>
                  </a:lnTo>
                  <a:lnTo>
                    <a:pt x="225786" y="5389"/>
                  </a:lnTo>
                  <a:lnTo>
                    <a:pt x="266730" y="336"/>
                  </a:lnTo>
                  <a:lnTo>
                    <a:pt x="280511" y="0"/>
                  </a:lnTo>
                  <a:lnTo>
                    <a:pt x="294292" y="336"/>
                  </a:lnTo>
                  <a:lnTo>
                    <a:pt x="335236" y="5389"/>
                  </a:lnTo>
                  <a:lnTo>
                    <a:pt x="374997" y="16390"/>
                  </a:lnTo>
                  <a:lnTo>
                    <a:pt x="412745" y="33119"/>
                  </a:lnTo>
                  <a:lnTo>
                    <a:pt x="447626" y="55211"/>
                  </a:lnTo>
                  <a:lnTo>
                    <a:pt x="478863" y="82159"/>
                  </a:lnTo>
                  <a:lnTo>
                    <a:pt x="505811" y="113396"/>
                  </a:lnTo>
                  <a:lnTo>
                    <a:pt x="527903" y="148277"/>
                  </a:lnTo>
                  <a:lnTo>
                    <a:pt x="544632" y="186025"/>
                  </a:lnTo>
                  <a:lnTo>
                    <a:pt x="555633" y="225786"/>
                  </a:lnTo>
                  <a:lnTo>
                    <a:pt x="560686" y="266730"/>
                  </a:lnTo>
                  <a:lnTo>
                    <a:pt x="561023" y="280511"/>
                  </a:lnTo>
                  <a:lnTo>
                    <a:pt x="560686" y="294292"/>
                  </a:lnTo>
                  <a:lnTo>
                    <a:pt x="555633" y="335236"/>
                  </a:lnTo>
                  <a:lnTo>
                    <a:pt x="544632" y="374997"/>
                  </a:lnTo>
                  <a:lnTo>
                    <a:pt x="527903" y="412745"/>
                  </a:lnTo>
                  <a:lnTo>
                    <a:pt x="505811" y="447626"/>
                  </a:lnTo>
                  <a:lnTo>
                    <a:pt x="478863" y="478863"/>
                  </a:lnTo>
                  <a:lnTo>
                    <a:pt x="447626" y="505811"/>
                  </a:lnTo>
                  <a:lnTo>
                    <a:pt x="412745" y="527903"/>
                  </a:lnTo>
                  <a:lnTo>
                    <a:pt x="374997" y="544632"/>
                  </a:lnTo>
                  <a:lnTo>
                    <a:pt x="335236" y="555633"/>
                  </a:lnTo>
                  <a:lnTo>
                    <a:pt x="294292" y="560686"/>
                  </a:lnTo>
                  <a:lnTo>
                    <a:pt x="280511" y="561023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8869" y="1896547"/>
              <a:ext cx="252413" cy="31551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841865" y="2486677"/>
            <a:ext cx="2693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006FC0"/>
                </a:solidFill>
                <a:latin typeface="Arial MT"/>
                <a:cs typeface="Arial MT"/>
              </a:rPr>
              <a:t>Persistence </a:t>
            </a:r>
            <a:r>
              <a:rPr sz="20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000" spc="-7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Arial MT"/>
                <a:cs typeface="Arial MT"/>
              </a:rPr>
              <a:t>Analytics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41865" y="2884383"/>
            <a:ext cx="395224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system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portability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(SQLite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in </a:t>
            </a:r>
            <a:r>
              <a:rPr sz="1500" dirty="0">
                <a:latin typeface="Times New Roman"/>
                <a:cs typeface="Times New Roman"/>
              </a:rPr>
              <a:t>development;</a:t>
            </a:r>
            <a:r>
              <a:rPr sz="1500" spc="2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PostgreSQL</a:t>
            </a:r>
            <a:r>
              <a:rPr sz="1500" spc="21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1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production).</a:t>
            </a:r>
            <a:r>
              <a:rPr sz="1500" spc="210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Times New Roman"/>
                <a:cs typeface="Times New Roman"/>
              </a:rPr>
              <a:t>For </a:t>
            </a:r>
            <a:r>
              <a:rPr sz="1500" dirty="0">
                <a:latin typeface="Times New Roman"/>
                <a:cs typeface="Times New Roman"/>
              </a:rPr>
              <a:t>analytics,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pipeline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writes</a:t>
            </a:r>
            <a:r>
              <a:rPr sz="1500" spc="1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Apache</a:t>
            </a:r>
            <a:r>
              <a:rPr sz="1500" spc="155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Parquet.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41865" y="3913083"/>
            <a:ext cx="3952240" cy="310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98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Columnar</a:t>
            </a:r>
            <a:r>
              <a:rPr sz="1500" spc="29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storage</a:t>
            </a:r>
            <a:r>
              <a:rPr sz="1500" spc="2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typically</a:t>
            </a:r>
            <a:r>
              <a:rPr sz="1500" spc="29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compresses</a:t>
            </a:r>
            <a:r>
              <a:rPr sz="1500" spc="295" dirty="0">
                <a:latin typeface="Times New Roman"/>
                <a:cs typeface="Times New Roman"/>
              </a:rPr>
              <a:t>  </a:t>
            </a:r>
            <a:r>
              <a:rPr sz="1500" spc="-20" dirty="0">
                <a:latin typeface="Times New Roman"/>
                <a:cs typeface="Times New Roman"/>
              </a:rPr>
              <a:t>more </a:t>
            </a:r>
            <a:r>
              <a:rPr sz="1500" dirty="0">
                <a:latin typeface="Times New Roman"/>
                <a:cs typeface="Times New Roman"/>
              </a:rPr>
              <a:t>effectively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than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CSV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scans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only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selected </a:t>
            </a:r>
            <a:r>
              <a:rPr sz="1500" dirty="0">
                <a:latin typeface="Times New Roman"/>
                <a:cs typeface="Times New Roman"/>
              </a:rPr>
              <a:t>columns,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which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many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reports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suggest </a:t>
            </a:r>
            <a:r>
              <a:rPr sz="1500" dirty="0">
                <a:latin typeface="Times New Roman"/>
                <a:cs typeface="Times New Roman"/>
              </a:rPr>
              <a:t>yields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2×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≥10×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faster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scans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OLAP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workloads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reduces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storage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2×–5×,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depending</a:t>
            </a:r>
            <a:r>
              <a:rPr sz="1500" spc="145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Times New Roman"/>
                <a:cs typeface="Times New Roman"/>
              </a:rPr>
              <a:t>on </a:t>
            </a:r>
            <a:r>
              <a:rPr sz="1500" dirty="0">
                <a:latin typeface="Times New Roman"/>
                <a:cs typeface="Times New Roman"/>
              </a:rPr>
              <a:t>cardinality</a:t>
            </a:r>
            <a:r>
              <a:rPr sz="1500" spc="21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1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compression</a:t>
            </a:r>
            <a:r>
              <a:rPr sz="1500" spc="21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(Apache</a:t>
            </a:r>
            <a:r>
              <a:rPr sz="1500" spc="215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Parquet, </a:t>
            </a:r>
            <a:r>
              <a:rPr sz="1500" dirty="0">
                <a:latin typeface="Times New Roman"/>
                <a:cs typeface="Times New Roman"/>
              </a:rPr>
              <a:t>2024;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AWS,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2024).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However,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AROAS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treats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these </a:t>
            </a:r>
            <a:r>
              <a:rPr sz="1500" dirty="0">
                <a:latin typeface="Times New Roman"/>
                <a:cs typeface="Times New Roman"/>
              </a:rPr>
              <a:t>figures</a:t>
            </a:r>
            <a:r>
              <a:rPr sz="1500" spc="43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4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hypotheses</a:t>
            </a:r>
            <a:r>
              <a:rPr sz="1500" spc="43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includes</a:t>
            </a:r>
            <a:r>
              <a:rPr sz="1500" spc="434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reproducible </a:t>
            </a:r>
            <a:r>
              <a:rPr sz="1500" dirty="0">
                <a:latin typeface="Times New Roman"/>
                <a:cs typeface="Times New Roman"/>
              </a:rPr>
              <a:t>benchmarks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avoid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vendor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driven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generalisation.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248" y="614091"/>
            <a:ext cx="896556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spc="-285" dirty="0">
                <a:solidFill>
                  <a:srgbClr val="3C0DFC"/>
                </a:solidFill>
              </a:rPr>
              <a:t>Governance,</a:t>
            </a:r>
            <a:r>
              <a:rPr sz="4500" spc="-220" dirty="0">
                <a:solidFill>
                  <a:srgbClr val="3C0DFC"/>
                </a:solidFill>
              </a:rPr>
              <a:t> </a:t>
            </a:r>
            <a:r>
              <a:rPr sz="4500" spc="-229" dirty="0">
                <a:solidFill>
                  <a:srgbClr val="3C0DFC"/>
                </a:solidFill>
              </a:rPr>
              <a:t>Compliance,</a:t>
            </a:r>
            <a:r>
              <a:rPr sz="4500" spc="-220" dirty="0">
                <a:solidFill>
                  <a:srgbClr val="3C0DFC"/>
                </a:solidFill>
              </a:rPr>
              <a:t> </a:t>
            </a:r>
            <a:r>
              <a:rPr sz="4500" spc="-275" dirty="0">
                <a:solidFill>
                  <a:srgbClr val="3C0DFC"/>
                </a:solidFill>
              </a:rPr>
              <a:t>and</a:t>
            </a:r>
            <a:r>
              <a:rPr sz="4500" spc="-220" dirty="0">
                <a:solidFill>
                  <a:srgbClr val="3C0DFC"/>
                </a:solidFill>
              </a:rPr>
              <a:t> </a:t>
            </a:r>
            <a:r>
              <a:rPr sz="4500" spc="-45" dirty="0">
                <a:solidFill>
                  <a:srgbClr val="3C0DFC"/>
                </a:solidFill>
              </a:rPr>
              <a:t>Integrity</a:t>
            </a:r>
            <a:endParaRPr sz="4500"/>
          </a:p>
        </p:txBody>
      </p:sp>
      <p:sp>
        <p:nvSpPr>
          <p:cNvPr id="4" name="object 4"/>
          <p:cNvSpPr/>
          <p:nvPr/>
        </p:nvSpPr>
        <p:spPr>
          <a:xfrm>
            <a:off x="722947" y="1748434"/>
            <a:ext cx="4257675" cy="619760"/>
          </a:xfrm>
          <a:custGeom>
            <a:avLst/>
            <a:gdLst/>
            <a:ahLst/>
            <a:cxnLst/>
            <a:rect l="l" t="t" r="r" b="b"/>
            <a:pathLst>
              <a:path w="4257675" h="619760">
                <a:moveTo>
                  <a:pt x="4257078" y="332663"/>
                </a:moveTo>
                <a:lnTo>
                  <a:pt x="4236644" y="294474"/>
                </a:lnTo>
                <a:lnTo>
                  <a:pt x="4211358" y="286943"/>
                </a:lnTo>
                <a:lnTo>
                  <a:pt x="2437396" y="286943"/>
                </a:lnTo>
                <a:lnTo>
                  <a:pt x="2436850" y="279488"/>
                </a:lnTo>
                <a:lnTo>
                  <a:pt x="2429040" y="234556"/>
                </a:lnTo>
                <a:lnTo>
                  <a:pt x="2414752" y="191287"/>
                </a:lnTo>
                <a:lnTo>
                  <a:pt x="2394254" y="150583"/>
                </a:lnTo>
                <a:lnTo>
                  <a:pt x="2368004" y="113284"/>
                </a:lnTo>
                <a:lnTo>
                  <a:pt x="2336546" y="80264"/>
                </a:lnTo>
                <a:lnTo>
                  <a:pt x="2300617" y="52222"/>
                </a:lnTo>
                <a:lnTo>
                  <a:pt x="2260968" y="29756"/>
                </a:lnTo>
                <a:lnTo>
                  <a:pt x="2218423" y="13347"/>
                </a:lnTo>
                <a:lnTo>
                  <a:pt x="2173922" y="3352"/>
                </a:lnTo>
                <a:lnTo>
                  <a:pt x="2128469" y="0"/>
                </a:lnTo>
                <a:lnTo>
                  <a:pt x="2113254" y="381"/>
                </a:lnTo>
                <a:lnTo>
                  <a:pt x="2068017" y="5956"/>
                </a:lnTo>
                <a:lnTo>
                  <a:pt x="2024100" y="18110"/>
                </a:lnTo>
                <a:lnTo>
                  <a:pt x="1982406" y="36588"/>
                </a:lnTo>
                <a:lnTo>
                  <a:pt x="1943874" y="60998"/>
                </a:lnTo>
                <a:lnTo>
                  <a:pt x="1909368" y="90766"/>
                </a:lnTo>
                <a:lnTo>
                  <a:pt x="1879600" y="125260"/>
                </a:lnTo>
                <a:lnTo>
                  <a:pt x="1855203" y="163791"/>
                </a:lnTo>
                <a:lnTo>
                  <a:pt x="1836724" y="205498"/>
                </a:lnTo>
                <a:lnTo>
                  <a:pt x="1824570" y="249415"/>
                </a:lnTo>
                <a:lnTo>
                  <a:pt x="1819541" y="286943"/>
                </a:lnTo>
                <a:lnTo>
                  <a:pt x="45720" y="286943"/>
                </a:lnTo>
                <a:lnTo>
                  <a:pt x="7531" y="307378"/>
                </a:lnTo>
                <a:lnTo>
                  <a:pt x="0" y="332663"/>
                </a:lnTo>
                <a:lnTo>
                  <a:pt x="825" y="341782"/>
                </a:lnTo>
                <a:lnTo>
                  <a:pt x="28168" y="375031"/>
                </a:lnTo>
                <a:lnTo>
                  <a:pt x="45720" y="378383"/>
                </a:lnTo>
                <a:lnTo>
                  <a:pt x="1826374" y="378383"/>
                </a:lnTo>
                <a:lnTo>
                  <a:pt x="1827898" y="385178"/>
                </a:lnTo>
                <a:lnTo>
                  <a:pt x="1842198" y="428447"/>
                </a:lnTo>
                <a:lnTo>
                  <a:pt x="1862683" y="469150"/>
                </a:lnTo>
                <a:lnTo>
                  <a:pt x="1888947" y="506437"/>
                </a:lnTo>
                <a:lnTo>
                  <a:pt x="1920392" y="539470"/>
                </a:lnTo>
                <a:lnTo>
                  <a:pt x="1956320" y="567499"/>
                </a:lnTo>
                <a:lnTo>
                  <a:pt x="1995970" y="589965"/>
                </a:lnTo>
                <a:lnTo>
                  <a:pt x="2038527" y="606386"/>
                </a:lnTo>
                <a:lnTo>
                  <a:pt x="2083028" y="616381"/>
                </a:lnTo>
                <a:lnTo>
                  <a:pt x="2128469" y="619721"/>
                </a:lnTo>
                <a:lnTo>
                  <a:pt x="2143696" y="619353"/>
                </a:lnTo>
                <a:lnTo>
                  <a:pt x="2188921" y="613765"/>
                </a:lnTo>
                <a:lnTo>
                  <a:pt x="2232850" y="601624"/>
                </a:lnTo>
                <a:lnTo>
                  <a:pt x="2274544" y="583145"/>
                </a:lnTo>
                <a:lnTo>
                  <a:pt x="2313076" y="558736"/>
                </a:lnTo>
                <a:lnTo>
                  <a:pt x="2347582" y="528967"/>
                </a:lnTo>
                <a:lnTo>
                  <a:pt x="2377351" y="494461"/>
                </a:lnTo>
                <a:lnTo>
                  <a:pt x="2401747" y="455930"/>
                </a:lnTo>
                <a:lnTo>
                  <a:pt x="2420226" y="414235"/>
                </a:lnTo>
                <a:lnTo>
                  <a:pt x="2430564" y="378383"/>
                </a:lnTo>
                <a:lnTo>
                  <a:pt x="4211358" y="378383"/>
                </a:lnTo>
                <a:lnTo>
                  <a:pt x="4249547" y="357949"/>
                </a:lnTo>
                <a:lnTo>
                  <a:pt x="4256240" y="341782"/>
                </a:lnTo>
                <a:lnTo>
                  <a:pt x="4257078" y="332663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4724" y="1927786"/>
            <a:ext cx="167640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681" y="2531450"/>
            <a:ext cx="3039110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05" dirty="0">
                <a:solidFill>
                  <a:srgbClr val="006FC0"/>
                </a:solidFill>
                <a:latin typeface="Arial MT"/>
                <a:cs typeface="Arial MT"/>
              </a:rPr>
              <a:t>Robots </a:t>
            </a:r>
            <a:r>
              <a:rPr sz="22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2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006FC0"/>
                </a:solidFill>
                <a:latin typeface="Arial MT"/>
                <a:cs typeface="Arial MT"/>
              </a:rPr>
              <a:t>Lawful</a:t>
            </a:r>
            <a:r>
              <a:rPr sz="22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Access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681" y="2973976"/>
            <a:ext cx="382397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crawler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enforces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robots.txt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policies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documented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major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engines; </a:t>
            </a:r>
            <a:r>
              <a:rPr sz="1800" dirty="0">
                <a:latin typeface="Times New Roman"/>
                <a:cs typeface="Times New Roman"/>
              </a:rPr>
              <a:t>although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robots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authorisation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9681" y="4212594"/>
            <a:ext cx="3823970" cy="29019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65"/>
              </a:spcBef>
            </a:pPr>
            <a:r>
              <a:rPr sz="1800" dirty="0">
                <a:latin typeface="Times New Roman"/>
                <a:cs typeface="Times New Roman"/>
              </a:rPr>
              <a:t>control,</a:t>
            </a:r>
            <a:r>
              <a:rPr sz="1800" spc="204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204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04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04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widely</a:t>
            </a:r>
            <a:r>
              <a:rPr sz="1800" spc="204" dirty="0">
                <a:latin typeface="Times New Roman"/>
                <a:cs typeface="Times New Roman"/>
              </a:rPr>
              <a:t>   </a:t>
            </a:r>
            <a:r>
              <a:rPr sz="1800" spc="-10" dirty="0">
                <a:latin typeface="Times New Roman"/>
                <a:cs typeface="Times New Roman"/>
              </a:rPr>
              <a:t>observed </a:t>
            </a:r>
            <a:r>
              <a:rPr sz="1800" dirty="0">
                <a:latin typeface="Times New Roman"/>
                <a:cs typeface="Times New Roman"/>
              </a:rPr>
              <a:t>convention.</a:t>
            </a:r>
            <a:r>
              <a:rPr sz="1800" spc="340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Per</a:t>
            </a:r>
            <a:r>
              <a:rPr sz="1800" dirty="0">
                <a:latin typeface="Microsoft Sans Serif"/>
                <a:cs typeface="Microsoft Sans Serif"/>
              </a:rPr>
              <a:t>‑</a:t>
            </a:r>
            <a:r>
              <a:rPr sz="1800" dirty="0">
                <a:latin typeface="Times New Roman"/>
                <a:cs typeface="Times New Roman"/>
              </a:rPr>
              <a:t>domain</a:t>
            </a:r>
            <a:r>
              <a:rPr sz="1800" spc="345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rules</a:t>
            </a:r>
            <a:r>
              <a:rPr sz="1800" spc="345" dirty="0">
                <a:latin typeface="Times New Roman"/>
                <a:cs typeface="Times New Roman"/>
              </a:rPr>
              <a:t>   </a:t>
            </a:r>
            <a:r>
              <a:rPr sz="1800" spc="-2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resolved,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cached,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logged,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supporting </a:t>
            </a:r>
            <a:r>
              <a:rPr sz="1800" dirty="0">
                <a:latin typeface="Times New Roman"/>
                <a:cs typeface="Times New Roman"/>
              </a:rPr>
              <a:t>audit.</a:t>
            </a:r>
            <a:r>
              <a:rPr sz="1800" spc="41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41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41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choice</a:t>
            </a:r>
            <a:r>
              <a:rPr sz="1800" spc="415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balances </a:t>
            </a:r>
            <a:r>
              <a:rPr sz="1800" dirty="0">
                <a:latin typeface="Times New Roman"/>
                <a:cs typeface="Times New Roman"/>
              </a:rPr>
              <a:t>coverage</a:t>
            </a:r>
            <a:r>
              <a:rPr sz="1800" spc="14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1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ethical</a:t>
            </a:r>
            <a:r>
              <a:rPr sz="1800" spc="15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expectations</a:t>
            </a:r>
            <a:r>
              <a:rPr sz="1800" spc="150" dirty="0">
                <a:latin typeface="Times New Roman"/>
                <a:cs typeface="Times New Roman"/>
              </a:rPr>
              <a:t> 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academic</a:t>
            </a:r>
            <a:r>
              <a:rPr sz="1800" spc="3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settings</a:t>
            </a:r>
            <a:r>
              <a:rPr sz="1800" spc="4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(Google</a:t>
            </a:r>
            <a:r>
              <a:rPr sz="1800" spc="4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Developers, 2024).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86591" y="1748434"/>
            <a:ext cx="4257675" cy="619760"/>
          </a:xfrm>
          <a:custGeom>
            <a:avLst/>
            <a:gdLst/>
            <a:ahLst/>
            <a:cxnLst/>
            <a:rect l="l" t="t" r="r" b="b"/>
            <a:pathLst>
              <a:path w="4257675" h="619760">
                <a:moveTo>
                  <a:pt x="4257078" y="332663"/>
                </a:moveTo>
                <a:lnTo>
                  <a:pt x="4236644" y="294474"/>
                </a:lnTo>
                <a:lnTo>
                  <a:pt x="4211358" y="286943"/>
                </a:lnTo>
                <a:lnTo>
                  <a:pt x="2437396" y="286943"/>
                </a:lnTo>
                <a:lnTo>
                  <a:pt x="2436850" y="279488"/>
                </a:lnTo>
                <a:lnTo>
                  <a:pt x="2429052" y="234556"/>
                </a:lnTo>
                <a:lnTo>
                  <a:pt x="2414752" y="191287"/>
                </a:lnTo>
                <a:lnTo>
                  <a:pt x="2394267" y="150583"/>
                </a:lnTo>
                <a:lnTo>
                  <a:pt x="2368016" y="113284"/>
                </a:lnTo>
                <a:lnTo>
                  <a:pt x="2336558" y="80264"/>
                </a:lnTo>
                <a:lnTo>
                  <a:pt x="2300630" y="52222"/>
                </a:lnTo>
                <a:lnTo>
                  <a:pt x="2260981" y="29756"/>
                </a:lnTo>
                <a:lnTo>
                  <a:pt x="2218436" y="13347"/>
                </a:lnTo>
                <a:lnTo>
                  <a:pt x="2173935" y="3352"/>
                </a:lnTo>
                <a:lnTo>
                  <a:pt x="2128482" y="0"/>
                </a:lnTo>
                <a:lnTo>
                  <a:pt x="2113267" y="381"/>
                </a:lnTo>
                <a:lnTo>
                  <a:pt x="2068029" y="5956"/>
                </a:lnTo>
                <a:lnTo>
                  <a:pt x="2024113" y="18110"/>
                </a:lnTo>
                <a:lnTo>
                  <a:pt x="1982419" y="36588"/>
                </a:lnTo>
                <a:lnTo>
                  <a:pt x="1943887" y="60998"/>
                </a:lnTo>
                <a:lnTo>
                  <a:pt x="1909381" y="90766"/>
                </a:lnTo>
                <a:lnTo>
                  <a:pt x="1879612" y="125260"/>
                </a:lnTo>
                <a:lnTo>
                  <a:pt x="1855203" y="163791"/>
                </a:lnTo>
                <a:lnTo>
                  <a:pt x="1836724" y="205498"/>
                </a:lnTo>
                <a:lnTo>
                  <a:pt x="1824583" y="249415"/>
                </a:lnTo>
                <a:lnTo>
                  <a:pt x="1819554" y="286943"/>
                </a:lnTo>
                <a:lnTo>
                  <a:pt x="45720" y="286943"/>
                </a:lnTo>
                <a:lnTo>
                  <a:pt x="7531" y="307378"/>
                </a:lnTo>
                <a:lnTo>
                  <a:pt x="0" y="332663"/>
                </a:lnTo>
                <a:lnTo>
                  <a:pt x="838" y="341782"/>
                </a:lnTo>
                <a:lnTo>
                  <a:pt x="28168" y="375031"/>
                </a:lnTo>
                <a:lnTo>
                  <a:pt x="45720" y="378383"/>
                </a:lnTo>
                <a:lnTo>
                  <a:pt x="1826387" y="378383"/>
                </a:lnTo>
                <a:lnTo>
                  <a:pt x="1827911" y="385178"/>
                </a:lnTo>
                <a:lnTo>
                  <a:pt x="1842211" y="428447"/>
                </a:lnTo>
                <a:lnTo>
                  <a:pt x="1862696" y="469150"/>
                </a:lnTo>
                <a:lnTo>
                  <a:pt x="1888959" y="506437"/>
                </a:lnTo>
                <a:lnTo>
                  <a:pt x="1920405" y="539470"/>
                </a:lnTo>
                <a:lnTo>
                  <a:pt x="1956333" y="567499"/>
                </a:lnTo>
                <a:lnTo>
                  <a:pt x="1995982" y="589965"/>
                </a:lnTo>
                <a:lnTo>
                  <a:pt x="2038540" y="606386"/>
                </a:lnTo>
                <a:lnTo>
                  <a:pt x="2083041" y="616381"/>
                </a:lnTo>
                <a:lnTo>
                  <a:pt x="2128482" y="619721"/>
                </a:lnTo>
                <a:lnTo>
                  <a:pt x="2143709" y="619353"/>
                </a:lnTo>
                <a:lnTo>
                  <a:pt x="2188934" y="613765"/>
                </a:lnTo>
                <a:lnTo>
                  <a:pt x="2232850" y="601624"/>
                </a:lnTo>
                <a:lnTo>
                  <a:pt x="2274557" y="583145"/>
                </a:lnTo>
                <a:lnTo>
                  <a:pt x="2313089" y="558736"/>
                </a:lnTo>
                <a:lnTo>
                  <a:pt x="2347582" y="528967"/>
                </a:lnTo>
                <a:lnTo>
                  <a:pt x="2377351" y="494461"/>
                </a:lnTo>
                <a:lnTo>
                  <a:pt x="2401760" y="455930"/>
                </a:lnTo>
                <a:lnTo>
                  <a:pt x="2420239" y="414235"/>
                </a:lnTo>
                <a:lnTo>
                  <a:pt x="2430576" y="378383"/>
                </a:lnTo>
                <a:lnTo>
                  <a:pt x="4211358" y="378383"/>
                </a:lnTo>
                <a:lnTo>
                  <a:pt x="4249547" y="357949"/>
                </a:lnTo>
                <a:lnTo>
                  <a:pt x="4256252" y="341782"/>
                </a:lnTo>
                <a:lnTo>
                  <a:pt x="4257078" y="332663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78377" y="1927786"/>
            <a:ext cx="167640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50" dirty="0">
                <a:solidFill>
                  <a:srgbClr val="006FC0"/>
                </a:solidFill>
                <a:latin typeface="Arial MT"/>
                <a:cs typeface="Arial MT"/>
              </a:rPr>
              <a:t>2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3334" y="2531450"/>
            <a:ext cx="3823970" cy="15703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92075">
              <a:lnSpc>
                <a:spcPts val="2500"/>
              </a:lnSpc>
              <a:spcBef>
                <a:spcPts val="325"/>
              </a:spcBef>
            </a:pPr>
            <a:r>
              <a:rPr sz="2200" spc="-140" dirty="0">
                <a:solidFill>
                  <a:srgbClr val="006FC0"/>
                </a:solidFill>
                <a:latin typeface="Arial MT"/>
                <a:cs typeface="Arial MT"/>
              </a:rPr>
              <a:t>Data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006FC0"/>
                </a:solidFill>
                <a:latin typeface="Arial MT"/>
                <a:cs typeface="Arial MT"/>
              </a:rPr>
              <a:t>Minimisation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250" dirty="0">
                <a:solidFill>
                  <a:srgbClr val="006FC0"/>
                </a:solidFill>
                <a:latin typeface="Arial MT"/>
                <a:cs typeface="Arial MT"/>
              </a:rPr>
              <a:t>(GDPR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Article 5(1)(c))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  <a:spcBef>
                <a:spcPts val="815"/>
              </a:spcBef>
              <a:tabLst>
                <a:tab pos="643890" algn="l"/>
                <a:tab pos="1635125" algn="l"/>
                <a:tab pos="2423160" algn="l"/>
                <a:tab pos="3642360" algn="l"/>
              </a:tabLst>
            </a:pPr>
            <a:r>
              <a:rPr sz="1700" spc="-2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pipeline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limits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processing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bibliographic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fields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adequate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relevant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03334" y="4075920"/>
            <a:ext cx="3823970" cy="119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7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discovery,</a:t>
            </a:r>
            <a:r>
              <a:rPr sz="1700" spc="27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excluding</a:t>
            </a:r>
            <a:r>
              <a:rPr sz="1700" spc="27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personal</a:t>
            </a:r>
            <a:r>
              <a:rPr sz="1700" spc="275" dirty="0">
                <a:latin typeface="Times New Roman"/>
                <a:cs typeface="Times New Roman"/>
              </a:rPr>
              <a:t>  </a:t>
            </a:r>
            <a:r>
              <a:rPr sz="1700" spc="-20" dirty="0">
                <a:latin typeface="Times New Roman"/>
                <a:cs typeface="Times New Roman"/>
              </a:rPr>
              <a:t>data </a:t>
            </a:r>
            <a:r>
              <a:rPr sz="1700" dirty="0">
                <a:latin typeface="Times New Roman"/>
                <a:cs typeface="Times New Roman"/>
              </a:rPr>
              <a:t>categories</a:t>
            </a:r>
            <a:r>
              <a:rPr sz="1700" spc="114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14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default.</a:t>
            </a:r>
            <a:r>
              <a:rPr sz="1700" spc="114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Tokens</a:t>
            </a:r>
            <a:r>
              <a:rPr sz="1700" spc="114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14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cloud </a:t>
            </a:r>
            <a:r>
              <a:rPr sz="1700" dirty="0">
                <a:latin typeface="Times New Roman"/>
                <a:cs typeface="Times New Roman"/>
              </a:rPr>
              <a:t>services</a:t>
            </a:r>
            <a:r>
              <a:rPr sz="1700" spc="4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follow</a:t>
            </a:r>
            <a:r>
              <a:rPr sz="1700" spc="4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modern</a:t>
            </a:r>
            <a:r>
              <a:rPr sz="1700" spc="4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OAuth</a:t>
            </a:r>
            <a:r>
              <a:rPr sz="1700" spc="4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guidance,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3334" y="5245725"/>
            <a:ext cx="382397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  <a:tabLst>
                <a:tab pos="980440" algn="l"/>
                <a:tab pos="1054100" algn="l"/>
                <a:tab pos="1685289" algn="l"/>
                <a:tab pos="1857375" algn="l"/>
                <a:tab pos="2089785" algn="l"/>
                <a:tab pos="2252345" algn="l"/>
                <a:tab pos="2782570" algn="l"/>
                <a:tab pos="3054985" algn="l"/>
                <a:tab pos="3498850" algn="l"/>
              </a:tabLst>
            </a:pPr>
            <a:r>
              <a:rPr sz="1700" spc="-10" dirty="0">
                <a:latin typeface="Times New Roman"/>
                <a:cs typeface="Times New Roman"/>
              </a:rPr>
              <a:t>including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0" dirty="0">
                <a:latin typeface="Times New Roman"/>
                <a:cs typeface="Times New Roman"/>
              </a:rPr>
              <a:t>PKCE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for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public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clients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spc="-10" dirty="0">
                <a:latin typeface="Times New Roman"/>
                <a:cs typeface="Times New Roman"/>
              </a:rPr>
              <a:t>native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app</a:t>
            </a:r>
            <a:r>
              <a:rPr sz="1700" dirty="0">
                <a:latin typeface="Times New Roman"/>
                <a:cs typeface="Times New Roman"/>
              </a:rPr>
              <a:t>		</a:t>
            </a:r>
            <a:r>
              <a:rPr sz="1700" spc="-10" dirty="0">
                <a:latin typeface="Times New Roman"/>
                <a:cs typeface="Times New Roman"/>
              </a:rPr>
              <a:t>profiles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for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redirect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10" dirty="0">
                <a:latin typeface="Times New Roman"/>
                <a:cs typeface="Times New Roman"/>
              </a:rPr>
              <a:t>handling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03334" y="6022966"/>
            <a:ext cx="3823970" cy="1572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49500"/>
              </a:lnSpc>
              <a:spcBef>
                <a:spcPts val="80"/>
              </a:spcBef>
            </a:pPr>
            <a:r>
              <a:rPr sz="1700" dirty="0">
                <a:latin typeface="Times New Roman"/>
                <a:cs typeface="Times New Roman"/>
              </a:rPr>
              <a:t>(European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Union,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2016;</a:t>
            </a:r>
            <a:r>
              <a:rPr sz="1700" spc="3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RFC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7636;</a:t>
            </a:r>
            <a:r>
              <a:rPr sz="1700" spc="35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RFC </a:t>
            </a:r>
            <a:r>
              <a:rPr sz="1700" dirty="0">
                <a:latin typeface="Times New Roman"/>
                <a:cs typeface="Times New Roman"/>
              </a:rPr>
              <a:t>8252).</a:t>
            </a:r>
            <a:r>
              <a:rPr sz="1700" spc="4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Privacy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design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evidenced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by </a:t>
            </a:r>
            <a:r>
              <a:rPr sz="1700" dirty="0">
                <a:latin typeface="Times New Roman"/>
                <a:cs typeface="Times New Roman"/>
              </a:rPr>
              <a:t>negative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lists,</a:t>
            </a:r>
            <a:r>
              <a:rPr sz="1700" spc="49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access</a:t>
            </a:r>
            <a:r>
              <a:rPr sz="1700" spc="265" dirty="0">
                <a:latin typeface="Times New Roman"/>
                <a:cs typeface="Times New Roman"/>
              </a:rPr>
              <a:t>    </a:t>
            </a:r>
            <a:r>
              <a:rPr sz="1700" dirty="0">
                <a:latin typeface="Times New Roman"/>
                <a:cs typeface="Times New Roman"/>
              </a:rPr>
              <a:t>scoping</a:t>
            </a:r>
            <a:r>
              <a:rPr sz="1700" spc="270" dirty="0">
                <a:latin typeface="Times New Roman"/>
                <a:cs typeface="Times New Roman"/>
              </a:rPr>
              <a:t>    </a:t>
            </a:r>
            <a:r>
              <a:rPr sz="1700" spc="-25" dirty="0">
                <a:latin typeface="Times New Roman"/>
                <a:cs typeface="Times New Roman"/>
              </a:rPr>
              <a:t>and </a:t>
            </a:r>
            <a:r>
              <a:rPr sz="1700" spc="-10" dirty="0">
                <a:latin typeface="Times New Roman"/>
                <a:cs typeface="Times New Roman"/>
              </a:rPr>
              <a:t>short</a:t>
            </a:r>
            <a:r>
              <a:rPr sz="1700" spc="-10" dirty="0">
                <a:latin typeface="Microsoft Sans Serif"/>
                <a:cs typeface="Microsoft Sans Serif"/>
              </a:rPr>
              <a:t>‑</a:t>
            </a:r>
            <a:r>
              <a:rPr sz="1700" spc="-10" dirty="0">
                <a:latin typeface="Times New Roman"/>
                <a:cs typeface="Times New Roman"/>
              </a:rPr>
              <a:t>lived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credentials.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50248" y="1748434"/>
            <a:ext cx="4257675" cy="619760"/>
          </a:xfrm>
          <a:custGeom>
            <a:avLst/>
            <a:gdLst/>
            <a:ahLst/>
            <a:cxnLst/>
            <a:rect l="l" t="t" r="r" b="b"/>
            <a:pathLst>
              <a:path w="4257675" h="619760">
                <a:moveTo>
                  <a:pt x="4257078" y="332663"/>
                </a:moveTo>
                <a:lnTo>
                  <a:pt x="4236644" y="294474"/>
                </a:lnTo>
                <a:lnTo>
                  <a:pt x="4211358" y="286943"/>
                </a:lnTo>
                <a:lnTo>
                  <a:pt x="2437396" y="286943"/>
                </a:lnTo>
                <a:lnTo>
                  <a:pt x="2436850" y="279488"/>
                </a:lnTo>
                <a:lnTo>
                  <a:pt x="2429052" y="234556"/>
                </a:lnTo>
                <a:lnTo>
                  <a:pt x="2414752" y="191287"/>
                </a:lnTo>
                <a:lnTo>
                  <a:pt x="2394267" y="150583"/>
                </a:lnTo>
                <a:lnTo>
                  <a:pt x="2368004" y="113284"/>
                </a:lnTo>
                <a:lnTo>
                  <a:pt x="2336558" y="80264"/>
                </a:lnTo>
                <a:lnTo>
                  <a:pt x="2300630" y="52222"/>
                </a:lnTo>
                <a:lnTo>
                  <a:pt x="2260981" y="29756"/>
                </a:lnTo>
                <a:lnTo>
                  <a:pt x="2218423" y="13347"/>
                </a:lnTo>
                <a:lnTo>
                  <a:pt x="2173922" y="3352"/>
                </a:lnTo>
                <a:lnTo>
                  <a:pt x="2128482" y="0"/>
                </a:lnTo>
                <a:lnTo>
                  <a:pt x="2113254" y="381"/>
                </a:lnTo>
                <a:lnTo>
                  <a:pt x="2068029" y="5956"/>
                </a:lnTo>
                <a:lnTo>
                  <a:pt x="2024113" y="18110"/>
                </a:lnTo>
                <a:lnTo>
                  <a:pt x="1982406" y="36588"/>
                </a:lnTo>
                <a:lnTo>
                  <a:pt x="1943887" y="60998"/>
                </a:lnTo>
                <a:lnTo>
                  <a:pt x="1909381" y="90766"/>
                </a:lnTo>
                <a:lnTo>
                  <a:pt x="1879612" y="125260"/>
                </a:lnTo>
                <a:lnTo>
                  <a:pt x="1855203" y="163791"/>
                </a:lnTo>
                <a:lnTo>
                  <a:pt x="1836724" y="205498"/>
                </a:lnTo>
                <a:lnTo>
                  <a:pt x="1824570" y="249415"/>
                </a:lnTo>
                <a:lnTo>
                  <a:pt x="1819554" y="286943"/>
                </a:lnTo>
                <a:lnTo>
                  <a:pt x="45720" y="286943"/>
                </a:lnTo>
                <a:lnTo>
                  <a:pt x="7531" y="307378"/>
                </a:lnTo>
                <a:lnTo>
                  <a:pt x="0" y="332663"/>
                </a:lnTo>
                <a:lnTo>
                  <a:pt x="838" y="341782"/>
                </a:lnTo>
                <a:lnTo>
                  <a:pt x="28168" y="375031"/>
                </a:lnTo>
                <a:lnTo>
                  <a:pt x="45720" y="378383"/>
                </a:lnTo>
                <a:lnTo>
                  <a:pt x="1826374" y="378383"/>
                </a:lnTo>
                <a:lnTo>
                  <a:pt x="1827911" y="385178"/>
                </a:lnTo>
                <a:lnTo>
                  <a:pt x="1842211" y="428447"/>
                </a:lnTo>
                <a:lnTo>
                  <a:pt x="1862696" y="469150"/>
                </a:lnTo>
                <a:lnTo>
                  <a:pt x="1888947" y="506437"/>
                </a:lnTo>
                <a:lnTo>
                  <a:pt x="1920405" y="539470"/>
                </a:lnTo>
                <a:lnTo>
                  <a:pt x="1956333" y="567499"/>
                </a:lnTo>
                <a:lnTo>
                  <a:pt x="1995982" y="589965"/>
                </a:lnTo>
                <a:lnTo>
                  <a:pt x="2038527" y="606386"/>
                </a:lnTo>
                <a:lnTo>
                  <a:pt x="2083028" y="616381"/>
                </a:lnTo>
                <a:lnTo>
                  <a:pt x="2128482" y="619721"/>
                </a:lnTo>
                <a:lnTo>
                  <a:pt x="2143709" y="619353"/>
                </a:lnTo>
                <a:lnTo>
                  <a:pt x="2188934" y="613765"/>
                </a:lnTo>
                <a:lnTo>
                  <a:pt x="2232850" y="601624"/>
                </a:lnTo>
                <a:lnTo>
                  <a:pt x="2274544" y="583145"/>
                </a:lnTo>
                <a:lnTo>
                  <a:pt x="2313076" y="558736"/>
                </a:lnTo>
                <a:lnTo>
                  <a:pt x="2347582" y="528967"/>
                </a:lnTo>
                <a:lnTo>
                  <a:pt x="2377351" y="494461"/>
                </a:lnTo>
                <a:lnTo>
                  <a:pt x="2401760" y="455930"/>
                </a:lnTo>
                <a:lnTo>
                  <a:pt x="2420239" y="414235"/>
                </a:lnTo>
                <a:lnTo>
                  <a:pt x="2430576" y="378383"/>
                </a:lnTo>
                <a:lnTo>
                  <a:pt x="4211358" y="378383"/>
                </a:lnTo>
                <a:lnTo>
                  <a:pt x="4249547" y="357949"/>
                </a:lnTo>
                <a:lnTo>
                  <a:pt x="4256240" y="341782"/>
                </a:lnTo>
                <a:lnTo>
                  <a:pt x="4257078" y="332663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642029" y="1927786"/>
            <a:ext cx="167640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66986" y="2531450"/>
            <a:ext cx="3823970" cy="122364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1157605">
              <a:lnSpc>
                <a:spcPts val="2500"/>
              </a:lnSpc>
              <a:spcBef>
                <a:spcPts val="325"/>
              </a:spcBef>
            </a:pP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Academic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006FC0"/>
                </a:solidFill>
                <a:latin typeface="Arial MT"/>
                <a:cs typeface="Arial MT"/>
              </a:rPr>
              <a:t>Integrity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006FC0"/>
                </a:solidFill>
                <a:latin typeface="Arial MT"/>
                <a:cs typeface="Arial MT"/>
              </a:rPr>
              <a:t>and </a:t>
            </a:r>
            <a:r>
              <a:rPr sz="2200" spc="-20" dirty="0">
                <a:solidFill>
                  <a:srgbClr val="006FC0"/>
                </a:solidFill>
                <a:latin typeface="Arial MT"/>
                <a:cs typeface="Arial MT"/>
              </a:rPr>
              <a:t>Provenance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  <a:tabLst>
                <a:tab pos="677545" algn="l"/>
                <a:tab pos="1583055" algn="l"/>
                <a:tab pos="2408555" algn="l"/>
                <a:tab pos="2698750" algn="l"/>
              </a:tabLst>
            </a:pPr>
            <a:r>
              <a:rPr sz="1900" spc="-20" dirty="0">
                <a:latin typeface="Times New Roman"/>
                <a:cs typeface="Times New Roman"/>
              </a:rPr>
              <a:t>Each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artefact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carries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0" dirty="0">
                <a:latin typeface="Times New Roman"/>
                <a:cs typeface="Times New Roman"/>
              </a:rPr>
              <a:t>a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provenance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66986" y="3873949"/>
            <a:ext cx="38239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8519" algn="l"/>
                <a:tab pos="1517015" algn="l"/>
                <a:tab pos="2651125" algn="l"/>
              </a:tabLst>
            </a:pPr>
            <a:r>
              <a:rPr sz="1900" spc="-10" dirty="0">
                <a:latin typeface="Times New Roman"/>
                <a:cs typeface="Times New Roman"/>
              </a:rPr>
              <a:t>bundle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(task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identifier,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timestamps,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66986" y="4163509"/>
            <a:ext cx="382397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891540" algn="l"/>
                <a:tab pos="1114425" algn="l"/>
                <a:tab pos="1764030" algn="l"/>
                <a:tab pos="2562225" algn="l"/>
                <a:tab pos="3381375" algn="l"/>
              </a:tabLst>
            </a:pPr>
            <a:r>
              <a:rPr sz="1900" spc="-10" dirty="0">
                <a:latin typeface="Times New Roman"/>
                <a:cs typeface="Times New Roman"/>
              </a:rPr>
              <a:t>content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hashes,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source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URIs).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0" dirty="0">
                <a:latin typeface="Times New Roman"/>
                <a:cs typeface="Times New Roman"/>
              </a:rPr>
              <a:t>This </a:t>
            </a:r>
            <a:r>
              <a:rPr sz="1900" spc="-10" dirty="0">
                <a:latin typeface="Times New Roman"/>
                <a:cs typeface="Times New Roman"/>
              </a:rPr>
              <a:t>supports</a:t>
            </a:r>
            <a:r>
              <a:rPr sz="1900" dirty="0">
                <a:latin typeface="Times New Roman"/>
                <a:cs typeface="Times New Roman"/>
              </a:rPr>
              <a:t>		</a:t>
            </a:r>
            <a:r>
              <a:rPr sz="1900" spc="-10" dirty="0">
                <a:latin typeface="Times New Roman"/>
                <a:cs typeface="Times New Roman"/>
              </a:rPr>
              <a:t>independent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3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reproduction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66986" y="5032189"/>
            <a:ext cx="3823970" cy="17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during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viva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seminar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settings</a:t>
            </a:r>
            <a:r>
              <a:rPr sz="1900" spc="38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dirty="0">
                <a:latin typeface="Times New Roman"/>
                <a:cs typeface="Times New Roman"/>
              </a:rPr>
              <a:t>mitigates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integrity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risks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climate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dirty="0">
                <a:latin typeface="Times New Roman"/>
                <a:cs typeface="Times New Roman"/>
              </a:rPr>
              <a:t>rising</a:t>
            </a:r>
            <a:r>
              <a:rPr sz="1900" spc="2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retraction</a:t>
            </a:r>
            <a:r>
              <a:rPr sz="1900" spc="2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counts</a:t>
            </a:r>
            <a:r>
              <a:rPr sz="1900" spc="2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2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paper</a:t>
            </a:r>
            <a:r>
              <a:rPr sz="1900" spc="-10" dirty="0">
                <a:latin typeface="Microsoft Sans Serif"/>
                <a:cs typeface="Microsoft Sans Serif"/>
              </a:rPr>
              <a:t>‑</a:t>
            </a:r>
            <a:r>
              <a:rPr sz="1900" spc="-10" dirty="0">
                <a:latin typeface="Times New Roman"/>
                <a:cs typeface="Times New Roman"/>
              </a:rPr>
              <a:t>mill </a:t>
            </a:r>
            <a:r>
              <a:rPr sz="1900" dirty="0">
                <a:latin typeface="Times New Roman"/>
                <a:cs typeface="Times New Roman"/>
              </a:rPr>
              <a:t>exposure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(Else,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2023;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COPE,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2021).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90" y="1798982"/>
            <a:ext cx="9565640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50" spc="-204" dirty="0">
                <a:solidFill>
                  <a:srgbClr val="3C0DFC"/>
                </a:solidFill>
              </a:rPr>
              <a:t>Empirical</a:t>
            </a:r>
            <a:r>
              <a:rPr sz="4950" spc="-245" dirty="0">
                <a:solidFill>
                  <a:srgbClr val="3C0DFC"/>
                </a:solidFill>
              </a:rPr>
              <a:t> </a:t>
            </a:r>
            <a:r>
              <a:rPr sz="4950" spc="-225" dirty="0">
                <a:solidFill>
                  <a:srgbClr val="3C0DFC"/>
                </a:solidFill>
              </a:rPr>
              <a:t>Context</a:t>
            </a:r>
            <a:r>
              <a:rPr sz="4950" spc="-240" dirty="0">
                <a:solidFill>
                  <a:srgbClr val="3C0DFC"/>
                </a:solidFill>
              </a:rPr>
              <a:t> </a:t>
            </a:r>
            <a:r>
              <a:rPr sz="4950" spc="-305" dirty="0">
                <a:solidFill>
                  <a:srgbClr val="3C0DFC"/>
                </a:solidFill>
              </a:rPr>
              <a:t>and</a:t>
            </a:r>
            <a:r>
              <a:rPr sz="4950" spc="-245" dirty="0">
                <a:solidFill>
                  <a:srgbClr val="3C0DFC"/>
                </a:solidFill>
              </a:rPr>
              <a:t> </a:t>
            </a:r>
            <a:r>
              <a:rPr sz="4950" spc="-185" dirty="0">
                <a:solidFill>
                  <a:srgbClr val="3C0DFC"/>
                </a:solidFill>
              </a:rPr>
              <a:t>Market</a:t>
            </a:r>
            <a:r>
              <a:rPr sz="4950" spc="-240" dirty="0">
                <a:solidFill>
                  <a:srgbClr val="3C0DFC"/>
                </a:solidFill>
              </a:rPr>
              <a:t> </a:t>
            </a:r>
            <a:r>
              <a:rPr sz="4950" spc="-140" dirty="0">
                <a:solidFill>
                  <a:srgbClr val="3C0DFC"/>
                </a:solidFill>
              </a:rPr>
              <a:t>Signals</a:t>
            </a:r>
            <a:endParaRPr sz="495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5354" rIns="0" bIns="0" rtlCol="0">
            <a:spAutoFit/>
          </a:bodyPr>
          <a:lstStyle/>
          <a:p>
            <a:pPr marL="12700" marR="5080" algn="just">
              <a:lnSpc>
                <a:spcPct val="150500"/>
              </a:lnSpc>
              <a:spcBef>
                <a:spcPts val="85"/>
              </a:spcBef>
            </a:pPr>
            <a:r>
              <a:rPr dirty="0"/>
              <a:t>Market</a:t>
            </a:r>
            <a:r>
              <a:rPr spc="470" dirty="0"/>
              <a:t> </a:t>
            </a:r>
            <a:r>
              <a:rPr dirty="0"/>
              <a:t>indicators</a:t>
            </a:r>
            <a:r>
              <a:rPr spc="470" dirty="0"/>
              <a:t> </a:t>
            </a:r>
            <a:r>
              <a:rPr dirty="0"/>
              <a:t>reinforce</a:t>
            </a:r>
            <a:r>
              <a:rPr spc="470" dirty="0"/>
              <a:t> </a:t>
            </a:r>
            <a:r>
              <a:rPr dirty="0"/>
              <a:t>strategic</a:t>
            </a:r>
            <a:r>
              <a:rPr spc="475" dirty="0"/>
              <a:t> </a:t>
            </a:r>
            <a:r>
              <a:rPr dirty="0"/>
              <a:t>relevance:</a:t>
            </a:r>
            <a:r>
              <a:rPr spc="470" dirty="0"/>
              <a:t> </a:t>
            </a:r>
            <a:r>
              <a:rPr dirty="0"/>
              <a:t>Industry</a:t>
            </a:r>
            <a:r>
              <a:rPr spc="470" dirty="0"/>
              <a:t> </a:t>
            </a:r>
            <a:r>
              <a:rPr dirty="0"/>
              <a:t>reports</a:t>
            </a:r>
            <a:r>
              <a:rPr spc="470" dirty="0"/>
              <a:t> </a:t>
            </a:r>
            <a:r>
              <a:rPr dirty="0"/>
              <a:t>valued</a:t>
            </a:r>
            <a:r>
              <a:rPr spc="475" dirty="0"/>
              <a:t> </a:t>
            </a:r>
            <a:r>
              <a:rPr dirty="0"/>
              <a:t>the</a:t>
            </a:r>
            <a:r>
              <a:rPr spc="470" dirty="0"/>
              <a:t> </a:t>
            </a:r>
            <a:r>
              <a:rPr dirty="0"/>
              <a:t>global</a:t>
            </a:r>
            <a:r>
              <a:rPr spc="470" dirty="0"/>
              <a:t> </a:t>
            </a:r>
            <a:r>
              <a:rPr dirty="0"/>
              <a:t>scholarly</a:t>
            </a:r>
            <a:r>
              <a:rPr dirty="0">
                <a:latin typeface="Microsoft Sans Serif"/>
                <a:cs typeface="Microsoft Sans Serif"/>
              </a:rPr>
              <a:t>‑</a:t>
            </a:r>
            <a:r>
              <a:rPr dirty="0"/>
              <a:t>communication</a:t>
            </a:r>
            <a:r>
              <a:rPr spc="470" dirty="0"/>
              <a:t> </a:t>
            </a:r>
            <a:r>
              <a:rPr dirty="0"/>
              <a:t>sector</a:t>
            </a:r>
            <a:r>
              <a:rPr spc="475" dirty="0"/>
              <a:t> </a:t>
            </a:r>
            <a:r>
              <a:rPr dirty="0"/>
              <a:t>in</a:t>
            </a:r>
            <a:r>
              <a:rPr spc="470" dirty="0"/>
              <a:t> </a:t>
            </a:r>
            <a:r>
              <a:rPr spc="-25" dirty="0"/>
              <a:t>the </a:t>
            </a:r>
            <a:r>
              <a:rPr spc="-10" dirty="0"/>
              <a:t>multi</a:t>
            </a:r>
            <a:r>
              <a:rPr spc="-10" dirty="0">
                <a:latin typeface="Microsoft Sans Serif"/>
                <a:cs typeface="Microsoft Sans Serif"/>
              </a:rPr>
              <a:t>‑</a:t>
            </a:r>
            <a:r>
              <a:rPr spc="-10" dirty="0"/>
              <a:t>billion</a:t>
            </a:r>
            <a:r>
              <a:rPr spc="-10" dirty="0">
                <a:latin typeface="Microsoft Sans Serif"/>
                <a:cs typeface="Microsoft Sans Serif"/>
              </a:rPr>
              <a:t>‑</a:t>
            </a:r>
            <a:r>
              <a:rPr spc="-10" dirty="0"/>
              <a:t>dollar</a:t>
            </a:r>
            <a:r>
              <a:rPr spc="40" dirty="0"/>
              <a:t> </a:t>
            </a:r>
            <a:r>
              <a:rPr dirty="0"/>
              <a:t>range</a:t>
            </a:r>
            <a:r>
              <a:rPr spc="45" dirty="0"/>
              <a:t> </a:t>
            </a:r>
            <a:r>
              <a:rPr dirty="0"/>
              <a:t>in</a:t>
            </a:r>
            <a:r>
              <a:rPr spc="4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early</a:t>
            </a:r>
            <a:r>
              <a:rPr spc="45" dirty="0"/>
              <a:t> </a:t>
            </a:r>
            <a:r>
              <a:rPr dirty="0"/>
              <a:t>2020s,</a:t>
            </a:r>
            <a:r>
              <a:rPr spc="45" dirty="0"/>
              <a:t> </a:t>
            </a:r>
            <a:r>
              <a:rPr dirty="0"/>
              <a:t>with</a:t>
            </a:r>
            <a:r>
              <a:rPr spc="40" dirty="0"/>
              <a:t> </a:t>
            </a:r>
            <a:r>
              <a:rPr dirty="0"/>
              <a:t>online</a:t>
            </a:r>
            <a:r>
              <a:rPr spc="45" dirty="0"/>
              <a:t> </a:t>
            </a:r>
            <a:r>
              <a:rPr dirty="0"/>
              <a:t>access</a:t>
            </a:r>
            <a:r>
              <a:rPr spc="45" dirty="0"/>
              <a:t> </a:t>
            </a:r>
            <a:r>
              <a:rPr dirty="0"/>
              <a:t>comprising</a:t>
            </a:r>
            <a:r>
              <a:rPr spc="4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substantial</a:t>
            </a:r>
            <a:r>
              <a:rPr spc="45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rising</a:t>
            </a:r>
            <a:r>
              <a:rPr spc="40" dirty="0"/>
              <a:t> </a:t>
            </a:r>
            <a:r>
              <a:rPr dirty="0"/>
              <a:t>share.</a:t>
            </a:r>
            <a:r>
              <a:rPr spc="45" dirty="0"/>
              <a:t> </a:t>
            </a:r>
            <a:r>
              <a:rPr dirty="0"/>
              <a:t>Unpaywall</a:t>
            </a:r>
            <a:r>
              <a:rPr spc="45" dirty="0"/>
              <a:t> </a:t>
            </a:r>
            <a:r>
              <a:rPr dirty="0"/>
              <a:t>trend</a:t>
            </a:r>
            <a:r>
              <a:rPr spc="40" dirty="0"/>
              <a:t> </a:t>
            </a:r>
            <a:r>
              <a:rPr spc="-20" dirty="0"/>
              <a:t>data </a:t>
            </a:r>
            <a:r>
              <a:rPr dirty="0"/>
              <a:t>indicate</a:t>
            </a:r>
            <a:r>
              <a:rPr spc="280" dirty="0"/>
              <a:t> </a:t>
            </a:r>
            <a:r>
              <a:rPr dirty="0"/>
              <a:t>OA</a:t>
            </a:r>
            <a:r>
              <a:rPr spc="285" dirty="0"/>
              <a:t> </a:t>
            </a:r>
            <a:r>
              <a:rPr dirty="0"/>
              <a:t>shares</a:t>
            </a:r>
            <a:r>
              <a:rPr spc="280" dirty="0"/>
              <a:t> </a:t>
            </a:r>
            <a:r>
              <a:rPr dirty="0"/>
              <a:t>exceeding</a:t>
            </a:r>
            <a:r>
              <a:rPr spc="285" dirty="0"/>
              <a:t> </a:t>
            </a:r>
            <a:r>
              <a:rPr dirty="0"/>
              <a:t>45%</a:t>
            </a:r>
            <a:r>
              <a:rPr spc="285" dirty="0"/>
              <a:t> </a:t>
            </a:r>
            <a:r>
              <a:rPr dirty="0"/>
              <a:t>by</a:t>
            </a:r>
            <a:r>
              <a:rPr spc="280" dirty="0"/>
              <a:t> </a:t>
            </a:r>
            <a:r>
              <a:rPr dirty="0"/>
              <a:t>2022,</a:t>
            </a:r>
            <a:r>
              <a:rPr spc="285" dirty="0"/>
              <a:t> </a:t>
            </a:r>
            <a:r>
              <a:rPr dirty="0"/>
              <a:t>while</a:t>
            </a:r>
            <a:r>
              <a:rPr spc="285" dirty="0"/>
              <a:t> </a:t>
            </a:r>
            <a:r>
              <a:rPr dirty="0"/>
              <a:t>UNESCO</a:t>
            </a:r>
            <a:r>
              <a:rPr spc="280" dirty="0"/>
              <a:t> </a:t>
            </a:r>
            <a:r>
              <a:rPr dirty="0"/>
              <a:t>documents</a:t>
            </a:r>
            <a:r>
              <a:rPr spc="285" dirty="0"/>
              <a:t> </a:t>
            </a:r>
            <a:r>
              <a:rPr dirty="0"/>
              <a:t>continued</a:t>
            </a:r>
            <a:r>
              <a:rPr spc="280" dirty="0"/>
              <a:t> </a:t>
            </a:r>
            <a:r>
              <a:rPr dirty="0"/>
              <a:t>output</a:t>
            </a:r>
            <a:r>
              <a:rPr spc="285" dirty="0"/>
              <a:t> </a:t>
            </a:r>
            <a:r>
              <a:rPr dirty="0"/>
              <a:t>growth</a:t>
            </a:r>
            <a:r>
              <a:rPr spc="285" dirty="0"/>
              <a:t> </a:t>
            </a:r>
            <a:r>
              <a:rPr dirty="0"/>
              <a:t>and</a:t>
            </a:r>
            <a:r>
              <a:rPr spc="280" dirty="0"/>
              <a:t> </a:t>
            </a:r>
            <a:r>
              <a:rPr dirty="0"/>
              <a:t>capacity</a:t>
            </a:r>
            <a:r>
              <a:rPr spc="285" dirty="0"/>
              <a:t> </a:t>
            </a:r>
            <a:r>
              <a:rPr dirty="0"/>
              <a:t>building</a:t>
            </a:r>
            <a:r>
              <a:rPr spc="285" dirty="0"/>
              <a:t> </a:t>
            </a:r>
            <a:r>
              <a:rPr spc="-25" dirty="0"/>
              <a:t>in </a:t>
            </a:r>
            <a:r>
              <a:rPr dirty="0"/>
              <a:t>emerging</a:t>
            </a:r>
            <a:r>
              <a:rPr spc="-15" dirty="0"/>
              <a:t> </a:t>
            </a:r>
            <a:r>
              <a:rPr dirty="0"/>
              <a:t>research</a:t>
            </a:r>
            <a:r>
              <a:rPr spc="-15" dirty="0"/>
              <a:t> </a:t>
            </a:r>
            <a:r>
              <a:rPr dirty="0"/>
              <a:t>systems</a:t>
            </a:r>
            <a:r>
              <a:rPr spc="-15" dirty="0"/>
              <a:t> </a:t>
            </a:r>
            <a:r>
              <a:rPr dirty="0"/>
              <a:t>(OurResearch,</a:t>
            </a:r>
            <a:r>
              <a:rPr spc="-15" dirty="0"/>
              <a:t> </a:t>
            </a:r>
            <a:r>
              <a:rPr dirty="0"/>
              <a:t>2022;</a:t>
            </a:r>
            <a:r>
              <a:rPr spc="-15" dirty="0"/>
              <a:t> </a:t>
            </a:r>
            <a:r>
              <a:rPr dirty="0"/>
              <a:t>UNESCO,</a:t>
            </a:r>
            <a:r>
              <a:rPr spc="-15" dirty="0"/>
              <a:t> </a:t>
            </a:r>
            <a:r>
              <a:rPr spc="-10" dirty="0"/>
              <a:t>2021).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pc="-10" dirty="0"/>
          </a:p>
          <a:p>
            <a:pPr marL="285750" marR="71755" algn="just">
              <a:lnSpc>
                <a:spcPct val="150000"/>
              </a:lnSpc>
            </a:pPr>
            <a:r>
              <a:rPr dirty="0"/>
              <a:t>For</a:t>
            </a:r>
            <a:r>
              <a:rPr spc="140" dirty="0"/>
              <a:t> </a:t>
            </a:r>
            <a:r>
              <a:rPr dirty="0"/>
              <a:t>discovery</a:t>
            </a:r>
            <a:r>
              <a:rPr spc="140" dirty="0"/>
              <a:t> </a:t>
            </a:r>
            <a:r>
              <a:rPr dirty="0"/>
              <a:t>systems,</a:t>
            </a:r>
            <a:r>
              <a:rPr spc="140" dirty="0"/>
              <a:t> </a:t>
            </a:r>
            <a:r>
              <a:rPr dirty="0"/>
              <a:t>this</a:t>
            </a:r>
            <a:r>
              <a:rPr spc="140" dirty="0"/>
              <a:t> </a:t>
            </a:r>
            <a:r>
              <a:rPr dirty="0"/>
              <a:t>implies</a:t>
            </a:r>
            <a:r>
              <a:rPr spc="140" dirty="0"/>
              <a:t> </a:t>
            </a:r>
            <a:r>
              <a:rPr dirty="0"/>
              <a:t>higher</a:t>
            </a:r>
            <a:r>
              <a:rPr spc="140" dirty="0"/>
              <a:t> </a:t>
            </a:r>
            <a:r>
              <a:rPr dirty="0"/>
              <a:t>variance</a:t>
            </a:r>
            <a:r>
              <a:rPr spc="140" dirty="0"/>
              <a:t> </a:t>
            </a:r>
            <a:r>
              <a:rPr dirty="0"/>
              <a:t>in</a:t>
            </a:r>
            <a:r>
              <a:rPr spc="140" dirty="0"/>
              <a:t> </a:t>
            </a:r>
            <a:r>
              <a:rPr dirty="0"/>
              <a:t>endpoints</a:t>
            </a:r>
            <a:r>
              <a:rPr spc="140" dirty="0"/>
              <a:t> </a:t>
            </a:r>
            <a:r>
              <a:rPr dirty="0"/>
              <a:t>(publisher</a:t>
            </a:r>
            <a:r>
              <a:rPr spc="140" dirty="0"/>
              <a:t> </a:t>
            </a:r>
            <a:r>
              <a:rPr dirty="0"/>
              <a:t>sites,</a:t>
            </a:r>
            <a:r>
              <a:rPr spc="140" dirty="0"/>
              <a:t> </a:t>
            </a:r>
            <a:r>
              <a:rPr dirty="0"/>
              <a:t>repositories,</a:t>
            </a:r>
            <a:r>
              <a:rPr spc="140" dirty="0"/>
              <a:t> </a:t>
            </a:r>
            <a:r>
              <a:rPr dirty="0"/>
              <a:t>aggregators)</a:t>
            </a:r>
            <a:r>
              <a:rPr spc="140" dirty="0"/>
              <a:t> </a:t>
            </a:r>
            <a:r>
              <a:rPr dirty="0"/>
              <a:t>and</a:t>
            </a:r>
            <a:r>
              <a:rPr spc="140" dirty="0"/>
              <a:t> </a:t>
            </a:r>
            <a:r>
              <a:rPr dirty="0"/>
              <a:t>a</a:t>
            </a:r>
            <a:r>
              <a:rPr spc="140" dirty="0"/>
              <a:t> </a:t>
            </a:r>
            <a:r>
              <a:rPr spc="-10" dirty="0"/>
              <a:t>premium </a:t>
            </a:r>
            <a:r>
              <a:rPr dirty="0"/>
              <a:t>on</a:t>
            </a:r>
            <a:r>
              <a:rPr spc="420" dirty="0"/>
              <a:t> </a:t>
            </a:r>
            <a:r>
              <a:rPr dirty="0"/>
              <a:t>policy</a:t>
            </a:r>
            <a:r>
              <a:rPr dirty="0">
                <a:latin typeface="Microsoft Sans Serif"/>
                <a:cs typeface="Microsoft Sans Serif"/>
              </a:rPr>
              <a:t>‑</a:t>
            </a:r>
            <a:r>
              <a:rPr dirty="0"/>
              <a:t>aware</a:t>
            </a:r>
            <a:r>
              <a:rPr spc="425" dirty="0"/>
              <a:t> </a:t>
            </a:r>
            <a:r>
              <a:rPr dirty="0"/>
              <a:t>crawling</a:t>
            </a:r>
            <a:r>
              <a:rPr spc="425" dirty="0"/>
              <a:t> </a:t>
            </a:r>
            <a:r>
              <a:rPr dirty="0"/>
              <a:t>and</a:t>
            </a:r>
            <a:r>
              <a:rPr spc="425" dirty="0"/>
              <a:t> </a:t>
            </a:r>
            <a:r>
              <a:rPr dirty="0"/>
              <a:t>normalisation.</a:t>
            </a:r>
            <a:r>
              <a:rPr spc="425" dirty="0"/>
              <a:t> </a:t>
            </a:r>
            <a:r>
              <a:rPr dirty="0"/>
              <a:t>The</a:t>
            </a:r>
            <a:r>
              <a:rPr spc="425" dirty="0"/>
              <a:t> </a:t>
            </a:r>
            <a:r>
              <a:rPr dirty="0"/>
              <a:t>business</a:t>
            </a:r>
            <a:r>
              <a:rPr spc="425" dirty="0"/>
              <a:t> </a:t>
            </a:r>
            <a:r>
              <a:rPr dirty="0"/>
              <a:t>case</a:t>
            </a:r>
            <a:r>
              <a:rPr spc="425" dirty="0"/>
              <a:t> </a:t>
            </a:r>
            <a:r>
              <a:rPr dirty="0"/>
              <a:t>therefore</a:t>
            </a:r>
            <a:r>
              <a:rPr spc="425" dirty="0"/>
              <a:t> </a:t>
            </a:r>
            <a:r>
              <a:rPr dirty="0"/>
              <a:t>couples</a:t>
            </a:r>
            <a:r>
              <a:rPr spc="425" dirty="0"/>
              <a:t> </a:t>
            </a:r>
            <a:r>
              <a:rPr dirty="0"/>
              <a:t>cost</a:t>
            </a:r>
            <a:r>
              <a:rPr spc="425" dirty="0"/>
              <a:t> </a:t>
            </a:r>
            <a:r>
              <a:rPr dirty="0"/>
              <a:t>control—metadata</a:t>
            </a:r>
            <a:r>
              <a:rPr dirty="0">
                <a:latin typeface="Microsoft Sans Serif"/>
                <a:cs typeface="Microsoft Sans Serif"/>
              </a:rPr>
              <a:t>‑</a:t>
            </a:r>
            <a:r>
              <a:rPr dirty="0"/>
              <a:t>first</a:t>
            </a:r>
            <a:r>
              <a:rPr spc="425" dirty="0"/>
              <a:t> </a:t>
            </a:r>
            <a:r>
              <a:rPr spc="-10" dirty="0"/>
              <a:t>storage; </a:t>
            </a:r>
            <a:r>
              <a:rPr dirty="0"/>
              <a:t>columnar analytics—with quality control—explainable ranking and </a:t>
            </a:r>
            <a:r>
              <a:rPr spc="-10" dirty="0"/>
              <a:t>provenance.</a:t>
            </a:r>
          </a:p>
        </p:txBody>
      </p:sp>
      <p:sp>
        <p:nvSpPr>
          <p:cNvPr id="5" name="object 5"/>
          <p:cNvSpPr/>
          <p:nvPr/>
        </p:nvSpPr>
        <p:spPr>
          <a:xfrm>
            <a:off x="793790" y="5549382"/>
            <a:ext cx="30480" cy="1599565"/>
          </a:xfrm>
          <a:custGeom>
            <a:avLst/>
            <a:gdLst/>
            <a:ahLst/>
            <a:cxnLst/>
            <a:rect l="l" t="t" r="r" b="b"/>
            <a:pathLst>
              <a:path w="30480" h="1599565">
                <a:moveTo>
                  <a:pt x="30480" y="1599008"/>
                </a:moveTo>
                <a:lnTo>
                  <a:pt x="0" y="1599008"/>
                </a:lnTo>
                <a:lnTo>
                  <a:pt x="0" y="0"/>
                </a:lnTo>
                <a:lnTo>
                  <a:pt x="30480" y="0"/>
                </a:lnTo>
                <a:lnTo>
                  <a:pt x="30480" y="1599008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422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95"/>
              </a:spcBef>
            </a:pPr>
            <a:r>
              <a:rPr sz="3900" spc="-165" dirty="0"/>
              <a:t>Methodology</a:t>
            </a:r>
            <a:r>
              <a:rPr sz="3900" spc="-190" dirty="0"/>
              <a:t> </a:t>
            </a:r>
            <a:r>
              <a:rPr sz="3900" spc="-245" dirty="0"/>
              <a:t>and</a:t>
            </a:r>
            <a:r>
              <a:rPr sz="3900" spc="-190" dirty="0"/>
              <a:t> </a:t>
            </a:r>
            <a:r>
              <a:rPr sz="3900" spc="-195" dirty="0"/>
              <a:t>Assessment</a:t>
            </a:r>
            <a:r>
              <a:rPr sz="3900" spc="-190" dirty="0"/>
              <a:t> </a:t>
            </a:r>
            <a:r>
              <a:rPr sz="3900" spc="-100" dirty="0"/>
              <a:t>Alignment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9541847" y="6046204"/>
            <a:ext cx="5025390" cy="74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 marR="5080" indent="-364490">
              <a:lnSpc>
                <a:spcPct val="135700"/>
              </a:lnSpc>
              <a:spcBef>
                <a:spcPts val="100"/>
              </a:spcBef>
            </a:pPr>
            <a:r>
              <a:rPr sz="1750" spc="-20" dirty="0">
                <a:latin typeface="Microsoft Sans Serif"/>
                <a:cs typeface="Microsoft Sans Serif"/>
              </a:rPr>
              <a:t>Figure</a:t>
            </a:r>
            <a:r>
              <a:rPr sz="1750" spc="1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2.</a:t>
            </a:r>
            <a:r>
              <a:rPr sz="1750" spc="15" dirty="0">
                <a:latin typeface="Microsoft Sans Serif"/>
                <a:cs typeface="Microsoft Sans Serif"/>
              </a:rPr>
              <a:t> </a:t>
            </a:r>
            <a:r>
              <a:rPr sz="1750" spc="-120" dirty="0">
                <a:latin typeface="Microsoft Sans Serif"/>
                <a:cs typeface="Microsoft Sans Serif"/>
              </a:rPr>
              <a:t>AROAS</a:t>
            </a:r>
            <a:r>
              <a:rPr sz="1750" spc="2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three-sprint</a:t>
            </a:r>
            <a:r>
              <a:rPr sz="1750" spc="1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workflow</a:t>
            </a:r>
            <a:r>
              <a:rPr sz="1750" spc="2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linking</a:t>
            </a:r>
            <a:r>
              <a:rPr sz="1750" spc="15" dirty="0">
                <a:latin typeface="Microsoft Sans Serif"/>
                <a:cs typeface="Microsoft Sans Serif"/>
              </a:rPr>
              <a:t> </a:t>
            </a:r>
            <a:r>
              <a:rPr sz="1750" spc="-20" dirty="0">
                <a:latin typeface="Microsoft Sans Serif"/>
                <a:cs typeface="Microsoft Sans Serif"/>
              </a:rPr>
              <a:t>each </a:t>
            </a:r>
            <a:r>
              <a:rPr sz="1750" dirty="0">
                <a:latin typeface="Microsoft Sans Serif"/>
                <a:cs typeface="Microsoft Sans Serif"/>
              </a:rPr>
              <a:t>development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sprint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with</a:t>
            </a:r>
            <a:r>
              <a:rPr sz="1750" spc="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verifiable</a:t>
            </a:r>
            <a:r>
              <a:rPr sz="1750" spc="25" dirty="0">
                <a:latin typeface="Microsoft Sans Serif"/>
                <a:cs typeface="Microsoft Sans Serif"/>
              </a:rPr>
              <a:t> </a:t>
            </a:r>
            <a:r>
              <a:rPr sz="1750" spc="-10" dirty="0">
                <a:latin typeface="Microsoft Sans Serif"/>
                <a:cs typeface="Microsoft Sans Serif"/>
              </a:rPr>
              <a:t>artefacts.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5754" y="7054123"/>
            <a:ext cx="210312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0" dirty="0">
                <a:latin typeface="Microsoft Sans Serif"/>
                <a:cs typeface="Microsoft Sans Serif"/>
              </a:rPr>
              <a:t>Source:</a:t>
            </a:r>
            <a:r>
              <a:rPr sz="1750" spc="-30" dirty="0">
                <a:latin typeface="Microsoft Sans Serif"/>
                <a:cs typeface="Microsoft Sans Serif"/>
              </a:rPr>
              <a:t> </a:t>
            </a:r>
            <a:r>
              <a:rPr sz="1750" dirty="0">
                <a:latin typeface="Microsoft Sans Serif"/>
                <a:cs typeface="Microsoft Sans Serif"/>
              </a:rPr>
              <a:t>Author</a:t>
            </a:r>
            <a:r>
              <a:rPr sz="1750" spc="-30" dirty="0">
                <a:latin typeface="Microsoft Sans Serif"/>
                <a:cs typeface="Microsoft Sans Serif"/>
              </a:rPr>
              <a:t> </a:t>
            </a:r>
            <a:r>
              <a:rPr sz="1750" spc="-20" dirty="0">
                <a:latin typeface="Microsoft Sans Serif"/>
                <a:cs typeface="Microsoft Sans Serif"/>
              </a:rPr>
              <a:t>Made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1090" y="1627720"/>
            <a:ext cx="8338184" cy="1229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30"/>
              </a:spcBef>
            </a:pP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three</a:t>
            </a:r>
            <a:r>
              <a:rPr sz="1750" spc="-10" dirty="0">
                <a:latin typeface="Microsoft Sans Serif"/>
                <a:cs typeface="Microsoft Sans Serif"/>
              </a:rPr>
              <a:t>‑</a:t>
            </a:r>
            <a:r>
              <a:rPr sz="1750" spc="-10" dirty="0">
                <a:latin typeface="Times New Roman"/>
                <a:cs typeface="Times New Roman"/>
              </a:rPr>
              <a:t>sprint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cadence—</a:t>
            </a:r>
            <a:r>
              <a:rPr sz="1750" dirty="0">
                <a:latin typeface="Times New Roman"/>
                <a:cs typeface="Times New Roman"/>
              </a:rPr>
              <a:t>(i)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acquire,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(ii)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normalise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rank,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(iii)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persist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notify—maps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to </a:t>
            </a:r>
            <a:r>
              <a:rPr sz="1750" dirty="0">
                <a:latin typeface="Times New Roman"/>
                <a:cs typeface="Times New Roman"/>
              </a:rPr>
              <a:t>assessed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artefacts: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sprint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1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produces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crawl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logs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with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robots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decisions;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sprint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2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outputs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TF– </a:t>
            </a:r>
            <a:r>
              <a:rPr sz="1750" dirty="0">
                <a:latin typeface="Times New Roman"/>
                <a:cs typeface="Times New Roman"/>
              </a:rPr>
              <a:t>IDF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weight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tables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top</a:t>
            </a:r>
            <a:r>
              <a:rPr sz="1750" dirty="0">
                <a:latin typeface="Microsoft Sans Serif"/>
                <a:cs typeface="Microsoft Sans Serif"/>
              </a:rPr>
              <a:t>‑</a:t>
            </a:r>
            <a:r>
              <a:rPr sz="1750" dirty="0">
                <a:latin typeface="Times New Roman"/>
                <a:cs typeface="Times New Roman"/>
              </a:rPr>
              <a:t>K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reports;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sprint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3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exports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Parquet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CSV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samples</a:t>
            </a:r>
            <a:r>
              <a:rPr sz="1750" spc="45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with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090" y="2840054"/>
            <a:ext cx="445008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  <a:tabLst>
                <a:tab pos="979169" algn="l"/>
                <a:tab pos="1577975" algn="l"/>
                <a:tab pos="2050414" algn="l"/>
                <a:tab pos="2613660" algn="l"/>
                <a:tab pos="3007360" algn="l"/>
                <a:tab pos="3289300" algn="l"/>
                <a:tab pos="4128135" algn="l"/>
              </a:tabLst>
            </a:pPr>
            <a:r>
              <a:rPr sz="1750" spc="-10" dirty="0">
                <a:latin typeface="Times New Roman"/>
                <a:cs typeface="Times New Roman"/>
              </a:rPr>
              <a:t>integrity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metadata.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Continuous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integration meta</a:t>
            </a:r>
            <a:r>
              <a:rPr sz="1750" spc="-10" dirty="0">
                <a:latin typeface="Microsoft Sans Serif"/>
                <a:cs typeface="Microsoft Sans Serif"/>
              </a:rPr>
              <a:t>‑</a:t>
            </a:r>
            <a:r>
              <a:rPr sz="1750" spc="-10" dirty="0">
                <a:latin typeface="Times New Roman"/>
                <a:cs typeface="Times New Roman"/>
              </a:rPr>
              <a:t>extraction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alongside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25" dirty="0">
                <a:latin typeface="Times New Roman"/>
                <a:cs typeface="Times New Roman"/>
              </a:rPr>
              <a:t>an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end</a:t>
            </a:r>
            <a:r>
              <a:rPr sz="1750" spc="-10" dirty="0">
                <a:latin typeface="Microsoft Sans Serif"/>
                <a:cs typeface="Microsoft Sans Serif"/>
              </a:rPr>
              <a:t>‑</a:t>
            </a:r>
            <a:r>
              <a:rPr sz="1750" spc="-10" dirty="0">
                <a:latin typeface="Times New Roman"/>
                <a:cs typeface="Times New Roman"/>
              </a:rPr>
              <a:t>to</a:t>
            </a:r>
            <a:r>
              <a:rPr sz="1750" spc="-10" dirty="0">
                <a:latin typeface="Microsoft Sans Serif"/>
                <a:cs typeface="Microsoft Sans Serif"/>
              </a:rPr>
              <a:t>‑</a:t>
            </a:r>
            <a:r>
              <a:rPr sz="1750" spc="-10" dirty="0">
                <a:latin typeface="Times New Roman"/>
                <a:cs typeface="Times New Roman"/>
              </a:rPr>
              <a:t>end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20" dirty="0">
                <a:latin typeface="Times New Roman"/>
                <a:cs typeface="Times New Roman"/>
              </a:rPr>
              <a:t>test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4665" y="2840054"/>
            <a:ext cx="3884929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marR="5080" indent="-154940">
              <a:lnSpc>
                <a:spcPct val="148500"/>
              </a:lnSpc>
              <a:spcBef>
                <a:spcPts val="100"/>
              </a:spcBef>
              <a:tabLst>
                <a:tab pos="608965" algn="l"/>
                <a:tab pos="782955" algn="l"/>
                <a:tab pos="1168400" algn="l"/>
                <a:tab pos="1473200" algn="l"/>
                <a:tab pos="1777364" algn="l"/>
                <a:tab pos="1829435" algn="l"/>
                <a:tab pos="2250440" algn="l"/>
                <a:tab pos="2637155" algn="l"/>
                <a:tab pos="3550285" algn="l"/>
              </a:tabLst>
            </a:pPr>
            <a:r>
              <a:rPr sz="1750" spc="-20" dirty="0">
                <a:latin typeface="Times New Roman"/>
                <a:cs typeface="Times New Roman"/>
              </a:rPr>
              <a:t>runs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20" dirty="0">
                <a:latin typeface="Times New Roman"/>
                <a:cs typeface="Times New Roman"/>
              </a:rPr>
              <a:t>unit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tests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25" dirty="0">
                <a:latin typeface="Times New Roman"/>
                <a:cs typeface="Times New Roman"/>
              </a:rPr>
              <a:t>for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tokenisation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25" dirty="0">
                <a:latin typeface="Times New Roman"/>
                <a:cs typeface="Times New Roman"/>
              </a:rPr>
              <a:t>and </a:t>
            </a:r>
            <a:r>
              <a:rPr sz="1750" spc="-20" dirty="0">
                <a:latin typeface="Times New Roman"/>
                <a:cs typeface="Times New Roman"/>
              </a:rPr>
              <a:t>from</a:t>
            </a:r>
            <a:r>
              <a:rPr sz="1750" dirty="0">
                <a:latin typeface="Times New Roman"/>
                <a:cs typeface="Times New Roman"/>
              </a:rPr>
              <a:t>		</a:t>
            </a:r>
            <a:r>
              <a:rPr sz="1750" spc="-10" dirty="0">
                <a:latin typeface="Times New Roman"/>
                <a:cs typeface="Times New Roman"/>
              </a:rPr>
              <a:t>query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25" dirty="0">
                <a:latin typeface="Times New Roman"/>
                <a:cs typeface="Times New Roman"/>
              </a:rPr>
              <a:t>to</a:t>
            </a:r>
            <a:r>
              <a:rPr sz="1750" dirty="0">
                <a:latin typeface="Times New Roman"/>
                <a:cs typeface="Times New Roman"/>
              </a:rPr>
              <a:t>		</a:t>
            </a:r>
            <a:r>
              <a:rPr sz="1750" spc="-10" dirty="0">
                <a:latin typeface="Times New Roman"/>
                <a:cs typeface="Times New Roman"/>
              </a:rPr>
              <a:t>export.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-10" dirty="0">
                <a:latin typeface="Times New Roman"/>
                <a:cs typeface="Times New Roman"/>
              </a:rPr>
              <a:t>Containerised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090" y="3636093"/>
            <a:ext cx="8338184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750" dirty="0">
                <a:latin typeface="Times New Roman"/>
                <a:cs typeface="Times New Roman"/>
              </a:rPr>
              <a:t>environments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constrain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runtime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variance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so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markers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reproduce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results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independently </a:t>
            </a:r>
            <a:r>
              <a:rPr sz="1750" dirty="0">
                <a:latin typeface="Times New Roman"/>
                <a:cs typeface="Times New Roman"/>
              </a:rPr>
              <a:t>(Boettiger,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2015;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Bernstein,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2014).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2611" y="5009513"/>
            <a:ext cx="8227059" cy="24218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65"/>
              </a:spcBef>
            </a:pPr>
            <a:r>
              <a:rPr sz="1750" dirty="0">
                <a:latin typeface="Times New Roman"/>
                <a:cs typeface="Times New Roman"/>
              </a:rPr>
              <a:t>Critically,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most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brittle</a:t>
            </a:r>
            <a:r>
              <a:rPr sz="1750" spc="1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component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dynamic</a:t>
            </a:r>
            <a:r>
              <a:rPr sz="1750" spc="1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rendering.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AROAS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minimises</a:t>
            </a:r>
            <a:r>
              <a:rPr sz="1750" spc="18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flakiness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explicit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waits</a:t>
            </a:r>
            <a:r>
              <a:rPr sz="1750" spc="2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domain</a:t>
            </a:r>
            <a:r>
              <a:rPr sz="1750" spc="2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gating,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but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acknowledges</a:t>
            </a:r>
            <a:r>
              <a:rPr sz="1750" spc="2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client</a:t>
            </a:r>
            <a:r>
              <a:rPr sz="1750" dirty="0">
                <a:latin typeface="Microsoft Sans Serif"/>
                <a:cs typeface="Microsoft Sans Serif"/>
              </a:rPr>
              <a:t>‑</a:t>
            </a:r>
            <a:r>
              <a:rPr sz="1750" dirty="0">
                <a:latin typeface="Times New Roman"/>
                <a:cs typeface="Times New Roman"/>
              </a:rPr>
              <a:t>side</a:t>
            </a:r>
            <a:r>
              <a:rPr sz="1750" spc="2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protection</a:t>
            </a:r>
            <a:r>
              <a:rPr sz="1750" spc="21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and </a:t>
            </a:r>
            <a:r>
              <a:rPr sz="1750" dirty="0">
                <a:latin typeface="Times New Roman"/>
                <a:cs typeface="Times New Roman"/>
              </a:rPr>
              <a:t>rate</a:t>
            </a:r>
            <a:r>
              <a:rPr sz="1750" dirty="0">
                <a:latin typeface="Microsoft Sans Serif"/>
                <a:cs typeface="Microsoft Sans Serif"/>
              </a:rPr>
              <a:t>‑</a:t>
            </a:r>
            <a:r>
              <a:rPr sz="1750" dirty="0">
                <a:latin typeface="Times New Roman"/>
                <a:cs typeface="Times New Roman"/>
              </a:rPr>
              <a:t>limits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may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still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reduce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recall.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quantified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fallback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strategy—</a:t>
            </a:r>
            <a:r>
              <a:rPr sz="1750" dirty="0">
                <a:latin typeface="Times New Roman"/>
                <a:cs typeface="Times New Roman"/>
              </a:rPr>
              <a:t>first</a:t>
            </a:r>
            <a:r>
              <a:rPr sz="1750" dirty="0">
                <a:latin typeface="Microsoft Sans Serif"/>
                <a:cs typeface="Microsoft Sans Serif"/>
              </a:rPr>
              <a:t>‑</a:t>
            </a:r>
            <a:r>
              <a:rPr sz="1750" dirty="0">
                <a:latin typeface="Times New Roman"/>
                <a:cs typeface="Times New Roman"/>
              </a:rPr>
              <a:t>party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APIs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where </a:t>
            </a:r>
            <a:r>
              <a:rPr sz="1750" dirty="0">
                <a:latin typeface="Times New Roman"/>
                <a:cs typeface="Times New Roman"/>
              </a:rPr>
              <a:t>policies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allow—reduces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ethical</a:t>
            </a:r>
            <a:r>
              <a:rPr sz="1750" spc="2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risk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2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variance.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2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evaluation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plan</a:t>
            </a:r>
            <a:r>
              <a:rPr sz="1750" spc="2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includes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ablations </a:t>
            </a:r>
            <a:r>
              <a:rPr sz="1750" dirty="0">
                <a:latin typeface="Times New Roman"/>
                <a:cs typeface="Times New Roman"/>
              </a:rPr>
              <a:t>(lexical</a:t>
            </a:r>
            <a:r>
              <a:rPr sz="1750" dirty="0">
                <a:latin typeface="Microsoft Sans Serif"/>
                <a:cs typeface="Microsoft Sans Serif"/>
              </a:rPr>
              <a:t>‑</a:t>
            </a:r>
            <a:r>
              <a:rPr sz="1750" dirty="0">
                <a:latin typeface="Times New Roman"/>
                <a:cs typeface="Times New Roman"/>
              </a:rPr>
              <a:t>only</a:t>
            </a:r>
            <a:r>
              <a:rPr sz="1750" spc="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vs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lexical+graph),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cost–benefit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analysis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Selenium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usage,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replication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of </a:t>
            </a:r>
            <a:r>
              <a:rPr sz="1750" dirty="0">
                <a:latin typeface="Times New Roman"/>
                <a:cs typeface="Times New Roman"/>
              </a:rPr>
              <a:t>ranking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stability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across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random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seeds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demonstrate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determinism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at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lexical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layer.</a:t>
            </a:r>
            <a:endParaRPr sz="17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6105" y="1755588"/>
            <a:ext cx="3091814" cy="43332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926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40"/>
              </a:spcBef>
            </a:pPr>
            <a:r>
              <a:rPr sz="3300" spc="-150" dirty="0"/>
              <a:t>Risk</a:t>
            </a:r>
            <a:r>
              <a:rPr sz="3300" spc="-160" dirty="0"/>
              <a:t> </a:t>
            </a:r>
            <a:r>
              <a:rPr sz="3300" spc="-110" dirty="0"/>
              <a:t>Analysis</a:t>
            </a:r>
            <a:r>
              <a:rPr sz="3300" spc="-155" dirty="0"/>
              <a:t> </a:t>
            </a:r>
            <a:r>
              <a:rPr sz="3300" spc="-190" dirty="0"/>
              <a:t>and</a:t>
            </a:r>
            <a:r>
              <a:rPr sz="3300" spc="-155" dirty="0"/>
              <a:t> </a:t>
            </a:r>
            <a:r>
              <a:rPr sz="3300" spc="-40" dirty="0"/>
              <a:t>Mitigations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649724" y="1595794"/>
            <a:ext cx="6581140" cy="3020695"/>
            <a:chOff x="649724" y="1595794"/>
            <a:chExt cx="6581140" cy="3020695"/>
          </a:xfrm>
        </p:grpSpPr>
        <p:sp>
          <p:nvSpPr>
            <p:cNvPr id="4" name="object 4"/>
            <p:cNvSpPr/>
            <p:nvPr/>
          </p:nvSpPr>
          <p:spPr>
            <a:xfrm>
              <a:off x="672584" y="1607224"/>
              <a:ext cx="6546850" cy="2997835"/>
            </a:xfrm>
            <a:custGeom>
              <a:avLst/>
              <a:gdLst/>
              <a:ahLst/>
              <a:cxnLst/>
              <a:rect l="l" t="t" r="r" b="b"/>
              <a:pathLst>
                <a:path w="6546850" h="2997835">
                  <a:moveTo>
                    <a:pt x="0" y="109739"/>
                  </a:moveTo>
                  <a:lnTo>
                    <a:pt x="8353" y="67743"/>
                  </a:lnTo>
                  <a:lnTo>
                    <a:pt x="32141" y="32141"/>
                  </a:lnTo>
                  <a:lnTo>
                    <a:pt x="67743" y="8353"/>
                  </a:lnTo>
                  <a:lnTo>
                    <a:pt x="109739" y="0"/>
                  </a:lnTo>
                  <a:lnTo>
                    <a:pt x="6436793" y="0"/>
                  </a:lnTo>
                  <a:lnTo>
                    <a:pt x="6478788" y="8353"/>
                  </a:lnTo>
                  <a:lnTo>
                    <a:pt x="6514390" y="32141"/>
                  </a:lnTo>
                  <a:lnTo>
                    <a:pt x="6538178" y="67743"/>
                  </a:lnTo>
                  <a:lnTo>
                    <a:pt x="6546533" y="109739"/>
                  </a:lnTo>
                  <a:lnTo>
                    <a:pt x="6546533" y="2887778"/>
                  </a:lnTo>
                  <a:lnTo>
                    <a:pt x="6538178" y="2929773"/>
                  </a:lnTo>
                  <a:lnTo>
                    <a:pt x="6514390" y="2965375"/>
                  </a:lnTo>
                  <a:lnTo>
                    <a:pt x="6478788" y="2989164"/>
                  </a:lnTo>
                  <a:lnTo>
                    <a:pt x="6436793" y="2997518"/>
                  </a:lnTo>
                  <a:lnTo>
                    <a:pt x="109739" y="2997518"/>
                  </a:lnTo>
                  <a:lnTo>
                    <a:pt x="67743" y="2989164"/>
                  </a:lnTo>
                  <a:lnTo>
                    <a:pt x="32141" y="2965375"/>
                  </a:lnTo>
                  <a:lnTo>
                    <a:pt x="8353" y="2929773"/>
                  </a:lnTo>
                  <a:lnTo>
                    <a:pt x="0" y="2887778"/>
                  </a:lnTo>
                  <a:lnTo>
                    <a:pt x="0" y="109739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9724" y="1607224"/>
              <a:ext cx="91440" cy="2997835"/>
            </a:xfrm>
            <a:custGeom>
              <a:avLst/>
              <a:gdLst/>
              <a:ahLst/>
              <a:cxnLst/>
              <a:rect l="l" t="t" r="r" b="b"/>
              <a:pathLst>
                <a:path w="91440" h="2997835">
                  <a:moveTo>
                    <a:pt x="45720" y="2997518"/>
                  </a:moveTo>
                  <a:lnTo>
                    <a:pt x="7532" y="2977084"/>
                  </a:lnTo>
                  <a:lnTo>
                    <a:pt x="0" y="2951798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2951798"/>
                  </a:lnTo>
                  <a:lnTo>
                    <a:pt x="71006" y="2989985"/>
                  </a:lnTo>
                  <a:lnTo>
                    <a:pt x="45720" y="2997518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3490" y="1763958"/>
            <a:ext cx="6073775" cy="2397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2200" spc="-120" dirty="0">
                <a:solidFill>
                  <a:srgbClr val="006FC0"/>
                </a:solidFill>
                <a:latin typeface="Arial MT"/>
                <a:cs typeface="Arial MT"/>
              </a:rPr>
              <a:t>Dynamic</a:t>
            </a: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006FC0"/>
                </a:solidFill>
                <a:latin typeface="Arial MT"/>
                <a:cs typeface="Arial MT"/>
              </a:rPr>
              <a:t>content</a:t>
            </a:r>
            <a:r>
              <a:rPr sz="2200" spc="-7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200" spc="-7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anti</a:t>
            </a:r>
            <a:r>
              <a:rPr sz="1900" spc="-10" dirty="0">
                <a:solidFill>
                  <a:srgbClr val="006FC0"/>
                </a:solidFill>
                <a:latin typeface="Lucida Sans Unicode"/>
                <a:cs typeface="Lucida Sans Unicode"/>
              </a:rPr>
              <a:t>‑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automation</a:t>
            </a:r>
            <a:endParaRPr sz="2200">
              <a:latin typeface="Arial MT"/>
              <a:cs typeface="Arial MT"/>
            </a:endParaRPr>
          </a:p>
          <a:p>
            <a:pPr marL="12700" marR="5080" algn="just">
              <a:lnSpc>
                <a:spcPct val="150400"/>
              </a:lnSpc>
              <a:spcBef>
                <a:spcPts val="665"/>
              </a:spcBef>
            </a:pPr>
            <a:r>
              <a:rPr sz="1700" dirty="0">
                <a:latin typeface="Times New Roman"/>
                <a:cs typeface="Times New Roman"/>
              </a:rPr>
              <a:t>Client</a:t>
            </a:r>
            <a:r>
              <a:rPr sz="1700" dirty="0">
                <a:latin typeface="Microsoft Sans Serif"/>
                <a:cs typeface="Microsoft Sans Serif"/>
              </a:rPr>
              <a:t>‑</a:t>
            </a:r>
            <a:r>
              <a:rPr sz="1700" dirty="0">
                <a:latin typeface="Times New Roman"/>
                <a:cs typeface="Times New Roman"/>
              </a:rPr>
              <a:t>side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hydration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bot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defences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suppress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recall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inflate </a:t>
            </a:r>
            <a:r>
              <a:rPr sz="1700" dirty="0">
                <a:latin typeface="Times New Roman"/>
                <a:cs typeface="Times New Roman"/>
              </a:rPr>
              <a:t>latency.</a:t>
            </a:r>
            <a:r>
              <a:rPr sz="1700" spc="29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Mitigation:</a:t>
            </a:r>
            <a:r>
              <a:rPr sz="1700" spc="29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semantic</a:t>
            </a:r>
            <a:r>
              <a:rPr sz="1700" spc="290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explicit</a:t>
            </a:r>
            <a:r>
              <a:rPr sz="1700" spc="295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waits,</a:t>
            </a:r>
            <a:r>
              <a:rPr sz="1700" spc="290" dirty="0">
                <a:latin typeface="Times New Roman"/>
                <a:cs typeface="Times New Roman"/>
              </a:rPr>
              <a:t>   </a:t>
            </a:r>
            <a:r>
              <a:rPr sz="1700" spc="-10" dirty="0">
                <a:latin typeface="Times New Roman"/>
                <a:cs typeface="Times New Roman"/>
              </a:rPr>
              <a:t>conservative </a:t>
            </a:r>
            <a:r>
              <a:rPr sz="1700" dirty="0">
                <a:latin typeface="Times New Roman"/>
                <a:cs typeface="Times New Roman"/>
              </a:rPr>
              <a:t>concurrency,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and,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where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permitted,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API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fallbacks.</a:t>
            </a:r>
            <a:r>
              <a:rPr sz="1700" spc="35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Residual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spc="-10" dirty="0">
                <a:latin typeface="Times New Roman"/>
                <a:cs typeface="Times New Roman"/>
              </a:rPr>
              <a:t>risk: </a:t>
            </a:r>
            <a:r>
              <a:rPr sz="1700" dirty="0">
                <a:latin typeface="Times New Roman"/>
                <a:cs typeface="Times New Roman"/>
              </a:rPr>
              <a:t>selective</a:t>
            </a:r>
            <a:r>
              <a:rPr sz="1700" spc="48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blindness</a:t>
            </a:r>
            <a:r>
              <a:rPr sz="1700" spc="4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4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sources</a:t>
            </a:r>
            <a:r>
              <a:rPr sz="1700" spc="4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48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block</a:t>
            </a:r>
            <a:r>
              <a:rPr sz="1700" spc="4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automation.</a:t>
            </a:r>
            <a:r>
              <a:rPr sz="1700" spc="4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Evaluation: </a:t>
            </a:r>
            <a:r>
              <a:rPr sz="1700" dirty="0">
                <a:latin typeface="Times New Roman"/>
                <a:cs typeface="Times New Roman"/>
              </a:rPr>
              <a:t>coverage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tracking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domain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monthly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audits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missed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sources.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88422" y="1595794"/>
            <a:ext cx="6581140" cy="3020695"/>
            <a:chOff x="7388422" y="1595794"/>
            <a:chExt cx="6581140" cy="3020695"/>
          </a:xfrm>
        </p:grpSpPr>
        <p:sp>
          <p:nvSpPr>
            <p:cNvPr id="8" name="object 8"/>
            <p:cNvSpPr/>
            <p:nvPr/>
          </p:nvSpPr>
          <p:spPr>
            <a:xfrm>
              <a:off x="7411283" y="1607224"/>
              <a:ext cx="6546850" cy="2997835"/>
            </a:xfrm>
            <a:custGeom>
              <a:avLst/>
              <a:gdLst/>
              <a:ahLst/>
              <a:cxnLst/>
              <a:rect l="l" t="t" r="r" b="b"/>
              <a:pathLst>
                <a:path w="6546850" h="2997835">
                  <a:moveTo>
                    <a:pt x="0" y="109739"/>
                  </a:moveTo>
                  <a:lnTo>
                    <a:pt x="8353" y="67743"/>
                  </a:lnTo>
                  <a:lnTo>
                    <a:pt x="32141" y="32141"/>
                  </a:lnTo>
                  <a:lnTo>
                    <a:pt x="67743" y="8353"/>
                  </a:lnTo>
                  <a:lnTo>
                    <a:pt x="109739" y="0"/>
                  </a:lnTo>
                  <a:lnTo>
                    <a:pt x="6436793" y="0"/>
                  </a:lnTo>
                  <a:lnTo>
                    <a:pt x="6478788" y="8353"/>
                  </a:lnTo>
                  <a:lnTo>
                    <a:pt x="6514390" y="32141"/>
                  </a:lnTo>
                  <a:lnTo>
                    <a:pt x="6538178" y="67743"/>
                  </a:lnTo>
                  <a:lnTo>
                    <a:pt x="6546533" y="109739"/>
                  </a:lnTo>
                  <a:lnTo>
                    <a:pt x="6546533" y="2887778"/>
                  </a:lnTo>
                  <a:lnTo>
                    <a:pt x="6538178" y="2929773"/>
                  </a:lnTo>
                  <a:lnTo>
                    <a:pt x="6514390" y="2965375"/>
                  </a:lnTo>
                  <a:lnTo>
                    <a:pt x="6478788" y="2989164"/>
                  </a:lnTo>
                  <a:lnTo>
                    <a:pt x="6436793" y="2997518"/>
                  </a:lnTo>
                  <a:lnTo>
                    <a:pt x="109739" y="2997518"/>
                  </a:lnTo>
                  <a:lnTo>
                    <a:pt x="67743" y="2989164"/>
                  </a:lnTo>
                  <a:lnTo>
                    <a:pt x="32141" y="2965375"/>
                  </a:lnTo>
                  <a:lnTo>
                    <a:pt x="8353" y="2929773"/>
                  </a:lnTo>
                  <a:lnTo>
                    <a:pt x="0" y="2887778"/>
                  </a:lnTo>
                  <a:lnTo>
                    <a:pt x="0" y="109739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88422" y="1607224"/>
              <a:ext cx="91440" cy="2997835"/>
            </a:xfrm>
            <a:custGeom>
              <a:avLst/>
              <a:gdLst/>
              <a:ahLst/>
              <a:cxnLst/>
              <a:rect l="l" t="t" r="r" b="b"/>
              <a:pathLst>
                <a:path w="91440" h="2997835">
                  <a:moveTo>
                    <a:pt x="45720" y="2997518"/>
                  </a:moveTo>
                  <a:lnTo>
                    <a:pt x="7532" y="2977084"/>
                  </a:lnTo>
                  <a:lnTo>
                    <a:pt x="0" y="2951798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2951798"/>
                  </a:lnTo>
                  <a:lnTo>
                    <a:pt x="71006" y="2989985"/>
                  </a:lnTo>
                  <a:lnTo>
                    <a:pt x="45720" y="2997518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82190" y="1763958"/>
            <a:ext cx="170243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spc="-110" dirty="0">
                <a:solidFill>
                  <a:srgbClr val="006FC0"/>
                </a:solidFill>
                <a:latin typeface="Arial MT"/>
                <a:cs typeface="Arial MT"/>
              </a:rPr>
              <a:t>Cost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006FC0"/>
                </a:solidFill>
                <a:latin typeface="Arial MT"/>
                <a:cs typeface="Arial MT"/>
              </a:rPr>
              <a:t>scale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9724" y="4785479"/>
            <a:ext cx="6581140" cy="2713355"/>
            <a:chOff x="649724" y="4785479"/>
            <a:chExt cx="6581140" cy="2713355"/>
          </a:xfrm>
        </p:grpSpPr>
        <p:sp>
          <p:nvSpPr>
            <p:cNvPr id="12" name="object 12"/>
            <p:cNvSpPr/>
            <p:nvPr/>
          </p:nvSpPr>
          <p:spPr>
            <a:xfrm>
              <a:off x="672584" y="4796909"/>
              <a:ext cx="6546850" cy="2690495"/>
            </a:xfrm>
            <a:custGeom>
              <a:avLst/>
              <a:gdLst/>
              <a:ahLst/>
              <a:cxnLst/>
              <a:rect l="l" t="t" r="r" b="b"/>
              <a:pathLst>
                <a:path w="6546850" h="2690495">
                  <a:moveTo>
                    <a:pt x="0" y="109729"/>
                  </a:moveTo>
                  <a:lnTo>
                    <a:pt x="8352" y="67737"/>
                  </a:lnTo>
                  <a:lnTo>
                    <a:pt x="32138" y="32138"/>
                  </a:lnTo>
                  <a:lnTo>
                    <a:pt x="67737" y="8352"/>
                  </a:lnTo>
                  <a:lnTo>
                    <a:pt x="109729" y="0"/>
                  </a:lnTo>
                  <a:lnTo>
                    <a:pt x="6436803" y="0"/>
                  </a:lnTo>
                  <a:lnTo>
                    <a:pt x="6478794" y="8352"/>
                  </a:lnTo>
                  <a:lnTo>
                    <a:pt x="6514393" y="32138"/>
                  </a:lnTo>
                  <a:lnTo>
                    <a:pt x="6538179" y="67737"/>
                  </a:lnTo>
                  <a:lnTo>
                    <a:pt x="6546533" y="109729"/>
                  </a:lnTo>
                  <a:lnTo>
                    <a:pt x="6546533" y="2580369"/>
                  </a:lnTo>
                  <a:lnTo>
                    <a:pt x="6538179" y="2622360"/>
                  </a:lnTo>
                  <a:lnTo>
                    <a:pt x="6514393" y="2657958"/>
                  </a:lnTo>
                  <a:lnTo>
                    <a:pt x="6478794" y="2681745"/>
                  </a:lnTo>
                  <a:lnTo>
                    <a:pt x="6436803" y="2690097"/>
                  </a:lnTo>
                  <a:lnTo>
                    <a:pt x="109729" y="2690097"/>
                  </a:lnTo>
                  <a:lnTo>
                    <a:pt x="67737" y="2681745"/>
                  </a:lnTo>
                  <a:lnTo>
                    <a:pt x="32138" y="2657958"/>
                  </a:lnTo>
                  <a:lnTo>
                    <a:pt x="8352" y="2622360"/>
                  </a:lnTo>
                  <a:lnTo>
                    <a:pt x="0" y="2580369"/>
                  </a:lnTo>
                  <a:lnTo>
                    <a:pt x="0" y="109729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9724" y="4796909"/>
              <a:ext cx="91440" cy="2690495"/>
            </a:xfrm>
            <a:custGeom>
              <a:avLst/>
              <a:gdLst/>
              <a:ahLst/>
              <a:cxnLst/>
              <a:rect l="l" t="t" r="r" b="b"/>
              <a:pathLst>
                <a:path w="91440" h="2690495">
                  <a:moveTo>
                    <a:pt x="45720" y="2690097"/>
                  </a:moveTo>
                  <a:lnTo>
                    <a:pt x="7532" y="2669664"/>
                  </a:lnTo>
                  <a:lnTo>
                    <a:pt x="0" y="2644378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2644378"/>
                  </a:lnTo>
                  <a:lnTo>
                    <a:pt x="71006" y="2682565"/>
                  </a:lnTo>
                  <a:lnTo>
                    <a:pt x="45720" y="2690097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43490" y="4953642"/>
            <a:ext cx="6073775" cy="25152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2200" spc="-80" dirty="0">
                <a:solidFill>
                  <a:srgbClr val="006FC0"/>
                </a:solidFill>
                <a:latin typeface="Arial MT"/>
                <a:cs typeface="Arial MT"/>
              </a:rPr>
              <a:t>Quality</a:t>
            </a:r>
            <a:r>
              <a:rPr sz="22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noise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200" spc="-10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incentives</a:t>
            </a:r>
            <a:endParaRPr sz="2200">
              <a:latin typeface="Arial MT"/>
              <a:cs typeface="Arial MT"/>
            </a:endParaRPr>
          </a:p>
          <a:p>
            <a:pPr marL="12700" marR="5080" algn="just">
              <a:lnSpc>
                <a:spcPct val="150300"/>
              </a:lnSpc>
              <a:spcBef>
                <a:spcPts val="705"/>
              </a:spcBef>
            </a:pPr>
            <a:r>
              <a:rPr sz="1500" dirty="0">
                <a:latin typeface="Times New Roman"/>
                <a:cs typeface="Times New Roman"/>
              </a:rPr>
              <a:t>Expanded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volume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publish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perish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incentives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increase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risk</a:t>
            </a:r>
            <a:r>
              <a:rPr sz="1500" spc="140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Times New Roman"/>
                <a:cs typeface="Times New Roman"/>
              </a:rPr>
              <a:t>of </a:t>
            </a:r>
            <a:r>
              <a:rPr sz="1500" dirty="0">
                <a:latin typeface="Times New Roman"/>
                <a:cs typeface="Times New Roman"/>
              </a:rPr>
              <a:t>low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quality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outputs.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Mitigation: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combine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lexical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evidence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bounded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graph </a:t>
            </a:r>
            <a:r>
              <a:rPr sz="1500" dirty="0">
                <a:latin typeface="Times New Roman"/>
                <a:cs typeface="Times New Roman"/>
              </a:rPr>
              <a:t>features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authorship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centrality)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provenance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checks.</a:t>
            </a:r>
            <a:r>
              <a:rPr sz="1500" spc="2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Risk: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amplifying </a:t>
            </a:r>
            <a:r>
              <a:rPr sz="1500" dirty="0">
                <a:latin typeface="Times New Roman"/>
                <a:cs typeface="Times New Roman"/>
              </a:rPr>
              <a:t>prolific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but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low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quality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hubs.</a:t>
            </a:r>
            <a:r>
              <a:rPr sz="1500" spc="3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Counter</a:t>
            </a:r>
            <a:r>
              <a:rPr sz="1500" dirty="0">
                <a:latin typeface="Microsoft Sans Serif"/>
                <a:cs typeface="Microsoft Sans Serif"/>
              </a:rPr>
              <a:t>‑</a:t>
            </a:r>
            <a:r>
              <a:rPr sz="1500" dirty="0">
                <a:latin typeface="Times New Roman"/>
                <a:cs typeface="Times New Roman"/>
              </a:rPr>
              <a:t>measure: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cap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graph</a:t>
            </a:r>
            <a:r>
              <a:rPr sz="1500" spc="3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weights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9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run </a:t>
            </a:r>
            <a:r>
              <a:rPr sz="1500" dirty="0">
                <a:latin typeface="Times New Roman"/>
                <a:cs typeface="Times New Roman"/>
              </a:rPr>
              <a:t>sensitivity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analyses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lexical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dominance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ranking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(Newman, 2010).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88422" y="4785479"/>
            <a:ext cx="6581140" cy="2713355"/>
            <a:chOff x="7388422" y="4785479"/>
            <a:chExt cx="6581140" cy="2713355"/>
          </a:xfrm>
        </p:grpSpPr>
        <p:sp>
          <p:nvSpPr>
            <p:cNvPr id="16" name="object 16"/>
            <p:cNvSpPr/>
            <p:nvPr/>
          </p:nvSpPr>
          <p:spPr>
            <a:xfrm>
              <a:off x="7411283" y="4796909"/>
              <a:ext cx="6546850" cy="2690495"/>
            </a:xfrm>
            <a:custGeom>
              <a:avLst/>
              <a:gdLst/>
              <a:ahLst/>
              <a:cxnLst/>
              <a:rect l="l" t="t" r="r" b="b"/>
              <a:pathLst>
                <a:path w="6546850" h="2690495">
                  <a:moveTo>
                    <a:pt x="0" y="109729"/>
                  </a:moveTo>
                  <a:lnTo>
                    <a:pt x="8352" y="67737"/>
                  </a:lnTo>
                  <a:lnTo>
                    <a:pt x="32138" y="32138"/>
                  </a:lnTo>
                  <a:lnTo>
                    <a:pt x="67737" y="8352"/>
                  </a:lnTo>
                  <a:lnTo>
                    <a:pt x="109729" y="0"/>
                  </a:lnTo>
                  <a:lnTo>
                    <a:pt x="6436803" y="0"/>
                  </a:lnTo>
                  <a:lnTo>
                    <a:pt x="6478794" y="8352"/>
                  </a:lnTo>
                  <a:lnTo>
                    <a:pt x="6514393" y="32138"/>
                  </a:lnTo>
                  <a:lnTo>
                    <a:pt x="6538179" y="67737"/>
                  </a:lnTo>
                  <a:lnTo>
                    <a:pt x="6546533" y="109729"/>
                  </a:lnTo>
                  <a:lnTo>
                    <a:pt x="6546533" y="2580369"/>
                  </a:lnTo>
                  <a:lnTo>
                    <a:pt x="6538179" y="2622360"/>
                  </a:lnTo>
                  <a:lnTo>
                    <a:pt x="6514393" y="2657958"/>
                  </a:lnTo>
                  <a:lnTo>
                    <a:pt x="6478794" y="2681745"/>
                  </a:lnTo>
                  <a:lnTo>
                    <a:pt x="6436803" y="2690097"/>
                  </a:lnTo>
                  <a:lnTo>
                    <a:pt x="109729" y="2690097"/>
                  </a:lnTo>
                  <a:lnTo>
                    <a:pt x="67737" y="2681745"/>
                  </a:lnTo>
                  <a:lnTo>
                    <a:pt x="32138" y="2657958"/>
                  </a:lnTo>
                  <a:lnTo>
                    <a:pt x="8352" y="2622360"/>
                  </a:lnTo>
                  <a:lnTo>
                    <a:pt x="0" y="2580369"/>
                  </a:lnTo>
                  <a:lnTo>
                    <a:pt x="0" y="109729"/>
                  </a:lnTo>
                  <a:close/>
                </a:path>
              </a:pathLst>
            </a:custGeom>
            <a:ln w="2286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88422" y="4796909"/>
              <a:ext cx="91440" cy="2690495"/>
            </a:xfrm>
            <a:custGeom>
              <a:avLst/>
              <a:gdLst/>
              <a:ahLst/>
              <a:cxnLst/>
              <a:rect l="l" t="t" r="r" b="b"/>
              <a:pathLst>
                <a:path w="91440" h="2690495">
                  <a:moveTo>
                    <a:pt x="45720" y="2690097"/>
                  </a:moveTo>
                  <a:lnTo>
                    <a:pt x="7532" y="2669664"/>
                  </a:lnTo>
                  <a:lnTo>
                    <a:pt x="0" y="2644378"/>
                  </a:lnTo>
                  <a:lnTo>
                    <a:pt x="0" y="45720"/>
                  </a:lnTo>
                  <a:lnTo>
                    <a:pt x="20433" y="7532"/>
                  </a:lnTo>
                  <a:lnTo>
                    <a:pt x="45720" y="0"/>
                  </a:lnTo>
                  <a:lnTo>
                    <a:pt x="54842" y="836"/>
                  </a:lnTo>
                  <a:lnTo>
                    <a:pt x="88092" y="28168"/>
                  </a:lnTo>
                  <a:lnTo>
                    <a:pt x="91440" y="45720"/>
                  </a:lnTo>
                  <a:lnTo>
                    <a:pt x="91440" y="2644378"/>
                  </a:lnTo>
                  <a:lnTo>
                    <a:pt x="71006" y="2682565"/>
                  </a:lnTo>
                  <a:lnTo>
                    <a:pt x="45720" y="2690097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30"/>
              </a:spcBef>
            </a:pPr>
            <a:r>
              <a:rPr dirty="0"/>
              <a:t>Full</a:t>
            </a:r>
            <a:r>
              <a:rPr dirty="0">
                <a:latin typeface="Microsoft Sans Serif"/>
                <a:cs typeface="Microsoft Sans Serif"/>
              </a:rPr>
              <a:t>‑</a:t>
            </a:r>
            <a:r>
              <a:rPr dirty="0"/>
              <a:t>text</a:t>
            </a:r>
            <a:r>
              <a:rPr spc="265" dirty="0"/>
              <a:t> </a:t>
            </a:r>
            <a:r>
              <a:rPr dirty="0"/>
              <a:t>hoarding</a:t>
            </a:r>
            <a:r>
              <a:rPr spc="270" dirty="0"/>
              <a:t> </a:t>
            </a:r>
            <a:r>
              <a:rPr dirty="0"/>
              <a:t>is</a:t>
            </a:r>
            <a:r>
              <a:rPr spc="270" dirty="0"/>
              <a:t> </a:t>
            </a:r>
            <a:r>
              <a:rPr dirty="0"/>
              <a:t>costly</a:t>
            </a:r>
            <a:r>
              <a:rPr spc="270" dirty="0"/>
              <a:t> </a:t>
            </a:r>
            <a:r>
              <a:rPr dirty="0"/>
              <a:t>and</a:t>
            </a:r>
            <a:r>
              <a:rPr spc="270" dirty="0"/>
              <a:t> </a:t>
            </a:r>
            <a:r>
              <a:rPr dirty="0"/>
              <a:t>unnecessary</a:t>
            </a:r>
            <a:r>
              <a:rPr spc="270" dirty="0"/>
              <a:t> </a:t>
            </a:r>
            <a:r>
              <a:rPr dirty="0"/>
              <a:t>for</a:t>
            </a:r>
            <a:r>
              <a:rPr spc="270" dirty="0"/>
              <a:t> </a:t>
            </a:r>
            <a:r>
              <a:rPr dirty="0"/>
              <a:t>discovery.</a:t>
            </a:r>
            <a:r>
              <a:rPr spc="270" dirty="0"/>
              <a:t> </a:t>
            </a:r>
            <a:r>
              <a:rPr spc="-10" dirty="0"/>
              <a:t>Mitigation: </a:t>
            </a:r>
            <a:r>
              <a:rPr dirty="0"/>
              <a:t>store</a:t>
            </a:r>
            <a:r>
              <a:rPr spc="-10" dirty="0"/>
              <a:t> </a:t>
            </a:r>
            <a:r>
              <a:rPr dirty="0"/>
              <a:t>normalised</a:t>
            </a:r>
            <a:r>
              <a:rPr spc="-10" dirty="0"/>
              <a:t> </a:t>
            </a:r>
            <a:r>
              <a:rPr dirty="0"/>
              <a:t>metadata</a:t>
            </a:r>
            <a:r>
              <a:rPr spc="-10" dirty="0"/>
              <a:t> </a:t>
            </a:r>
            <a:r>
              <a:rPr dirty="0"/>
              <a:t>plus</a:t>
            </a:r>
            <a:r>
              <a:rPr spc="-10" dirty="0"/>
              <a:t> </a:t>
            </a:r>
            <a:r>
              <a:rPr dirty="0"/>
              <a:t>lawful</a:t>
            </a:r>
            <a:r>
              <a:rPr spc="-10" dirty="0"/>
              <a:t> </a:t>
            </a:r>
            <a:r>
              <a:rPr dirty="0"/>
              <a:t>pointers;</a:t>
            </a:r>
            <a:r>
              <a:rPr spc="-5" dirty="0"/>
              <a:t> </a:t>
            </a:r>
            <a:r>
              <a:rPr dirty="0"/>
              <a:t>employ</a:t>
            </a:r>
            <a:r>
              <a:rPr spc="-10" dirty="0"/>
              <a:t> </a:t>
            </a:r>
            <a:r>
              <a:rPr dirty="0"/>
              <a:t>columnar</a:t>
            </a:r>
            <a:r>
              <a:rPr spc="-10" dirty="0"/>
              <a:t> Parquet </a:t>
            </a:r>
            <a:r>
              <a:rPr dirty="0"/>
              <a:t>for</a:t>
            </a:r>
            <a:r>
              <a:rPr spc="105" dirty="0"/>
              <a:t> </a:t>
            </a:r>
            <a:r>
              <a:rPr dirty="0"/>
              <a:t>analytics.</a:t>
            </a:r>
            <a:r>
              <a:rPr spc="105" dirty="0"/>
              <a:t> </a:t>
            </a:r>
            <a:r>
              <a:rPr dirty="0"/>
              <a:t>Statistics</a:t>
            </a:r>
            <a:r>
              <a:rPr spc="110" dirty="0"/>
              <a:t> </a:t>
            </a:r>
            <a:r>
              <a:rPr dirty="0"/>
              <a:t>from</a:t>
            </a:r>
            <a:r>
              <a:rPr spc="105" dirty="0"/>
              <a:t> </a:t>
            </a:r>
            <a:r>
              <a:rPr dirty="0"/>
              <a:t>production</a:t>
            </a:r>
            <a:r>
              <a:rPr spc="110" dirty="0"/>
              <a:t> </a:t>
            </a:r>
            <a:r>
              <a:rPr dirty="0"/>
              <a:t>teams</a:t>
            </a:r>
            <a:r>
              <a:rPr spc="105" dirty="0"/>
              <a:t> </a:t>
            </a:r>
            <a:r>
              <a:rPr dirty="0"/>
              <a:t>commonly</a:t>
            </a:r>
            <a:r>
              <a:rPr spc="105" dirty="0"/>
              <a:t> </a:t>
            </a:r>
            <a:r>
              <a:rPr dirty="0"/>
              <a:t>report</a:t>
            </a:r>
            <a:r>
              <a:rPr spc="110" dirty="0"/>
              <a:t> </a:t>
            </a:r>
            <a:r>
              <a:rPr spc="-10" dirty="0"/>
              <a:t>2×–10× </a:t>
            </a:r>
            <a:r>
              <a:rPr dirty="0"/>
              <a:t>scan</a:t>
            </a:r>
            <a:r>
              <a:rPr dirty="0">
                <a:latin typeface="Microsoft Sans Serif"/>
                <a:cs typeface="Microsoft Sans Serif"/>
              </a:rPr>
              <a:t>‑</a:t>
            </a:r>
            <a:r>
              <a:rPr dirty="0"/>
              <a:t>time</a:t>
            </a:r>
            <a:r>
              <a:rPr spc="459" dirty="0"/>
              <a:t> </a:t>
            </a:r>
            <a:r>
              <a:rPr dirty="0"/>
              <a:t>improvements</a:t>
            </a:r>
            <a:r>
              <a:rPr spc="465" dirty="0"/>
              <a:t> </a:t>
            </a:r>
            <a:r>
              <a:rPr dirty="0"/>
              <a:t>versus</a:t>
            </a:r>
            <a:r>
              <a:rPr spc="465" dirty="0"/>
              <a:t> </a:t>
            </a:r>
            <a:r>
              <a:rPr dirty="0"/>
              <a:t>compressed</a:t>
            </a:r>
            <a:r>
              <a:rPr spc="465" dirty="0"/>
              <a:t> </a:t>
            </a:r>
            <a:r>
              <a:rPr dirty="0"/>
              <a:t>CSV</a:t>
            </a:r>
            <a:r>
              <a:rPr spc="465" dirty="0"/>
              <a:t> </a:t>
            </a:r>
            <a:r>
              <a:rPr dirty="0"/>
              <a:t>and</a:t>
            </a:r>
            <a:r>
              <a:rPr spc="459" dirty="0"/>
              <a:t> </a:t>
            </a:r>
            <a:r>
              <a:rPr dirty="0"/>
              <a:t>2×–5×</a:t>
            </a:r>
            <a:r>
              <a:rPr spc="465" dirty="0"/>
              <a:t> </a:t>
            </a:r>
            <a:r>
              <a:rPr spc="-10" dirty="0"/>
              <a:t>storage </a:t>
            </a:r>
            <a:r>
              <a:rPr dirty="0"/>
              <a:t>reductions;</a:t>
            </a:r>
            <a:r>
              <a:rPr spc="75" dirty="0"/>
              <a:t> </a:t>
            </a:r>
            <a:r>
              <a:rPr dirty="0"/>
              <a:t>AROAS</a:t>
            </a:r>
            <a:r>
              <a:rPr spc="80" dirty="0"/>
              <a:t> </a:t>
            </a:r>
            <a:r>
              <a:rPr dirty="0"/>
              <a:t>reproduces</a:t>
            </a:r>
            <a:r>
              <a:rPr spc="80" dirty="0"/>
              <a:t> </a:t>
            </a:r>
            <a:r>
              <a:rPr dirty="0"/>
              <a:t>these</a:t>
            </a:r>
            <a:r>
              <a:rPr spc="80" dirty="0"/>
              <a:t> </a:t>
            </a:r>
            <a:r>
              <a:rPr dirty="0"/>
              <a:t>figures</a:t>
            </a:r>
            <a:r>
              <a:rPr spc="80" dirty="0"/>
              <a:t> </a:t>
            </a:r>
            <a:r>
              <a:rPr dirty="0"/>
              <a:t>for</a:t>
            </a:r>
            <a:r>
              <a:rPr spc="80" dirty="0"/>
              <a:t> </a:t>
            </a:r>
            <a:r>
              <a:rPr dirty="0"/>
              <a:t>its</a:t>
            </a:r>
            <a:r>
              <a:rPr spc="80" dirty="0"/>
              <a:t> </a:t>
            </a:r>
            <a:r>
              <a:rPr dirty="0"/>
              <a:t>specific</a:t>
            </a:r>
            <a:r>
              <a:rPr spc="80" dirty="0"/>
              <a:t> </a:t>
            </a:r>
            <a:r>
              <a:rPr dirty="0"/>
              <a:t>workload</a:t>
            </a:r>
            <a:r>
              <a:rPr spc="80" dirty="0"/>
              <a:t> </a:t>
            </a:r>
            <a:r>
              <a:rPr spc="-25" dirty="0"/>
              <a:t>to </a:t>
            </a:r>
            <a:r>
              <a:rPr dirty="0"/>
              <a:t>avoid</a:t>
            </a:r>
            <a:r>
              <a:rPr spc="-40" dirty="0"/>
              <a:t> </a:t>
            </a:r>
            <a:r>
              <a:rPr spc="-10" dirty="0"/>
              <a:t>over</a:t>
            </a:r>
            <a:r>
              <a:rPr spc="-10" dirty="0">
                <a:latin typeface="Microsoft Sans Serif"/>
                <a:cs typeface="Microsoft Sans Serif"/>
              </a:rPr>
              <a:t>‑</a:t>
            </a:r>
            <a:r>
              <a:rPr spc="-10" dirty="0"/>
              <a:t>claiming</a:t>
            </a:r>
            <a:r>
              <a:rPr spc="-40" dirty="0"/>
              <a:t> </a:t>
            </a:r>
            <a:r>
              <a:rPr dirty="0"/>
              <a:t>(Apache</a:t>
            </a:r>
            <a:r>
              <a:rPr spc="-40" dirty="0"/>
              <a:t> </a:t>
            </a:r>
            <a:r>
              <a:rPr dirty="0"/>
              <a:t>Parquet,</a:t>
            </a:r>
            <a:r>
              <a:rPr spc="-40" dirty="0"/>
              <a:t> </a:t>
            </a:r>
            <a:r>
              <a:rPr dirty="0"/>
              <a:t>2024;</a:t>
            </a:r>
            <a:r>
              <a:rPr spc="-40" dirty="0"/>
              <a:t> </a:t>
            </a:r>
            <a:r>
              <a:rPr dirty="0"/>
              <a:t>AWS,</a:t>
            </a:r>
            <a:r>
              <a:rPr spc="-40" dirty="0"/>
              <a:t> </a:t>
            </a:r>
            <a:r>
              <a:rPr spc="-10" dirty="0"/>
              <a:t>2024).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pc="-10" dirty="0"/>
          </a:p>
          <a:p>
            <a:pPr marL="12700" algn="just">
              <a:lnSpc>
                <a:spcPct val="100000"/>
              </a:lnSpc>
            </a:pP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Fairness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Arial MT"/>
                <a:cs typeface="Arial MT"/>
              </a:rPr>
              <a:t>and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coverage</a:t>
            </a:r>
            <a:endParaRPr sz="2200">
              <a:latin typeface="Arial MT"/>
              <a:cs typeface="Arial MT"/>
            </a:endParaRPr>
          </a:p>
          <a:p>
            <a:pPr marL="12700" marR="5080" algn="just">
              <a:lnSpc>
                <a:spcPct val="150000"/>
              </a:lnSpc>
              <a:spcBef>
                <a:spcPts val="710"/>
              </a:spcBef>
            </a:pPr>
            <a:r>
              <a:rPr sz="1700" dirty="0"/>
              <a:t>OA</a:t>
            </a:r>
            <a:r>
              <a:rPr sz="1700" spc="385" dirty="0"/>
              <a:t> </a:t>
            </a:r>
            <a:r>
              <a:rPr sz="1700" dirty="0"/>
              <a:t>growth</a:t>
            </a:r>
            <a:r>
              <a:rPr sz="1700" spc="395" dirty="0"/>
              <a:t> </a:t>
            </a:r>
            <a:r>
              <a:rPr sz="1700" dirty="0"/>
              <a:t>has</a:t>
            </a:r>
            <a:r>
              <a:rPr sz="1700" spc="395" dirty="0"/>
              <a:t> </a:t>
            </a:r>
            <a:r>
              <a:rPr sz="1700" dirty="0"/>
              <a:t>been</a:t>
            </a:r>
            <a:r>
              <a:rPr sz="1700" spc="395" dirty="0"/>
              <a:t> </a:t>
            </a:r>
            <a:r>
              <a:rPr sz="1700" dirty="0"/>
              <a:t>uneven</a:t>
            </a:r>
            <a:r>
              <a:rPr sz="1700" spc="395" dirty="0"/>
              <a:t> </a:t>
            </a:r>
            <a:r>
              <a:rPr sz="1700" dirty="0"/>
              <a:t>across</a:t>
            </a:r>
            <a:r>
              <a:rPr sz="1700" spc="395" dirty="0"/>
              <a:t> </a:t>
            </a:r>
            <a:r>
              <a:rPr sz="1700" dirty="0"/>
              <a:t>fields</a:t>
            </a:r>
            <a:r>
              <a:rPr sz="1700" spc="395" dirty="0"/>
              <a:t> </a:t>
            </a:r>
            <a:r>
              <a:rPr sz="1700" dirty="0"/>
              <a:t>and</a:t>
            </a:r>
            <a:r>
              <a:rPr sz="1700" spc="395" dirty="0"/>
              <a:t> </a:t>
            </a:r>
            <a:r>
              <a:rPr sz="1700" dirty="0"/>
              <a:t>regions;</a:t>
            </a:r>
            <a:r>
              <a:rPr sz="1700" spc="395" dirty="0"/>
              <a:t> </a:t>
            </a:r>
            <a:r>
              <a:rPr sz="1700" spc="-10" dirty="0"/>
              <a:t>discovery </a:t>
            </a:r>
            <a:r>
              <a:rPr sz="1700" dirty="0"/>
              <a:t>pipelines</a:t>
            </a:r>
            <a:r>
              <a:rPr sz="1700" spc="470" dirty="0"/>
              <a:t> </a:t>
            </a:r>
            <a:r>
              <a:rPr sz="1700" dirty="0"/>
              <a:t>risk</a:t>
            </a:r>
            <a:r>
              <a:rPr sz="1700" spc="470" dirty="0"/>
              <a:t> </a:t>
            </a:r>
            <a:r>
              <a:rPr sz="1700" dirty="0"/>
              <a:t>reproducing</a:t>
            </a:r>
            <a:r>
              <a:rPr sz="1700" spc="475" dirty="0"/>
              <a:t> </a:t>
            </a:r>
            <a:r>
              <a:rPr sz="1700" dirty="0"/>
              <a:t>these</a:t>
            </a:r>
            <a:r>
              <a:rPr sz="1700" spc="470" dirty="0"/>
              <a:t> </a:t>
            </a:r>
            <a:r>
              <a:rPr sz="1700" dirty="0"/>
              <a:t>imbalances.</a:t>
            </a:r>
            <a:r>
              <a:rPr sz="1700" spc="475" dirty="0"/>
              <a:t> </a:t>
            </a:r>
            <a:r>
              <a:rPr sz="1700" dirty="0"/>
              <a:t>Mitigation:</a:t>
            </a:r>
            <a:r>
              <a:rPr sz="1700" spc="470" dirty="0"/>
              <a:t> </a:t>
            </a:r>
            <a:r>
              <a:rPr sz="1700" spc="-10" dirty="0"/>
              <a:t>stratified </a:t>
            </a:r>
            <a:r>
              <a:rPr sz="1700" dirty="0"/>
              <a:t>sampling</a:t>
            </a:r>
            <a:r>
              <a:rPr sz="1700" spc="75" dirty="0"/>
              <a:t> </a:t>
            </a:r>
            <a:r>
              <a:rPr sz="1700" dirty="0"/>
              <a:t>across</a:t>
            </a:r>
            <a:r>
              <a:rPr sz="1700" spc="75" dirty="0"/>
              <a:t> </a:t>
            </a:r>
            <a:r>
              <a:rPr sz="1700" dirty="0"/>
              <a:t>disciplines,</a:t>
            </a:r>
            <a:r>
              <a:rPr sz="1700" spc="75" dirty="0"/>
              <a:t> </a:t>
            </a:r>
            <a:r>
              <a:rPr sz="1700" dirty="0"/>
              <a:t>repository</a:t>
            </a:r>
            <a:r>
              <a:rPr sz="1700" spc="75" dirty="0"/>
              <a:t> </a:t>
            </a:r>
            <a:r>
              <a:rPr sz="1700" dirty="0"/>
              <a:t>types</a:t>
            </a:r>
            <a:r>
              <a:rPr sz="1700" spc="75" dirty="0"/>
              <a:t> </a:t>
            </a:r>
            <a:r>
              <a:rPr sz="1700" dirty="0"/>
              <a:t>and</a:t>
            </a:r>
            <a:r>
              <a:rPr sz="1700" spc="75" dirty="0"/>
              <a:t> </a:t>
            </a:r>
            <a:r>
              <a:rPr sz="1700" dirty="0"/>
              <a:t>languages;</a:t>
            </a:r>
            <a:r>
              <a:rPr sz="1700" spc="75" dirty="0"/>
              <a:t> </a:t>
            </a:r>
            <a:r>
              <a:rPr sz="1700" spc="-10" dirty="0"/>
              <a:t>periodic </a:t>
            </a:r>
            <a:r>
              <a:rPr sz="1700" dirty="0"/>
              <a:t>audits</a:t>
            </a:r>
            <a:r>
              <a:rPr sz="1700" spc="175" dirty="0"/>
              <a:t> </a:t>
            </a:r>
            <a:r>
              <a:rPr sz="1700" dirty="0"/>
              <a:t>that</a:t>
            </a:r>
            <a:r>
              <a:rPr sz="1700" spc="175" dirty="0"/>
              <a:t> </a:t>
            </a:r>
            <a:r>
              <a:rPr sz="1700" dirty="0"/>
              <a:t>report</a:t>
            </a:r>
            <a:r>
              <a:rPr sz="1700" spc="175" dirty="0"/>
              <a:t> </a:t>
            </a:r>
            <a:r>
              <a:rPr sz="1700" dirty="0"/>
              <a:t>recall</a:t>
            </a:r>
            <a:r>
              <a:rPr sz="1700" spc="175" dirty="0"/>
              <a:t> </a:t>
            </a:r>
            <a:r>
              <a:rPr sz="1700" dirty="0"/>
              <a:t>by</a:t>
            </a:r>
            <a:r>
              <a:rPr sz="1700" spc="180" dirty="0"/>
              <a:t> </a:t>
            </a:r>
            <a:r>
              <a:rPr sz="1700" dirty="0"/>
              <a:t>stratum.</a:t>
            </a:r>
            <a:r>
              <a:rPr sz="1700" spc="175" dirty="0"/>
              <a:t> </a:t>
            </a:r>
            <a:r>
              <a:rPr sz="1700" dirty="0"/>
              <a:t>This</a:t>
            </a:r>
            <a:r>
              <a:rPr sz="1700" spc="175" dirty="0"/>
              <a:t> </a:t>
            </a:r>
            <a:r>
              <a:rPr sz="1700" dirty="0"/>
              <a:t>operationalises</a:t>
            </a:r>
            <a:r>
              <a:rPr sz="1700" spc="175" dirty="0"/>
              <a:t> </a:t>
            </a:r>
            <a:r>
              <a:rPr sz="1700" spc="-10" dirty="0"/>
              <a:t>responsible </a:t>
            </a:r>
            <a:r>
              <a:rPr sz="1700" dirty="0"/>
              <a:t>metrics</a:t>
            </a:r>
            <a:r>
              <a:rPr sz="1700" spc="-15" dirty="0"/>
              <a:t> </a:t>
            </a:r>
            <a:r>
              <a:rPr sz="1700" dirty="0"/>
              <a:t>within</a:t>
            </a:r>
            <a:r>
              <a:rPr sz="1700" spc="-10" dirty="0"/>
              <a:t> </a:t>
            </a:r>
            <a:r>
              <a:rPr sz="1700" dirty="0"/>
              <a:t>the</a:t>
            </a:r>
            <a:r>
              <a:rPr sz="1700" spc="-10" dirty="0"/>
              <a:t> </a:t>
            </a:r>
            <a:r>
              <a:rPr sz="1700" dirty="0"/>
              <a:t>discovery</a:t>
            </a:r>
            <a:r>
              <a:rPr sz="1700" spc="-10" dirty="0"/>
              <a:t> layer.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2952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110"/>
              </a:spcBef>
            </a:pPr>
            <a:r>
              <a:rPr sz="3550" spc="-170" dirty="0"/>
              <a:t>Comparative</a:t>
            </a:r>
            <a:r>
              <a:rPr sz="3550" spc="-165" dirty="0"/>
              <a:t> </a:t>
            </a:r>
            <a:r>
              <a:rPr sz="3550" spc="-35" dirty="0"/>
              <a:t>Justi</a:t>
            </a:r>
            <a:r>
              <a:rPr sz="3200" spc="-35" dirty="0"/>
              <a:t>ﬁ</a:t>
            </a:r>
            <a:r>
              <a:rPr sz="3550" spc="-35" dirty="0"/>
              <a:t>cation</a:t>
            </a:r>
            <a:r>
              <a:rPr sz="3550" spc="-165" dirty="0"/>
              <a:t> </a:t>
            </a:r>
            <a:r>
              <a:rPr sz="3550" spc="-145" dirty="0"/>
              <a:t>(what</a:t>
            </a:r>
            <a:r>
              <a:rPr sz="3550" spc="-165" dirty="0"/>
              <a:t> </a:t>
            </a:r>
            <a:r>
              <a:rPr sz="3550" spc="-130" dirty="0"/>
              <a:t>markers</a:t>
            </a:r>
            <a:r>
              <a:rPr sz="3550" spc="-165" dirty="0"/>
              <a:t> </a:t>
            </a:r>
            <a:r>
              <a:rPr sz="3550" spc="-140" dirty="0"/>
              <a:t>should</a:t>
            </a:r>
            <a:r>
              <a:rPr sz="3550" spc="-165" dirty="0"/>
              <a:t> care </a:t>
            </a:r>
            <a:r>
              <a:rPr sz="3550" spc="-105" dirty="0"/>
              <a:t>about)</a:t>
            </a:r>
            <a:endParaRPr sz="3550"/>
          </a:p>
        </p:txBody>
      </p:sp>
      <p:sp>
        <p:nvSpPr>
          <p:cNvPr id="4" name="object 4"/>
          <p:cNvSpPr txBox="1"/>
          <p:nvPr/>
        </p:nvSpPr>
        <p:spPr>
          <a:xfrm>
            <a:off x="708104" y="1677533"/>
            <a:ext cx="1057592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865620" algn="l"/>
              </a:tabLst>
            </a:pPr>
            <a:r>
              <a:rPr sz="2200" spc="-114" dirty="0">
                <a:solidFill>
                  <a:srgbClr val="006FC0"/>
                </a:solidFill>
                <a:latin typeface="Arial MT"/>
                <a:cs typeface="Arial MT"/>
              </a:rPr>
              <a:t>Scrapy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versus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006FC0"/>
                </a:solidFill>
                <a:latin typeface="Arial MT"/>
                <a:cs typeface="Arial MT"/>
              </a:rPr>
              <a:t>bespoke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Arial MT"/>
                <a:cs typeface="Arial MT"/>
              </a:rPr>
              <a:t>loops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	</a:t>
            </a:r>
            <a:r>
              <a:rPr sz="2200" spc="-110" dirty="0">
                <a:solidFill>
                  <a:srgbClr val="006FC0"/>
                </a:solidFill>
                <a:latin typeface="Arial MT"/>
                <a:cs typeface="Arial MT"/>
              </a:rPr>
              <a:t>TF</a:t>
            </a:r>
            <a:r>
              <a:rPr sz="1900" spc="-110" dirty="0">
                <a:solidFill>
                  <a:srgbClr val="006FC0"/>
                </a:solidFill>
                <a:latin typeface="Lucida Sans Unicode"/>
                <a:cs typeface="Lucida Sans Unicode"/>
              </a:rPr>
              <a:t>–</a:t>
            </a:r>
            <a:r>
              <a:rPr sz="2200" spc="-110" dirty="0">
                <a:solidFill>
                  <a:srgbClr val="006FC0"/>
                </a:solidFill>
                <a:latin typeface="Arial MT"/>
                <a:cs typeface="Arial MT"/>
              </a:rPr>
              <a:t>IDF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versus</a:t>
            </a:r>
            <a:r>
              <a:rPr sz="22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006FC0"/>
                </a:solidFill>
                <a:latin typeface="Arial MT"/>
                <a:cs typeface="Arial MT"/>
              </a:rPr>
              <a:t>neural</a:t>
            </a:r>
            <a:r>
              <a:rPr sz="2200" spc="-9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006FC0"/>
                </a:solidFill>
                <a:latin typeface="Arial MT"/>
                <a:cs typeface="Arial MT"/>
              </a:rPr>
              <a:t>re</a:t>
            </a:r>
            <a:r>
              <a:rPr sz="1900" spc="-35" dirty="0">
                <a:solidFill>
                  <a:srgbClr val="006FC0"/>
                </a:solidFill>
                <a:latin typeface="Lucida Sans Unicode"/>
                <a:cs typeface="Lucida Sans Unicode"/>
              </a:rPr>
              <a:t>‑</a:t>
            </a:r>
            <a:r>
              <a:rPr sz="2200" spc="-35" dirty="0">
                <a:solidFill>
                  <a:srgbClr val="006FC0"/>
                </a:solidFill>
                <a:latin typeface="Arial MT"/>
                <a:cs typeface="Arial MT"/>
              </a:rPr>
              <a:t>ranking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104" y="2203388"/>
            <a:ext cx="6369050" cy="13201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49200"/>
              </a:lnSpc>
              <a:spcBef>
                <a:spcPts val="80"/>
              </a:spcBef>
            </a:pPr>
            <a:r>
              <a:rPr sz="1900" dirty="0">
                <a:latin typeface="Times New Roman"/>
                <a:cs typeface="Times New Roman"/>
              </a:rPr>
              <a:t>Scrapy’s</a:t>
            </a:r>
            <a:r>
              <a:rPr sz="1900" spc="27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queues,</a:t>
            </a:r>
            <a:r>
              <a:rPr sz="1900" spc="2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middlewares</a:t>
            </a:r>
            <a:r>
              <a:rPr sz="1900" spc="27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2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rate</a:t>
            </a:r>
            <a:r>
              <a:rPr sz="1900" spc="27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controls</a:t>
            </a:r>
            <a:r>
              <a:rPr sz="1900" spc="27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ease</a:t>
            </a:r>
            <a:r>
              <a:rPr sz="1900" spc="270" dirty="0">
                <a:latin typeface="Times New Roman"/>
                <a:cs typeface="Times New Roman"/>
              </a:rPr>
              <a:t>  </a:t>
            </a:r>
            <a:r>
              <a:rPr sz="1900" spc="-25" dirty="0">
                <a:latin typeface="Times New Roman"/>
                <a:cs typeface="Times New Roman"/>
              </a:rPr>
              <a:t>the </a:t>
            </a:r>
            <a:r>
              <a:rPr sz="1900" dirty="0">
                <a:latin typeface="Times New Roman"/>
                <a:cs typeface="Times New Roman"/>
              </a:rPr>
              <a:t>implementation</a:t>
            </a:r>
            <a:r>
              <a:rPr sz="1900" spc="20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20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polite,</a:t>
            </a:r>
            <a:r>
              <a:rPr sz="1900" spc="20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robust</a:t>
            </a:r>
            <a:r>
              <a:rPr sz="1900" spc="204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crawls.</a:t>
            </a:r>
            <a:r>
              <a:rPr sz="1900" spc="200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Hand</a:t>
            </a:r>
            <a:r>
              <a:rPr sz="1900" dirty="0">
                <a:latin typeface="Microsoft Sans Serif"/>
                <a:cs typeface="Microsoft Sans Serif"/>
              </a:rPr>
              <a:t>‑</a:t>
            </a:r>
            <a:r>
              <a:rPr sz="1900" dirty="0">
                <a:latin typeface="Times New Roman"/>
                <a:cs typeface="Times New Roman"/>
              </a:rPr>
              <a:t>rolled</a:t>
            </a:r>
            <a:r>
              <a:rPr sz="1900" spc="200" dirty="0">
                <a:latin typeface="Times New Roman"/>
                <a:cs typeface="Times New Roman"/>
              </a:rPr>
              <a:t>  </a:t>
            </a:r>
            <a:r>
              <a:rPr sz="1900" spc="-20" dirty="0">
                <a:latin typeface="Times New Roman"/>
                <a:cs typeface="Times New Roman"/>
              </a:rPr>
              <a:t>loops </a:t>
            </a:r>
            <a:r>
              <a:rPr sz="1900" dirty="0">
                <a:latin typeface="Times New Roman"/>
                <a:cs typeface="Times New Roman"/>
              </a:rPr>
              <a:t>frequently</a:t>
            </a:r>
            <a:r>
              <a:rPr sz="1900" spc="5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omit</a:t>
            </a:r>
            <a:r>
              <a:rPr sz="1900" spc="5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REP</a:t>
            </a:r>
            <a:r>
              <a:rPr sz="1900" spc="5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observance,</a:t>
            </a:r>
            <a:r>
              <a:rPr sz="1900" spc="5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back</a:t>
            </a:r>
            <a:r>
              <a:rPr sz="1900" dirty="0">
                <a:latin typeface="Microsoft Sans Serif"/>
                <a:cs typeface="Microsoft Sans Serif"/>
              </a:rPr>
              <a:t>‑</a:t>
            </a:r>
            <a:r>
              <a:rPr sz="1900" dirty="0">
                <a:latin typeface="Times New Roman"/>
                <a:cs typeface="Times New Roman"/>
              </a:rPr>
              <a:t>pressure</a:t>
            </a:r>
            <a:r>
              <a:rPr sz="1900" spc="55" dirty="0">
                <a:latin typeface="Times New Roman"/>
                <a:cs typeface="Times New Roman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55" dirty="0">
                <a:latin typeface="Times New Roman"/>
                <a:cs typeface="Times New Roman"/>
              </a:rPr>
              <a:t>  </a:t>
            </a:r>
            <a:r>
              <a:rPr sz="1900" spc="-10" dirty="0">
                <a:latin typeface="Times New Roman"/>
                <a:cs typeface="Times New Roman"/>
              </a:rPr>
              <a:t>adaptive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1093" y="3501998"/>
            <a:ext cx="300609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marR="5080" indent="-50800">
              <a:lnSpc>
                <a:spcPct val="150000"/>
              </a:lnSpc>
              <a:spcBef>
                <a:spcPts val="100"/>
              </a:spcBef>
              <a:tabLst>
                <a:tab pos="1252855" algn="l"/>
                <a:tab pos="1438910" algn="l"/>
                <a:tab pos="1860550" algn="l"/>
                <a:tab pos="2242185" algn="l"/>
                <a:tab pos="2644140" algn="l"/>
              </a:tabLst>
            </a:pPr>
            <a:r>
              <a:rPr sz="1900" spc="-10" dirty="0">
                <a:latin typeface="Times New Roman"/>
                <a:cs typeface="Times New Roman"/>
              </a:rPr>
              <a:t>expectations</a:t>
            </a:r>
            <a:r>
              <a:rPr sz="1900" dirty="0">
                <a:latin typeface="Times New Roman"/>
                <a:cs typeface="Times New Roman"/>
              </a:rPr>
              <a:t>		</a:t>
            </a:r>
            <a:r>
              <a:rPr sz="1900" spc="-25" dirty="0">
                <a:latin typeface="Times New Roman"/>
                <a:cs typeface="Times New Roman"/>
              </a:rPr>
              <a:t>of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ethics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and </a:t>
            </a:r>
            <a:r>
              <a:rPr sz="1900" spc="-10" dirty="0">
                <a:latin typeface="Times New Roman"/>
                <a:cs typeface="Times New Roman"/>
              </a:rPr>
              <a:t>defensible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baseline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(Scrapy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104" y="3501998"/>
            <a:ext cx="3241040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191260" algn="l"/>
                <a:tab pos="1704975" algn="l"/>
                <a:tab pos="2001520" algn="l"/>
                <a:tab pos="2573655" algn="l"/>
                <a:tab pos="2933065" algn="l"/>
              </a:tabLst>
            </a:pPr>
            <a:r>
              <a:rPr sz="1900" spc="-10" dirty="0">
                <a:latin typeface="Times New Roman"/>
                <a:cs typeface="Times New Roman"/>
              </a:rPr>
              <a:t>throttling.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Given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institutional reproducibility,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10" dirty="0">
                <a:latin typeface="Times New Roman"/>
                <a:cs typeface="Times New Roman"/>
              </a:rPr>
              <a:t>Scrapy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is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25" dirty="0">
                <a:latin typeface="Times New Roman"/>
                <a:cs typeface="Times New Roman"/>
              </a:rPr>
              <a:t>the </a:t>
            </a:r>
            <a:r>
              <a:rPr sz="1900" dirty="0">
                <a:latin typeface="Times New Roman"/>
                <a:cs typeface="Times New Roman"/>
              </a:rPr>
              <a:t>Community, </a:t>
            </a:r>
            <a:r>
              <a:rPr sz="1900" spc="-10" dirty="0">
                <a:latin typeface="Times New Roman"/>
                <a:cs typeface="Times New Roman"/>
              </a:rPr>
              <a:t>2024).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1342" y="2198978"/>
            <a:ext cx="6369050" cy="263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For a short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live demonstration and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independent marking, </a:t>
            </a:r>
            <a:r>
              <a:rPr sz="1900" spc="-10" dirty="0">
                <a:latin typeface="Times New Roman"/>
                <a:cs typeface="Times New Roman"/>
              </a:rPr>
              <a:t>TF–IDF </a:t>
            </a:r>
            <a:r>
              <a:rPr sz="1900" dirty="0">
                <a:latin typeface="Times New Roman"/>
                <a:cs typeface="Times New Roman"/>
              </a:rPr>
              <a:t>provides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deterministic,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explainable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weights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small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compute </a:t>
            </a:r>
            <a:r>
              <a:rPr sz="1900" dirty="0">
                <a:latin typeface="Times New Roman"/>
                <a:cs typeface="Times New Roman"/>
              </a:rPr>
              <a:t>footprint.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Neural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models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justified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only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after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lexical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validity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is </a:t>
            </a:r>
            <a:r>
              <a:rPr sz="1900" dirty="0">
                <a:latin typeface="Times New Roman"/>
                <a:cs typeface="Times New Roman"/>
              </a:rPr>
              <a:t>established;</a:t>
            </a:r>
            <a:r>
              <a:rPr sz="1900" spc="4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otherwise,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one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risks</a:t>
            </a:r>
            <a:r>
              <a:rPr sz="1900" spc="4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masking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pipeline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errors</a:t>
            </a:r>
            <a:r>
              <a:rPr sz="1900" spc="434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with </a:t>
            </a:r>
            <a:r>
              <a:rPr sz="1900" dirty="0">
                <a:latin typeface="Times New Roman"/>
                <a:cs typeface="Times New Roman"/>
              </a:rPr>
              <a:t>high</a:t>
            </a:r>
            <a:r>
              <a:rPr sz="1900" dirty="0">
                <a:latin typeface="Microsoft Sans Serif"/>
                <a:cs typeface="Microsoft Sans Serif"/>
              </a:rPr>
              <a:t>‑</a:t>
            </a:r>
            <a:r>
              <a:rPr sz="1900" dirty="0">
                <a:latin typeface="Times New Roman"/>
                <a:cs typeface="Times New Roman"/>
              </a:rPr>
              <a:t>capacity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models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(Robertson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&amp;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Zaragoza,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2009;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Nogueira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&amp; </a:t>
            </a:r>
            <a:r>
              <a:rPr sz="1900" dirty="0">
                <a:latin typeface="Times New Roman"/>
                <a:cs typeface="Times New Roman"/>
              </a:rPr>
              <a:t>Cho, </a:t>
            </a:r>
            <a:r>
              <a:rPr sz="1900" spc="-10" dirty="0">
                <a:latin typeface="Times New Roman"/>
                <a:cs typeface="Times New Roman"/>
              </a:rPr>
              <a:t>2019).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104" y="5237740"/>
            <a:ext cx="13214350" cy="19488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Parquet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Arial MT"/>
                <a:cs typeface="Arial MT"/>
              </a:rPr>
              <a:t>versus</a:t>
            </a:r>
            <a:r>
              <a:rPr sz="2200" spc="-1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6FC0"/>
                </a:solidFill>
                <a:latin typeface="Arial MT"/>
                <a:cs typeface="Arial MT"/>
              </a:rPr>
              <a:t>CSV</a:t>
            </a:r>
            <a:endParaRPr sz="2200">
              <a:latin typeface="Arial MT"/>
              <a:cs typeface="Arial MT"/>
            </a:endParaRPr>
          </a:p>
          <a:p>
            <a:pPr marL="12700" marR="5080" algn="just">
              <a:lnSpc>
                <a:spcPct val="149200"/>
              </a:lnSpc>
              <a:spcBef>
                <a:spcPts val="2270"/>
              </a:spcBef>
            </a:pPr>
            <a:r>
              <a:rPr sz="1900" dirty="0">
                <a:latin typeface="Times New Roman"/>
                <a:cs typeface="Times New Roman"/>
              </a:rPr>
              <a:t>Columnar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formats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reduce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I/O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scanning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only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selected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columns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generally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compress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better.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Engines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bill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per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byte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scanned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(for </a:t>
            </a:r>
            <a:r>
              <a:rPr sz="1900" dirty="0">
                <a:latin typeface="Times New Roman"/>
                <a:cs typeface="Times New Roman"/>
              </a:rPr>
              <a:t>instance,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Athena)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therefore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realise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meaningful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cost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reductions.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However,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benefits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depend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selectivity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schema</a:t>
            </a:r>
            <a:r>
              <a:rPr sz="1900" spc="4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design; </a:t>
            </a:r>
            <a:r>
              <a:rPr sz="1900" dirty="0">
                <a:latin typeface="Times New Roman"/>
                <a:cs typeface="Times New Roman"/>
              </a:rPr>
              <a:t>AROAS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reports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workload</a:t>
            </a:r>
            <a:r>
              <a:rPr sz="1900" dirty="0">
                <a:latin typeface="Microsoft Sans Serif"/>
                <a:cs typeface="Microsoft Sans Serif"/>
              </a:rPr>
              <a:t>‑</a:t>
            </a:r>
            <a:r>
              <a:rPr sz="1900" dirty="0">
                <a:latin typeface="Times New Roman"/>
                <a:cs typeface="Times New Roman"/>
              </a:rPr>
              <a:t>specific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measurements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instead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citing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vendor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showcases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(Apache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Parquet,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2024;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AWS,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2024).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89" y="1875539"/>
            <a:ext cx="2867660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50" spc="-210" dirty="0"/>
              <a:t>Conclusion</a:t>
            </a:r>
            <a:endParaRPr sz="4950"/>
          </a:p>
        </p:txBody>
      </p:sp>
      <p:sp>
        <p:nvSpPr>
          <p:cNvPr id="4" name="object 4"/>
          <p:cNvSpPr txBox="1"/>
          <p:nvPr/>
        </p:nvSpPr>
        <p:spPr>
          <a:xfrm>
            <a:off x="6267489" y="2953080"/>
            <a:ext cx="7581900" cy="290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100" dirty="0">
                <a:latin typeface="Times New Roman"/>
                <a:cs typeface="Times New Roman"/>
              </a:rPr>
              <a:t>AROAS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directly</a:t>
            </a:r>
            <a:r>
              <a:rPr sz="2100" spc="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addresses</a:t>
            </a:r>
            <a:r>
              <a:rPr sz="2100" spc="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practical</a:t>
            </a:r>
            <a:r>
              <a:rPr sz="2100" spc="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difficulty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locating</a:t>
            </a:r>
            <a:r>
              <a:rPr sz="2100" spc="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relevant </a:t>
            </a:r>
            <a:r>
              <a:rPr sz="2100" dirty="0">
                <a:latin typeface="Times New Roman"/>
                <a:cs typeface="Times New Roman"/>
              </a:rPr>
              <a:t>scholarship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within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expanding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increasingly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open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ecosystem.</a:t>
            </a:r>
            <a:r>
              <a:rPr sz="2100" spc="114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 </a:t>
            </a:r>
            <a:r>
              <a:rPr sz="2100" dirty="0">
                <a:latin typeface="Times New Roman"/>
                <a:cs typeface="Times New Roman"/>
              </a:rPr>
              <a:t>principled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tri</a:t>
            </a:r>
            <a:r>
              <a:rPr sz="2100" spc="-10" dirty="0">
                <a:latin typeface="Microsoft Sans Serif"/>
                <a:cs typeface="Microsoft Sans Serif"/>
              </a:rPr>
              <a:t>‑</a:t>
            </a:r>
            <a:r>
              <a:rPr sz="2100" spc="-10" dirty="0">
                <a:latin typeface="Times New Roman"/>
                <a:cs typeface="Times New Roman"/>
              </a:rPr>
              <a:t>agent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design,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explainable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lexical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baseline,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built</a:t>
            </a:r>
            <a:r>
              <a:rPr sz="2100" spc="-10" dirty="0">
                <a:latin typeface="Microsoft Sans Serif"/>
                <a:cs typeface="Microsoft Sans Serif"/>
              </a:rPr>
              <a:t>‑</a:t>
            </a:r>
            <a:r>
              <a:rPr sz="2100" spc="-10" dirty="0">
                <a:latin typeface="Times New Roman"/>
                <a:cs typeface="Times New Roman"/>
              </a:rPr>
              <a:t>in </a:t>
            </a:r>
            <a:r>
              <a:rPr sz="2100" dirty="0">
                <a:latin typeface="Times New Roman"/>
                <a:cs typeface="Times New Roman"/>
              </a:rPr>
              <a:t>governance</a:t>
            </a:r>
            <a:r>
              <a:rPr sz="2100" spc="4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measures</a:t>
            </a:r>
            <a:r>
              <a:rPr sz="2100" spc="4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together</a:t>
            </a:r>
            <a:r>
              <a:rPr sz="2100" spc="4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provide</a:t>
            </a:r>
            <a:r>
              <a:rPr sz="2100" spc="4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455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foundation</a:t>
            </a:r>
            <a:r>
              <a:rPr sz="2100" spc="450" dirty="0">
                <a:latin typeface="Times New Roman"/>
                <a:cs typeface="Times New Roman"/>
              </a:rPr>
              <a:t>  </a:t>
            </a:r>
            <a:r>
              <a:rPr sz="2100" dirty="0">
                <a:latin typeface="Times New Roman"/>
                <a:cs typeface="Times New Roman"/>
              </a:rPr>
              <a:t>that</a:t>
            </a:r>
            <a:r>
              <a:rPr sz="2100" spc="450" dirty="0">
                <a:latin typeface="Times New Roman"/>
                <a:cs typeface="Times New Roman"/>
              </a:rPr>
              <a:t>  </a:t>
            </a:r>
            <a:r>
              <a:rPr sz="2100" spc="-25" dirty="0">
                <a:latin typeface="Times New Roman"/>
                <a:cs typeface="Times New Roman"/>
              </a:rPr>
              <a:t>is </a:t>
            </a:r>
            <a:r>
              <a:rPr sz="2100" dirty="0">
                <a:latin typeface="Times New Roman"/>
                <a:cs typeface="Times New Roman"/>
              </a:rPr>
              <a:t>reproducible,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auditable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ethically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responsible.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system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balances </a:t>
            </a:r>
            <a:r>
              <a:rPr sz="2100" dirty="0">
                <a:latin typeface="Times New Roman"/>
                <a:cs typeface="Times New Roman"/>
              </a:rPr>
              <a:t>ambition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accountability: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prioritises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transparency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validity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in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7489" y="5838314"/>
            <a:ext cx="4684395" cy="975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  <a:tabLst>
                <a:tab pos="568960" algn="l"/>
                <a:tab pos="1703070" algn="l"/>
                <a:tab pos="2686050" algn="l"/>
                <a:tab pos="2807970" algn="l"/>
                <a:tab pos="3630929" algn="l"/>
                <a:tab pos="4048760" algn="l"/>
              </a:tabLst>
            </a:pPr>
            <a:r>
              <a:rPr sz="2100" spc="-25" dirty="0">
                <a:latin typeface="Times New Roman"/>
                <a:cs typeface="Times New Roman"/>
              </a:rPr>
              <a:t>the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assessed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baseline</a:t>
            </a:r>
            <a:r>
              <a:rPr sz="2100" dirty="0">
                <a:latin typeface="Times New Roman"/>
                <a:cs typeface="Times New Roman"/>
              </a:rPr>
              <a:t>		</a:t>
            </a:r>
            <a:r>
              <a:rPr sz="2100" spc="-10" dirty="0">
                <a:latin typeface="Times New Roman"/>
                <a:cs typeface="Times New Roman"/>
              </a:rPr>
              <a:t>while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keeping </a:t>
            </a:r>
            <a:r>
              <a:rPr sz="2100" spc="-20" dirty="0">
                <a:latin typeface="Times New Roman"/>
                <a:cs typeface="Times New Roman"/>
              </a:rPr>
              <a:t>enhancements—</a:t>
            </a:r>
            <a:r>
              <a:rPr sz="2100" spc="-10" dirty="0">
                <a:latin typeface="Times New Roman"/>
                <a:cs typeface="Times New Roman"/>
              </a:rPr>
              <a:t>neural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re</a:t>
            </a:r>
            <a:r>
              <a:rPr sz="2100" spc="-10" dirty="0">
                <a:latin typeface="Microsoft Sans Serif"/>
                <a:cs typeface="Microsoft Sans Serif"/>
              </a:rPr>
              <a:t>‑</a:t>
            </a:r>
            <a:r>
              <a:rPr sz="2100" spc="-10" dirty="0">
                <a:latin typeface="Times New Roman"/>
                <a:cs typeface="Times New Roman"/>
              </a:rPr>
              <a:t>rankers,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richer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61165" y="5838314"/>
            <a:ext cx="2888615" cy="975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5080" indent="-195580">
              <a:lnSpc>
                <a:spcPct val="148500"/>
              </a:lnSpc>
              <a:spcBef>
                <a:spcPts val="100"/>
              </a:spcBef>
              <a:tabLst>
                <a:tab pos="361315" algn="l"/>
                <a:tab pos="1109980" algn="l"/>
                <a:tab pos="1311910" algn="l"/>
                <a:tab pos="1800225" algn="l"/>
                <a:tab pos="2238375" algn="l"/>
                <a:tab pos="2489835" algn="l"/>
              </a:tabLst>
            </a:pPr>
            <a:r>
              <a:rPr sz="2100" spc="-50" dirty="0">
                <a:latin typeface="Times New Roman"/>
                <a:cs typeface="Times New Roman"/>
              </a:rPr>
              <a:t>a</a:t>
            </a:r>
            <a:r>
              <a:rPr sz="2100" dirty="0">
                <a:latin typeface="Times New Roman"/>
                <a:cs typeface="Times New Roman"/>
              </a:rPr>
              <a:t>		</a:t>
            </a:r>
            <a:r>
              <a:rPr sz="2100" spc="-10" dirty="0">
                <a:latin typeface="Times New Roman"/>
                <a:cs typeface="Times New Roman"/>
              </a:rPr>
              <a:t>clear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0" dirty="0">
                <a:latin typeface="Times New Roman"/>
                <a:cs typeface="Times New Roman"/>
              </a:rPr>
              <a:t>path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5" dirty="0">
                <a:latin typeface="Times New Roman"/>
                <a:cs typeface="Times New Roman"/>
              </a:rPr>
              <a:t>to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10" dirty="0">
                <a:latin typeface="Times New Roman"/>
                <a:cs typeface="Times New Roman"/>
              </a:rPr>
              <a:t>future network</a:t>
            </a:r>
            <a:r>
              <a:rPr sz="2100" dirty="0">
                <a:latin typeface="Times New Roman"/>
                <a:cs typeface="Times New Roman"/>
              </a:rPr>
              <a:t>		</a:t>
            </a:r>
            <a:r>
              <a:rPr sz="2100" spc="-10" dirty="0">
                <a:latin typeface="Times New Roman"/>
                <a:cs typeface="Times New Roman"/>
              </a:rPr>
              <a:t>analytics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25" dirty="0">
                <a:latin typeface="Times New Roman"/>
                <a:cs typeface="Times New Roman"/>
              </a:rPr>
              <a:t>and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7489" y="6948706"/>
            <a:ext cx="64820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Times New Roman"/>
                <a:cs typeface="Times New Roman"/>
              </a:rPr>
              <a:t>active</a:t>
            </a:r>
            <a:r>
              <a:rPr sz="2100" spc="-10" dirty="0">
                <a:latin typeface="Microsoft Sans Serif"/>
                <a:cs typeface="Microsoft Sans Serif"/>
              </a:rPr>
              <a:t>‑</a:t>
            </a:r>
            <a:r>
              <a:rPr sz="2100" spc="-10" dirty="0">
                <a:latin typeface="Times New Roman"/>
                <a:cs typeface="Times New Roman"/>
              </a:rPr>
              <a:t>learning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loops—</a:t>
            </a:r>
            <a:r>
              <a:rPr sz="2100" dirty="0">
                <a:latin typeface="Times New Roman"/>
                <a:cs typeface="Times New Roman"/>
              </a:rPr>
              <a:t>once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empirical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baselines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secured.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2881" y="7757504"/>
            <a:ext cx="2027517" cy="4720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9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961" y="1278782"/>
            <a:ext cx="13193197" cy="1965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9961" y="2001665"/>
            <a:ext cx="13283964" cy="1965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9961" y="1576724"/>
            <a:ext cx="8643063" cy="1960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9645" y="2299608"/>
            <a:ext cx="11380502" cy="1965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9961" y="2724549"/>
            <a:ext cx="12601159" cy="1965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7130" y="3022491"/>
            <a:ext cx="2553797" cy="19608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1859" y="3447434"/>
            <a:ext cx="11911080" cy="1965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9645" y="3745376"/>
            <a:ext cx="8503170" cy="19608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1859" y="4170318"/>
            <a:ext cx="13018095" cy="19650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1964" y="4468260"/>
            <a:ext cx="10336423" cy="19650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1859" y="4893202"/>
            <a:ext cx="10788569" cy="19650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89645" y="5191144"/>
            <a:ext cx="8859490" cy="19608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6076" y="5616086"/>
            <a:ext cx="12905190" cy="19650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548" y="5914028"/>
            <a:ext cx="6710188" cy="19650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92702" y="6338970"/>
            <a:ext cx="12955792" cy="19608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96162" y="6636911"/>
            <a:ext cx="3328336" cy="19608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92702" y="7061854"/>
            <a:ext cx="12526205" cy="19650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9645" y="7359795"/>
            <a:ext cx="9584463" cy="1965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2881" y="7757503"/>
            <a:ext cx="2027517" cy="4720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861" y="489986"/>
            <a:ext cx="13803343" cy="1730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861" y="752876"/>
            <a:ext cx="1133047" cy="1730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861" y="1142766"/>
            <a:ext cx="13740091" cy="1730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861" y="1405656"/>
            <a:ext cx="1133047" cy="1730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3907" y="1795546"/>
            <a:ext cx="13694791" cy="1733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3907" y="2185436"/>
            <a:ext cx="10879987" cy="1733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6652" y="2575326"/>
            <a:ext cx="13632098" cy="17338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13256" y="2838216"/>
            <a:ext cx="474980" cy="173355"/>
          </a:xfrm>
          <a:custGeom>
            <a:avLst/>
            <a:gdLst/>
            <a:ahLst/>
            <a:cxnLst/>
            <a:rect l="l" t="t" r="r" b="b"/>
            <a:pathLst>
              <a:path w="474980" h="173355">
                <a:moveTo>
                  <a:pt x="7069" y="39160"/>
                </a:moveTo>
                <a:lnTo>
                  <a:pt x="3627" y="39160"/>
                </a:lnTo>
                <a:lnTo>
                  <a:pt x="5246" y="31056"/>
                </a:lnTo>
                <a:lnTo>
                  <a:pt x="7712" y="24138"/>
                </a:lnTo>
                <a:lnTo>
                  <a:pt x="7778" y="23952"/>
                </a:lnTo>
                <a:lnTo>
                  <a:pt x="39625" y="3534"/>
                </a:lnTo>
                <a:lnTo>
                  <a:pt x="46496" y="4110"/>
                </a:lnTo>
                <a:lnTo>
                  <a:pt x="46834" y="4110"/>
                </a:lnTo>
                <a:lnTo>
                  <a:pt x="53706" y="5999"/>
                </a:lnTo>
                <a:lnTo>
                  <a:pt x="59795" y="9080"/>
                </a:lnTo>
                <a:lnTo>
                  <a:pt x="65251" y="13394"/>
                </a:lnTo>
                <a:lnTo>
                  <a:pt x="69068" y="17766"/>
                </a:lnTo>
                <a:lnTo>
                  <a:pt x="28494" y="17766"/>
                </a:lnTo>
                <a:lnTo>
                  <a:pt x="22928" y="19580"/>
                </a:lnTo>
                <a:lnTo>
                  <a:pt x="13068" y="26835"/>
                </a:lnTo>
                <a:lnTo>
                  <a:pt x="9425" y="32153"/>
                </a:lnTo>
                <a:lnTo>
                  <a:pt x="7069" y="39160"/>
                </a:lnTo>
                <a:close/>
              </a:path>
              <a:path w="474980" h="173355">
                <a:moveTo>
                  <a:pt x="74414" y="132271"/>
                </a:moveTo>
                <a:lnTo>
                  <a:pt x="0" y="132271"/>
                </a:lnTo>
                <a:lnTo>
                  <a:pt x="0" y="128829"/>
                </a:lnTo>
                <a:lnTo>
                  <a:pt x="15202" y="114539"/>
                </a:lnTo>
                <a:lnTo>
                  <a:pt x="27975" y="101621"/>
                </a:lnTo>
                <a:lnTo>
                  <a:pt x="52089" y="70617"/>
                </a:lnTo>
                <a:lnTo>
                  <a:pt x="59624" y="45206"/>
                </a:lnTo>
                <a:lnTo>
                  <a:pt x="59624" y="37207"/>
                </a:lnTo>
                <a:lnTo>
                  <a:pt x="57174" y="30633"/>
                </a:lnTo>
                <a:lnTo>
                  <a:pt x="47376" y="20339"/>
                </a:lnTo>
                <a:lnTo>
                  <a:pt x="41516" y="17766"/>
                </a:lnTo>
                <a:lnTo>
                  <a:pt x="69068" y="17766"/>
                </a:lnTo>
                <a:lnTo>
                  <a:pt x="69748" y="18545"/>
                </a:lnTo>
                <a:lnTo>
                  <a:pt x="72853" y="23952"/>
                </a:lnTo>
                <a:lnTo>
                  <a:pt x="72960" y="24138"/>
                </a:lnTo>
                <a:lnTo>
                  <a:pt x="74887" y="30172"/>
                </a:lnTo>
                <a:lnTo>
                  <a:pt x="75530" y="36649"/>
                </a:lnTo>
                <a:lnTo>
                  <a:pt x="75530" y="43036"/>
                </a:lnTo>
                <a:lnTo>
                  <a:pt x="55926" y="79407"/>
                </a:lnTo>
                <a:lnTo>
                  <a:pt x="29928" y="107993"/>
                </a:lnTo>
                <a:lnTo>
                  <a:pt x="19812" y="118225"/>
                </a:lnTo>
                <a:lnTo>
                  <a:pt x="79526" y="118225"/>
                </a:lnTo>
                <a:lnTo>
                  <a:pt x="74414" y="132271"/>
                </a:lnTo>
                <a:close/>
              </a:path>
              <a:path w="474980" h="173355">
                <a:moveTo>
                  <a:pt x="79526" y="118225"/>
                </a:moveTo>
                <a:lnTo>
                  <a:pt x="59438" y="118225"/>
                </a:lnTo>
                <a:lnTo>
                  <a:pt x="64135" y="117977"/>
                </a:lnTo>
                <a:lnTo>
                  <a:pt x="69530" y="116985"/>
                </a:lnTo>
                <a:lnTo>
                  <a:pt x="71964" y="115977"/>
                </a:lnTo>
                <a:lnTo>
                  <a:pt x="76305" y="112938"/>
                </a:lnTo>
                <a:lnTo>
                  <a:pt x="78196" y="110784"/>
                </a:lnTo>
                <a:lnTo>
                  <a:pt x="79809" y="107993"/>
                </a:lnTo>
                <a:lnTo>
                  <a:pt x="83250" y="107993"/>
                </a:lnTo>
                <a:lnTo>
                  <a:pt x="79616" y="117977"/>
                </a:lnTo>
                <a:lnTo>
                  <a:pt x="79526" y="118225"/>
                </a:lnTo>
                <a:close/>
              </a:path>
              <a:path w="474980" h="173355">
                <a:moveTo>
                  <a:pt x="144301" y="134503"/>
                </a:moveTo>
                <a:lnTo>
                  <a:pt x="138224" y="134503"/>
                </a:lnTo>
                <a:lnTo>
                  <a:pt x="129579" y="133172"/>
                </a:lnTo>
                <a:lnTo>
                  <a:pt x="103743" y="103766"/>
                </a:lnTo>
                <a:lnTo>
                  <a:pt x="98116" y="67995"/>
                </a:lnTo>
                <a:lnTo>
                  <a:pt x="98447" y="59534"/>
                </a:lnTo>
                <a:lnTo>
                  <a:pt x="112132" y="19196"/>
                </a:lnTo>
                <a:lnTo>
                  <a:pt x="133201" y="3534"/>
                </a:lnTo>
                <a:lnTo>
                  <a:pt x="139154" y="3534"/>
                </a:lnTo>
                <a:lnTo>
                  <a:pt x="146223" y="4459"/>
                </a:lnTo>
                <a:lnTo>
                  <a:pt x="152920" y="7232"/>
                </a:lnTo>
                <a:lnTo>
                  <a:pt x="156135" y="9580"/>
                </a:lnTo>
                <a:lnTo>
                  <a:pt x="135028" y="9580"/>
                </a:lnTo>
                <a:lnTo>
                  <a:pt x="131092" y="11565"/>
                </a:lnTo>
                <a:lnTo>
                  <a:pt x="117632" y="47875"/>
                </a:lnTo>
                <a:lnTo>
                  <a:pt x="116271" y="72274"/>
                </a:lnTo>
                <a:lnTo>
                  <a:pt x="116445" y="77640"/>
                </a:lnTo>
                <a:lnTo>
                  <a:pt x="116474" y="78559"/>
                </a:lnTo>
                <a:lnTo>
                  <a:pt x="116590" y="82140"/>
                </a:lnTo>
                <a:lnTo>
                  <a:pt x="116673" y="84698"/>
                </a:lnTo>
                <a:lnTo>
                  <a:pt x="117876" y="95924"/>
                </a:lnTo>
                <a:lnTo>
                  <a:pt x="119882" y="105952"/>
                </a:lnTo>
                <a:lnTo>
                  <a:pt x="122690" y="114783"/>
                </a:lnTo>
                <a:lnTo>
                  <a:pt x="126224" y="124023"/>
                </a:lnTo>
                <a:lnTo>
                  <a:pt x="131495" y="128643"/>
                </a:lnTo>
                <a:lnTo>
                  <a:pt x="155638" y="128643"/>
                </a:lnTo>
                <a:lnTo>
                  <a:pt x="150610" y="132193"/>
                </a:lnTo>
                <a:lnTo>
                  <a:pt x="144301" y="134503"/>
                </a:lnTo>
                <a:close/>
              </a:path>
              <a:path w="474980" h="173355">
                <a:moveTo>
                  <a:pt x="155638" y="128643"/>
                </a:moveTo>
                <a:lnTo>
                  <a:pt x="141851" y="128643"/>
                </a:lnTo>
                <a:lnTo>
                  <a:pt x="145324" y="127139"/>
                </a:lnTo>
                <a:lnTo>
                  <a:pt x="152517" y="121124"/>
                </a:lnTo>
                <a:lnTo>
                  <a:pt x="161057" y="78559"/>
                </a:lnTo>
                <a:lnTo>
                  <a:pt x="161068" y="53136"/>
                </a:lnTo>
                <a:lnTo>
                  <a:pt x="160269" y="44113"/>
                </a:lnTo>
                <a:lnTo>
                  <a:pt x="142379" y="9580"/>
                </a:lnTo>
                <a:lnTo>
                  <a:pt x="156135" y="9580"/>
                </a:lnTo>
                <a:lnTo>
                  <a:pt x="159246" y="11853"/>
                </a:lnTo>
                <a:lnTo>
                  <a:pt x="165199" y="18324"/>
                </a:lnTo>
                <a:lnTo>
                  <a:pt x="171506" y="28300"/>
                </a:lnTo>
                <a:lnTo>
                  <a:pt x="175904" y="39625"/>
                </a:lnTo>
                <a:lnTo>
                  <a:pt x="176012" y="39904"/>
                </a:lnTo>
                <a:lnTo>
                  <a:pt x="178715" y="53136"/>
                </a:lnTo>
                <a:lnTo>
                  <a:pt x="179616" y="67995"/>
                </a:lnTo>
                <a:lnTo>
                  <a:pt x="179255" y="77640"/>
                </a:lnTo>
                <a:lnTo>
                  <a:pt x="179221" y="78559"/>
                </a:lnTo>
                <a:lnTo>
                  <a:pt x="166094" y="118539"/>
                </a:lnTo>
                <a:lnTo>
                  <a:pt x="157153" y="127573"/>
                </a:lnTo>
                <a:lnTo>
                  <a:pt x="155638" y="128643"/>
                </a:lnTo>
                <a:close/>
              </a:path>
              <a:path w="474980" h="173355">
                <a:moveTo>
                  <a:pt x="197569" y="39160"/>
                </a:moveTo>
                <a:lnTo>
                  <a:pt x="194127" y="39160"/>
                </a:lnTo>
                <a:lnTo>
                  <a:pt x="195746" y="31056"/>
                </a:lnTo>
                <a:lnTo>
                  <a:pt x="223216" y="4110"/>
                </a:lnTo>
                <a:lnTo>
                  <a:pt x="230125" y="3534"/>
                </a:lnTo>
                <a:lnTo>
                  <a:pt x="236996" y="4110"/>
                </a:lnTo>
                <a:lnTo>
                  <a:pt x="237334" y="4110"/>
                </a:lnTo>
                <a:lnTo>
                  <a:pt x="244206" y="5999"/>
                </a:lnTo>
                <a:lnTo>
                  <a:pt x="250295" y="9080"/>
                </a:lnTo>
                <a:lnTo>
                  <a:pt x="255751" y="13394"/>
                </a:lnTo>
                <a:lnTo>
                  <a:pt x="259568" y="17766"/>
                </a:lnTo>
                <a:lnTo>
                  <a:pt x="218994" y="17766"/>
                </a:lnTo>
                <a:lnTo>
                  <a:pt x="213428" y="19580"/>
                </a:lnTo>
                <a:lnTo>
                  <a:pt x="203568" y="26835"/>
                </a:lnTo>
                <a:lnTo>
                  <a:pt x="199925" y="32153"/>
                </a:lnTo>
                <a:lnTo>
                  <a:pt x="197569" y="39160"/>
                </a:lnTo>
                <a:close/>
              </a:path>
              <a:path w="474980" h="173355">
                <a:moveTo>
                  <a:pt x="264914" y="132271"/>
                </a:moveTo>
                <a:lnTo>
                  <a:pt x="190499" y="132271"/>
                </a:lnTo>
                <a:lnTo>
                  <a:pt x="190499" y="128829"/>
                </a:lnTo>
                <a:lnTo>
                  <a:pt x="205702" y="114539"/>
                </a:lnTo>
                <a:lnTo>
                  <a:pt x="218475" y="101621"/>
                </a:lnTo>
                <a:lnTo>
                  <a:pt x="242589" y="70617"/>
                </a:lnTo>
                <a:lnTo>
                  <a:pt x="250124" y="45206"/>
                </a:lnTo>
                <a:lnTo>
                  <a:pt x="250124" y="37207"/>
                </a:lnTo>
                <a:lnTo>
                  <a:pt x="247674" y="30633"/>
                </a:lnTo>
                <a:lnTo>
                  <a:pt x="237876" y="20339"/>
                </a:lnTo>
                <a:lnTo>
                  <a:pt x="232016" y="17766"/>
                </a:lnTo>
                <a:lnTo>
                  <a:pt x="259568" y="17766"/>
                </a:lnTo>
                <a:lnTo>
                  <a:pt x="266030" y="36649"/>
                </a:lnTo>
                <a:lnTo>
                  <a:pt x="266030" y="43036"/>
                </a:lnTo>
                <a:lnTo>
                  <a:pt x="246426" y="79407"/>
                </a:lnTo>
                <a:lnTo>
                  <a:pt x="220428" y="107993"/>
                </a:lnTo>
                <a:lnTo>
                  <a:pt x="210312" y="118225"/>
                </a:lnTo>
                <a:lnTo>
                  <a:pt x="270026" y="118225"/>
                </a:lnTo>
                <a:lnTo>
                  <a:pt x="264914" y="132271"/>
                </a:lnTo>
                <a:close/>
              </a:path>
              <a:path w="474980" h="173355">
                <a:moveTo>
                  <a:pt x="270026" y="118225"/>
                </a:moveTo>
                <a:lnTo>
                  <a:pt x="249938" y="118225"/>
                </a:lnTo>
                <a:lnTo>
                  <a:pt x="254635" y="117977"/>
                </a:lnTo>
                <a:lnTo>
                  <a:pt x="260030" y="116985"/>
                </a:lnTo>
                <a:lnTo>
                  <a:pt x="262464" y="115977"/>
                </a:lnTo>
                <a:lnTo>
                  <a:pt x="266805" y="112938"/>
                </a:lnTo>
                <a:lnTo>
                  <a:pt x="268696" y="110784"/>
                </a:lnTo>
                <a:lnTo>
                  <a:pt x="270309" y="107993"/>
                </a:lnTo>
                <a:lnTo>
                  <a:pt x="273750" y="107993"/>
                </a:lnTo>
                <a:lnTo>
                  <a:pt x="270116" y="117977"/>
                </a:lnTo>
                <a:lnTo>
                  <a:pt x="270026" y="118225"/>
                </a:lnTo>
                <a:close/>
              </a:path>
              <a:path w="474980" h="173355">
                <a:moveTo>
                  <a:pt x="342341" y="124922"/>
                </a:moveTo>
                <a:lnTo>
                  <a:pt x="330119" y="124922"/>
                </a:lnTo>
                <a:lnTo>
                  <a:pt x="336491" y="122178"/>
                </a:lnTo>
                <a:lnTo>
                  <a:pt x="347467" y="111202"/>
                </a:lnTo>
                <a:lnTo>
                  <a:pt x="350211" y="104520"/>
                </a:lnTo>
                <a:lnTo>
                  <a:pt x="350211" y="89017"/>
                </a:lnTo>
                <a:lnTo>
                  <a:pt x="322584" y="59996"/>
                </a:lnTo>
                <a:lnTo>
                  <a:pt x="294958" y="55159"/>
                </a:lnTo>
                <a:lnTo>
                  <a:pt x="319143" y="6139"/>
                </a:lnTo>
                <a:lnTo>
                  <a:pt x="364349" y="6139"/>
                </a:lnTo>
                <a:lnTo>
                  <a:pt x="357094" y="21952"/>
                </a:lnTo>
                <a:lnTo>
                  <a:pt x="319143" y="21952"/>
                </a:lnTo>
                <a:lnTo>
                  <a:pt x="310864" y="38881"/>
                </a:lnTo>
                <a:lnTo>
                  <a:pt x="349932" y="57205"/>
                </a:lnTo>
                <a:lnTo>
                  <a:pt x="362303" y="86971"/>
                </a:lnTo>
                <a:lnTo>
                  <a:pt x="362303" y="93606"/>
                </a:lnTo>
                <a:lnTo>
                  <a:pt x="343979" y="123775"/>
                </a:lnTo>
                <a:lnTo>
                  <a:pt x="342341" y="124922"/>
                </a:lnTo>
                <a:close/>
              </a:path>
              <a:path w="474980" h="173355">
                <a:moveTo>
                  <a:pt x="319949" y="134503"/>
                </a:moveTo>
                <a:lnTo>
                  <a:pt x="304880" y="134503"/>
                </a:lnTo>
                <a:lnTo>
                  <a:pt x="299377" y="133216"/>
                </a:lnTo>
                <a:lnTo>
                  <a:pt x="292493" y="128069"/>
                </a:lnTo>
                <a:lnTo>
                  <a:pt x="290772" y="125232"/>
                </a:lnTo>
                <a:lnTo>
                  <a:pt x="290772" y="120395"/>
                </a:lnTo>
                <a:lnTo>
                  <a:pt x="291486" y="118860"/>
                </a:lnTo>
                <a:lnTo>
                  <a:pt x="294338" y="116194"/>
                </a:lnTo>
                <a:lnTo>
                  <a:pt x="296136" y="115527"/>
                </a:lnTo>
                <a:lnTo>
                  <a:pt x="299919" y="115527"/>
                </a:lnTo>
                <a:lnTo>
                  <a:pt x="301330" y="115775"/>
                </a:lnTo>
                <a:lnTo>
                  <a:pt x="303748" y="116768"/>
                </a:lnTo>
                <a:lnTo>
                  <a:pt x="305810" y="118039"/>
                </a:lnTo>
                <a:lnTo>
                  <a:pt x="313376" y="123310"/>
                </a:lnTo>
                <a:lnTo>
                  <a:pt x="318089" y="124922"/>
                </a:lnTo>
                <a:lnTo>
                  <a:pt x="342341" y="124922"/>
                </a:lnTo>
                <a:lnTo>
                  <a:pt x="339421" y="126969"/>
                </a:lnTo>
                <a:lnTo>
                  <a:pt x="327266" y="132798"/>
                </a:lnTo>
                <a:lnTo>
                  <a:pt x="319949" y="134503"/>
                </a:lnTo>
                <a:close/>
              </a:path>
              <a:path w="474980" h="173355">
                <a:moveTo>
                  <a:pt x="381186" y="173012"/>
                </a:moveTo>
                <a:lnTo>
                  <a:pt x="381186" y="169571"/>
                </a:lnTo>
                <a:lnTo>
                  <a:pt x="386653" y="166080"/>
                </a:lnTo>
                <a:lnTo>
                  <a:pt x="391615" y="162025"/>
                </a:lnTo>
                <a:lnTo>
                  <a:pt x="410998" y="124411"/>
                </a:lnTo>
                <a:lnTo>
                  <a:pt x="414579" y="89203"/>
                </a:lnTo>
                <a:lnTo>
                  <a:pt x="414387" y="79512"/>
                </a:lnTo>
                <a:lnTo>
                  <a:pt x="408021" y="37610"/>
                </a:lnTo>
                <a:lnTo>
                  <a:pt x="381186" y="3906"/>
                </a:lnTo>
                <a:lnTo>
                  <a:pt x="381186" y="0"/>
                </a:lnTo>
                <a:lnTo>
                  <a:pt x="416509" y="31219"/>
                </a:lnTo>
                <a:lnTo>
                  <a:pt x="430717" y="66984"/>
                </a:lnTo>
                <a:lnTo>
                  <a:pt x="432531" y="86413"/>
                </a:lnTo>
                <a:lnTo>
                  <a:pt x="431645" y="100514"/>
                </a:lnTo>
                <a:lnTo>
                  <a:pt x="418346" y="139014"/>
                </a:lnTo>
                <a:lnTo>
                  <a:pt x="392124" y="167050"/>
                </a:lnTo>
                <a:lnTo>
                  <a:pt x="381186" y="173012"/>
                </a:lnTo>
                <a:close/>
              </a:path>
              <a:path w="474980" h="173355">
                <a:moveTo>
                  <a:pt x="467010" y="134875"/>
                </a:moveTo>
                <a:lnTo>
                  <a:pt x="461305" y="134875"/>
                </a:lnTo>
                <a:lnTo>
                  <a:pt x="458871" y="133867"/>
                </a:lnTo>
                <a:lnTo>
                  <a:pt x="454840" y="129837"/>
                </a:lnTo>
                <a:lnTo>
                  <a:pt x="453832" y="127403"/>
                </a:lnTo>
                <a:lnTo>
                  <a:pt x="453832" y="121636"/>
                </a:lnTo>
                <a:lnTo>
                  <a:pt x="454840" y="119186"/>
                </a:lnTo>
                <a:lnTo>
                  <a:pt x="458871" y="115217"/>
                </a:lnTo>
                <a:lnTo>
                  <a:pt x="461305" y="114225"/>
                </a:lnTo>
                <a:lnTo>
                  <a:pt x="467072" y="114225"/>
                </a:lnTo>
                <a:lnTo>
                  <a:pt x="469484" y="115217"/>
                </a:lnTo>
                <a:lnTo>
                  <a:pt x="473414" y="119186"/>
                </a:lnTo>
                <a:lnTo>
                  <a:pt x="474457" y="121636"/>
                </a:lnTo>
                <a:lnTo>
                  <a:pt x="474482" y="127403"/>
                </a:lnTo>
                <a:lnTo>
                  <a:pt x="473474" y="129837"/>
                </a:lnTo>
                <a:lnTo>
                  <a:pt x="469444" y="133867"/>
                </a:lnTo>
                <a:lnTo>
                  <a:pt x="467010" y="134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6652" y="3228106"/>
            <a:ext cx="13644004" cy="1730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2326" y="3617996"/>
            <a:ext cx="13296676" cy="17338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0373" y="3880793"/>
            <a:ext cx="7322808" cy="1734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2326" y="4270776"/>
            <a:ext cx="12952976" cy="17338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8512" y="4533574"/>
            <a:ext cx="10884265" cy="17347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2326" y="4923557"/>
            <a:ext cx="12952976" cy="1733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8512" y="5186447"/>
            <a:ext cx="11154947" cy="1733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2419" y="5576337"/>
            <a:ext cx="13072039" cy="17338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10652" y="5839227"/>
            <a:ext cx="9166324" cy="17338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1070" y="6229117"/>
            <a:ext cx="13458899" cy="17338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613256" y="6492007"/>
            <a:ext cx="474980" cy="173355"/>
          </a:xfrm>
          <a:custGeom>
            <a:avLst/>
            <a:gdLst/>
            <a:ahLst/>
            <a:cxnLst/>
            <a:rect l="l" t="t" r="r" b="b"/>
            <a:pathLst>
              <a:path w="474980" h="173354">
                <a:moveTo>
                  <a:pt x="7069" y="39160"/>
                </a:moveTo>
                <a:lnTo>
                  <a:pt x="3627" y="39160"/>
                </a:lnTo>
                <a:lnTo>
                  <a:pt x="5246" y="31056"/>
                </a:lnTo>
                <a:lnTo>
                  <a:pt x="7712" y="24137"/>
                </a:lnTo>
                <a:lnTo>
                  <a:pt x="7778" y="23951"/>
                </a:lnTo>
                <a:lnTo>
                  <a:pt x="39625" y="3534"/>
                </a:lnTo>
                <a:lnTo>
                  <a:pt x="46496" y="4110"/>
                </a:lnTo>
                <a:lnTo>
                  <a:pt x="46834" y="4110"/>
                </a:lnTo>
                <a:lnTo>
                  <a:pt x="53706" y="5999"/>
                </a:lnTo>
                <a:lnTo>
                  <a:pt x="59795" y="9080"/>
                </a:lnTo>
                <a:lnTo>
                  <a:pt x="65251" y="13394"/>
                </a:lnTo>
                <a:lnTo>
                  <a:pt x="69068" y="17766"/>
                </a:lnTo>
                <a:lnTo>
                  <a:pt x="28494" y="17766"/>
                </a:lnTo>
                <a:lnTo>
                  <a:pt x="22928" y="19580"/>
                </a:lnTo>
                <a:lnTo>
                  <a:pt x="13068" y="26835"/>
                </a:lnTo>
                <a:lnTo>
                  <a:pt x="9425" y="32153"/>
                </a:lnTo>
                <a:lnTo>
                  <a:pt x="7069" y="39160"/>
                </a:lnTo>
                <a:close/>
              </a:path>
              <a:path w="474980" h="173354">
                <a:moveTo>
                  <a:pt x="74414" y="132271"/>
                </a:moveTo>
                <a:lnTo>
                  <a:pt x="0" y="132271"/>
                </a:lnTo>
                <a:lnTo>
                  <a:pt x="0" y="128829"/>
                </a:lnTo>
                <a:lnTo>
                  <a:pt x="15202" y="114539"/>
                </a:lnTo>
                <a:lnTo>
                  <a:pt x="27975" y="101621"/>
                </a:lnTo>
                <a:lnTo>
                  <a:pt x="52089" y="70617"/>
                </a:lnTo>
                <a:lnTo>
                  <a:pt x="59624" y="45206"/>
                </a:lnTo>
                <a:lnTo>
                  <a:pt x="59624" y="37206"/>
                </a:lnTo>
                <a:lnTo>
                  <a:pt x="57174" y="30633"/>
                </a:lnTo>
                <a:lnTo>
                  <a:pt x="47376" y="20339"/>
                </a:lnTo>
                <a:lnTo>
                  <a:pt x="41516" y="17766"/>
                </a:lnTo>
                <a:lnTo>
                  <a:pt x="69068" y="17766"/>
                </a:lnTo>
                <a:lnTo>
                  <a:pt x="69748" y="18545"/>
                </a:lnTo>
                <a:lnTo>
                  <a:pt x="72853" y="23951"/>
                </a:lnTo>
                <a:lnTo>
                  <a:pt x="72960" y="24137"/>
                </a:lnTo>
                <a:lnTo>
                  <a:pt x="74887" y="30172"/>
                </a:lnTo>
                <a:lnTo>
                  <a:pt x="75530" y="36648"/>
                </a:lnTo>
                <a:lnTo>
                  <a:pt x="75530" y="43036"/>
                </a:lnTo>
                <a:lnTo>
                  <a:pt x="55926" y="79407"/>
                </a:lnTo>
                <a:lnTo>
                  <a:pt x="29928" y="107993"/>
                </a:lnTo>
                <a:lnTo>
                  <a:pt x="19812" y="118225"/>
                </a:lnTo>
                <a:lnTo>
                  <a:pt x="79526" y="118225"/>
                </a:lnTo>
                <a:lnTo>
                  <a:pt x="74414" y="132271"/>
                </a:lnTo>
                <a:close/>
              </a:path>
              <a:path w="474980" h="173354">
                <a:moveTo>
                  <a:pt x="79526" y="118225"/>
                </a:moveTo>
                <a:lnTo>
                  <a:pt x="59438" y="118225"/>
                </a:lnTo>
                <a:lnTo>
                  <a:pt x="64135" y="117977"/>
                </a:lnTo>
                <a:lnTo>
                  <a:pt x="69530" y="116985"/>
                </a:lnTo>
                <a:lnTo>
                  <a:pt x="71964" y="115977"/>
                </a:lnTo>
                <a:lnTo>
                  <a:pt x="76305" y="112938"/>
                </a:lnTo>
                <a:lnTo>
                  <a:pt x="78196" y="110783"/>
                </a:lnTo>
                <a:lnTo>
                  <a:pt x="79809" y="107993"/>
                </a:lnTo>
                <a:lnTo>
                  <a:pt x="83250" y="107993"/>
                </a:lnTo>
                <a:lnTo>
                  <a:pt x="79616" y="117977"/>
                </a:lnTo>
                <a:lnTo>
                  <a:pt x="79526" y="118225"/>
                </a:lnTo>
                <a:close/>
              </a:path>
              <a:path w="474980" h="173354">
                <a:moveTo>
                  <a:pt x="144301" y="134503"/>
                </a:moveTo>
                <a:lnTo>
                  <a:pt x="138224" y="134503"/>
                </a:lnTo>
                <a:lnTo>
                  <a:pt x="129579" y="133172"/>
                </a:lnTo>
                <a:lnTo>
                  <a:pt x="103743" y="103766"/>
                </a:lnTo>
                <a:lnTo>
                  <a:pt x="98116" y="67995"/>
                </a:lnTo>
                <a:lnTo>
                  <a:pt x="98447" y="59534"/>
                </a:lnTo>
                <a:lnTo>
                  <a:pt x="112132" y="19196"/>
                </a:lnTo>
                <a:lnTo>
                  <a:pt x="133201" y="3534"/>
                </a:lnTo>
                <a:lnTo>
                  <a:pt x="139154" y="3534"/>
                </a:lnTo>
                <a:lnTo>
                  <a:pt x="146223" y="4459"/>
                </a:lnTo>
                <a:lnTo>
                  <a:pt x="152920" y="7232"/>
                </a:lnTo>
                <a:lnTo>
                  <a:pt x="156135" y="9580"/>
                </a:lnTo>
                <a:lnTo>
                  <a:pt x="135029" y="9580"/>
                </a:lnTo>
                <a:lnTo>
                  <a:pt x="131092" y="11565"/>
                </a:lnTo>
                <a:lnTo>
                  <a:pt x="117632" y="47874"/>
                </a:lnTo>
                <a:lnTo>
                  <a:pt x="116271" y="72274"/>
                </a:lnTo>
                <a:lnTo>
                  <a:pt x="116445" y="77640"/>
                </a:lnTo>
                <a:lnTo>
                  <a:pt x="116474" y="78559"/>
                </a:lnTo>
                <a:lnTo>
                  <a:pt x="116590" y="82140"/>
                </a:lnTo>
                <a:lnTo>
                  <a:pt x="116673" y="84698"/>
                </a:lnTo>
                <a:lnTo>
                  <a:pt x="117876" y="95924"/>
                </a:lnTo>
                <a:lnTo>
                  <a:pt x="119882" y="105952"/>
                </a:lnTo>
                <a:lnTo>
                  <a:pt x="122690" y="114783"/>
                </a:lnTo>
                <a:lnTo>
                  <a:pt x="126224" y="124023"/>
                </a:lnTo>
                <a:lnTo>
                  <a:pt x="131495" y="128643"/>
                </a:lnTo>
                <a:lnTo>
                  <a:pt x="155638" y="128643"/>
                </a:lnTo>
                <a:lnTo>
                  <a:pt x="150610" y="132193"/>
                </a:lnTo>
                <a:lnTo>
                  <a:pt x="144301" y="134503"/>
                </a:lnTo>
                <a:close/>
              </a:path>
              <a:path w="474980" h="173354">
                <a:moveTo>
                  <a:pt x="155638" y="128643"/>
                </a:moveTo>
                <a:lnTo>
                  <a:pt x="141851" y="128643"/>
                </a:lnTo>
                <a:lnTo>
                  <a:pt x="145324" y="127139"/>
                </a:lnTo>
                <a:lnTo>
                  <a:pt x="152517" y="121124"/>
                </a:lnTo>
                <a:lnTo>
                  <a:pt x="161057" y="78559"/>
                </a:lnTo>
                <a:lnTo>
                  <a:pt x="161068" y="53136"/>
                </a:lnTo>
                <a:lnTo>
                  <a:pt x="160269" y="44113"/>
                </a:lnTo>
                <a:lnTo>
                  <a:pt x="142378" y="9580"/>
                </a:lnTo>
                <a:lnTo>
                  <a:pt x="156135" y="9580"/>
                </a:lnTo>
                <a:lnTo>
                  <a:pt x="178715" y="53136"/>
                </a:lnTo>
                <a:lnTo>
                  <a:pt x="179616" y="67995"/>
                </a:lnTo>
                <a:lnTo>
                  <a:pt x="179255" y="77640"/>
                </a:lnTo>
                <a:lnTo>
                  <a:pt x="179221" y="78559"/>
                </a:lnTo>
                <a:lnTo>
                  <a:pt x="166094" y="118539"/>
                </a:lnTo>
                <a:lnTo>
                  <a:pt x="157153" y="127573"/>
                </a:lnTo>
                <a:lnTo>
                  <a:pt x="155638" y="128643"/>
                </a:lnTo>
                <a:close/>
              </a:path>
              <a:path w="474980" h="173354">
                <a:moveTo>
                  <a:pt x="197569" y="39160"/>
                </a:moveTo>
                <a:lnTo>
                  <a:pt x="194127" y="39160"/>
                </a:lnTo>
                <a:lnTo>
                  <a:pt x="195746" y="31056"/>
                </a:lnTo>
                <a:lnTo>
                  <a:pt x="223216" y="4110"/>
                </a:lnTo>
                <a:lnTo>
                  <a:pt x="230125" y="3534"/>
                </a:lnTo>
                <a:lnTo>
                  <a:pt x="236996" y="4110"/>
                </a:lnTo>
                <a:lnTo>
                  <a:pt x="237334" y="4110"/>
                </a:lnTo>
                <a:lnTo>
                  <a:pt x="244206" y="5999"/>
                </a:lnTo>
                <a:lnTo>
                  <a:pt x="250295" y="9080"/>
                </a:lnTo>
                <a:lnTo>
                  <a:pt x="255751" y="13394"/>
                </a:lnTo>
                <a:lnTo>
                  <a:pt x="259568" y="17766"/>
                </a:lnTo>
                <a:lnTo>
                  <a:pt x="218994" y="17766"/>
                </a:lnTo>
                <a:lnTo>
                  <a:pt x="213428" y="19580"/>
                </a:lnTo>
                <a:lnTo>
                  <a:pt x="203568" y="26835"/>
                </a:lnTo>
                <a:lnTo>
                  <a:pt x="199925" y="32153"/>
                </a:lnTo>
                <a:lnTo>
                  <a:pt x="197569" y="39160"/>
                </a:lnTo>
                <a:close/>
              </a:path>
              <a:path w="474980" h="173354">
                <a:moveTo>
                  <a:pt x="264914" y="132271"/>
                </a:moveTo>
                <a:lnTo>
                  <a:pt x="190499" y="132271"/>
                </a:lnTo>
                <a:lnTo>
                  <a:pt x="190499" y="128829"/>
                </a:lnTo>
                <a:lnTo>
                  <a:pt x="205702" y="114539"/>
                </a:lnTo>
                <a:lnTo>
                  <a:pt x="218475" y="101621"/>
                </a:lnTo>
                <a:lnTo>
                  <a:pt x="242589" y="70617"/>
                </a:lnTo>
                <a:lnTo>
                  <a:pt x="250124" y="45206"/>
                </a:lnTo>
                <a:lnTo>
                  <a:pt x="250124" y="37206"/>
                </a:lnTo>
                <a:lnTo>
                  <a:pt x="247674" y="30633"/>
                </a:lnTo>
                <a:lnTo>
                  <a:pt x="237876" y="20339"/>
                </a:lnTo>
                <a:lnTo>
                  <a:pt x="232016" y="17766"/>
                </a:lnTo>
                <a:lnTo>
                  <a:pt x="259568" y="17766"/>
                </a:lnTo>
                <a:lnTo>
                  <a:pt x="266030" y="36648"/>
                </a:lnTo>
                <a:lnTo>
                  <a:pt x="266030" y="43036"/>
                </a:lnTo>
                <a:lnTo>
                  <a:pt x="246426" y="79407"/>
                </a:lnTo>
                <a:lnTo>
                  <a:pt x="220428" y="107993"/>
                </a:lnTo>
                <a:lnTo>
                  <a:pt x="210312" y="118225"/>
                </a:lnTo>
                <a:lnTo>
                  <a:pt x="270026" y="118225"/>
                </a:lnTo>
                <a:lnTo>
                  <a:pt x="264914" y="132271"/>
                </a:lnTo>
                <a:close/>
              </a:path>
              <a:path w="474980" h="173354">
                <a:moveTo>
                  <a:pt x="270026" y="118225"/>
                </a:moveTo>
                <a:lnTo>
                  <a:pt x="249938" y="118225"/>
                </a:lnTo>
                <a:lnTo>
                  <a:pt x="254635" y="117977"/>
                </a:lnTo>
                <a:lnTo>
                  <a:pt x="260030" y="116985"/>
                </a:lnTo>
                <a:lnTo>
                  <a:pt x="262464" y="115977"/>
                </a:lnTo>
                <a:lnTo>
                  <a:pt x="266805" y="112938"/>
                </a:lnTo>
                <a:lnTo>
                  <a:pt x="268696" y="110783"/>
                </a:lnTo>
                <a:lnTo>
                  <a:pt x="270309" y="107993"/>
                </a:lnTo>
                <a:lnTo>
                  <a:pt x="273750" y="107993"/>
                </a:lnTo>
                <a:lnTo>
                  <a:pt x="270116" y="117977"/>
                </a:lnTo>
                <a:lnTo>
                  <a:pt x="270026" y="118225"/>
                </a:lnTo>
                <a:close/>
              </a:path>
              <a:path w="474980" h="173354">
                <a:moveTo>
                  <a:pt x="342341" y="124922"/>
                </a:moveTo>
                <a:lnTo>
                  <a:pt x="330119" y="124922"/>
                </a:lnTo>
                <a:lnTo>
                  <a:pt x="336491" y="122178"/>
                </a:lnTo>
                <a:lnTo>
                  <a:pt x="347467" y="111202"/>
                </a:lnTo>
                <a:lnTo>
                  <a:pt x="350211" y="104520"/>
                </a:lnTo>
                <a:lnTo>
                  <a:pt x="350211" y="89017"/>
                </a:lnTo>
                <a:lnTo>
                  <a:pt x="322584" y="59996"/>
                </a:lnTo>
                <a:lnTo>
                  <a:pt x="294958" y="55159"/>
                </a:lnTo>
                <a:lnTo>
                  <a:pt x="319143" y="6139"/>
                </a:lnTo>
                <a:lnTo>
                  <a:pt x="364349" y="6139"/>
                </a:lnTo>
                <a:lnTo>
                  <a:pt x="357094" y="21952"/>
                </a:lnTo>
                <a:lnTo>
                  <a:pt x="319143" y="21952"/>
                </a:lnTo>
                <a:lnTo>
                  <a:pt x="310864" y="38881"/>
                </a:lnTo>
                <a:lnTo>
                  <a:pt x="349932" y="57205"/>
                </a:lnTo>
                <a:lnTo>
                  <a:pt x="362303" y="86971"/>
                </a:lnTo>
                <a:lnTo>
                  <a:pt x="362303" y="93606"/>
                </a:lnTo>
                <a:lnTo>
                  <a:pt x="343979" y="123775"/>
                </a:lnTo>
                <a:lnTo>
                  <a:pt x="342341" y="124922"/>
                </a:lnTo>
                <a:close/>
              </a:path>
              <a:path w="474980" h="173354">
                <a:moveTo>
                  <a:pt x="319949" y="134503"/>
                </a:moveTo>
                <a:lnTo>
                  <a:pt x="304880" y="134503"/>
                </a:lnTo>
                <a:lnTo>
                  <a:pt x="299377" y="133216"/>
                </a:lnTo>
                <a:lnTo>
                  <a:pt x="292493" y="128069"/>
                </a:lnTo>
                <a:lnTo>
                  <a:pt x="290772" y="125232"/>
                </a:lnTo>
                <a:lnTo>
                  <a:pt x="290772" y="120395"/>
                </a:lnTo>
                <a:lnTo>
                  <a:pt x="291486" y="118860"/>
                </a:lnTo>
                <a:lnTo>
                  <a:pt x="294338" y="116194"/>
                </a:lnTo>
                <a:lnTo>
                  <a:pt x="296136" y="115527"/>
                </a:lnTo>
                <a:lnTo>
                  <a:pt x="299919" y="115527"/>
                </a:lnTo>
                <a:lnTo>
                  <a:pt x="301330" y="115775"/>
                </a:lnTo>
                <a:lnTo>
                  <a:pt x="303748" y="116767"/>
                </a:lnTo>
                <a:lnTo>
                  <a:pt x="305810" y="118039"/>
                </a:lnTo>
                <a:lnTo>
                  <a:pt x="313376" y="123310"/>
                </a:lnTo>
                <a:lnTo>
                  <a:pt x="318089" y="124922"/>
                </a:lnTo>
                <a:lnTo>
                  <a:pt x="342341" y="124922"/>
                </a:lnTo>
                <a:lnTo>
                  <a:pt x="339421" y="126969"/>
                </a:lnTo>
                <a:lnTo>
                  <a:pt x="327266" y="132798"/>
                </a:lnTo>
                <a:lnTo>
                  <a:pt x="319949" y="134503"/>
                </a:lnTo>
                <a:close/>
              </a:path>
              <a:path w="474980" h="173354">
                <a:moveTo>
                  <a:pt x="381186" y="173012"/>
                </a:moveTo>
                <a:lnTo>
                  <a:pt x="381186" y="169571"/>
                </a:lnTo>
                <a:lnTo>
                  <a:pt x="386653" y="166079"/>
                </a:lnTo>
                <a:lnTo>
                  <a:pt x="391615" y="162024"/>
                </a:lnTo>
                <a:lnTo>
                  <a:pt x="410998" y="124410"/>
                </a:lnTo>
                <a:lnTo>
                  <a:pt x="414579" y="89203"/>
                </a:lnTo>
                <a:lnTo>
                  <a:pt x="414387" y="79512"/>
                </a:lnTo>
                <a:lnTo>
                  <a:pt x="408021" y="37610"/>
                </a:lnTo>
                <a:lnTo>
                  <a:pt x="381186" y="3906"/>
                </a:lnTo>
                <a:lnTo>
                  <a:pt x="381186" y="0"/>
                </a:lnTo>
                <a:lnTo>
                  <a:pt x="416509" y="31218"/>
                </a:lnTo>
                <a:lnTo>
                  <a:pt x="430717" y="66984"/>
                </a:lnTo>
                <a:lnTo>
                  <a:pt x="432531" y="86413"/>
                </a:lnTo>
                <a:lnTo>
                  <a:pt x="431645" y="100514"/>
                </a:lnTo>
                <a:lnTo>
                  <a:pt x="418346" y="139014"/>
                </a:lnTo>
                <a:lnTo>
                  <a:pt x="392124" y="167050"/>
                </a:lnTo>
                <a:lnTo>
                  <a:pt x="381186" y="173012"/>
                </a:lnTo>
                <a:close/>
              </a:path>
              <a:path w="474980" h="173354">
                <a:moveTo>
                  <a:pt x="467010" y="134875"/>
                </a:moveTo>
                <a:lnTo>
                  <a:pt x="461305" y="134875"/>
                </a:lnTo>
                <a:lnTo>
                  <a:pt x="458871" y="133867"/>
                </a:lnTo>
                <a:lnTo>
                  <a:pt x="454840" y="129837"/>
                </a:lnTo>
                <a:lnTo>
                  <a:pt x="453832" y="127403"/>
                </a:lnTo>
                <a:lnTo>
                  <a:pt x="453832" y="121635"/>
                </a:lnTo>
                <a:lnTo>
                  <a:pt x="454840" y="119186"/>
                </a:lnTo>
                <a:lnTo>
                  <a:pt x="458871" y="115217"/>
                </a:lnTo>
                <a:lnTo>
                  <a:pt x="461305" y="114225"/>
                </a:lnTo>
                <a:lnTo>
                  <a:pt x="467072" y="114225"/>
                </a:lnTo>
                <a:lnTo>
                  <a:pt x="469484" y="115217"/>
                </a:lnTo>
                <a:lnTo>
                  <a:pt x="473414" y="119186"/>
                </a:lnTo>
                <a:lnTo>
                  <a:pt x="474457" y="121635"/>
                </a:lnTo>
                <a:lnTo>
                  <a:pt x="474482" y="127403"/>
                </a:lnTo>
                <a:lnTo>
                  <a:pt x="473474" y="129837"/>
                </a:lnTo>
                <a:lnTo>
                  <a:pt x="469444" y="133867"/>
                </a:lnTo>
                <a:lnTo>
                  <a:pt x="467010" y="134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21070" y="6881898"/>
            <a:ext cx="13415925" cy="173012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13256" y="7144787"/>
            <a:ext cx="474980" cy="173355"/>
          </a:xfrm>
          <a:custGeom>
            <a:avLst/>
            <a:gdLst/>
            <a:ahLst/>
            <a:cxnLst/>
            <a:rect l="l" t="t" r="r" b="b"/>
            <a:pathLst>
              <a:path w="474980" h="173354">
                <a:moveTo>
                  <a:pt x="7069" y="39160"/>
                </a:moveTo>
                <a:lnTo>
                  <a:pt x="3627" y="39160"/>
                </a:lnTo>
                <a:lnTo>
                  <a:pt x="5246" y="31056"/>
                </a:lnTo>
                <a:lnTo>
                  <a:pt x="7712" y="24138"/>
                </a:lnTo>
                <a:lnTo>
                  <a:pt x="7778" y="23952"/>
                </a:lnTo>
                <a:lnTo>
                  <a:pt x="39625" y="3534"/>
                </a:lnTo>
                <a:lnTo>
                  <a:pt x="46496" y="4110"/>
                </a:lnTo>
                <a:lnTo>
                  <a:pt x="46834" y="4110"/>
                </a:lnTo>
                <a:lnTo>
                  <a:pt x="53706" y="5999"/>
                </a:lnTo>
                <a:lnTo>
                  <a:pt x="59795" y="9080"/>
                </a:lnTo>
                <a:lnTo>
                  <a:pt x="65251" y="13394"/>
                </a:lnTo>
                <a:lnTo>
                  <a:pt x="69068" y="17766"/>
                </a:lnTo>
                <a:lnTo>
                  <a:pt x="28494" y="17766"/>
                </a:lnTo>
                <a:lnTo>
                  <a:pt x="22928" y="19580"/>
                </a:lnTo>
                <a:lnTo>
                  <a:pt x="13068" y="26835"/>
                </a:lnTo>
                <a:lnTo>
                  <a:pt x="9425" y="32153"/>
                </a:lnTo>
                <a:lnTo>
                  <a:pt x="7069" y="39160"/>
                </a:lnTo>
                <a:close/>
              </a:path>
              <a:path w="474980" h="173354">
                <a:moveTo>
                  <a:pt x="74414" y="132271"/>
                </a:moveTo>
                <a:lnTo>
                  <a:pt x="0" y="132271"/>
                </a:lnTo>
                <a:lnTo>
                  <a:pt x="0" y="128829"/>
                </a:lnTo>
                <a:lnTo>
                  <a:pt x="15202" y="114539"/>
                </a:lnTo>
                <a:lnTo>
                  <a:pt x="27975" y="101621"/>
                </a:lnTo>
                <a:lnTo>
                  <a:pt x="52089" y="70617"/>
                </a:lnTo>
                <a:lnTo>
                  <a:pt x="59624" y="45206"/>
                </a:lnTo>
                <a:lnTo>
                  <a:pt x="59624" y="37207"/>
                </a:lnTo>
                <a:lnTo>
                  <a:pt x="57174" y="30633"/>
                </a:lnTo>
                <a:lnTo>
                  <a:pt x="47376" y="20339"/>
                </a:lnTo>
                <a:lnTo>
                  <a:pt x="41516" y="17766"/>
                </a:lnTo>
                <a:lnTo>
                  <a:pt x="69068" y="17766"/>
                </a:lnTo>
                <a:lnTo>
                  <a:pt x="75530" y="36648"/>
                </a:lnTo>
                <a:lnTo>
                  <a:pt x="75530" y="43036"/>
                </a:lnTo>
                <a:lnTo>
                  <a:pt x="55926" y="79407"/>
                </a:lnTo>
                <a:lnTo>
                  <a:pt x="29928" y="107993"/>
                </a:lnTo>
                <a:lnTo>
                  <a:pt x="19812" y="118225"/>
                </a:lnTo>
                <a:lnTo>
                  <a:pt x="79526" y="118225"/>
                </a:lnTo>
                <a:lnTo>
                  <a:pt x="74414" y="132271"/>
                </a:lnTo>
                <a:close/>
              </a:path>
              <a:path w="474980" h="173354">
                <a:moveTo>
                  <a:pt x="79526" y="118225"/>
                </a:moveTo>
                <a:lnTo>
                  <a:pt x="59438" y="118225"/>
                </a:lnTo>
                <a:lnTo>
                  <a:pt x="64135" y="117977"/>
                </a:lnTo>
                <a:lnTo>
                  <a:pt x="69530" y="116985"/>
                </a:lnTo>
                <a:lnTo>
                  <a:pt x="71964" y="115977"/>
                </a:lnTo>
                <a:lnTo>
                  <a:pt x="76305" y="112938"/>
                </a:lnTo>
                <a:lnTo>
                  <a:pt x="78196" y="110784"/>
                </a:lnTo>
                <a:lnTo>
                  <a:pt x="79809" y="107993"/>
                </a:lnTo>
                <a:lnTo>
                  <a:pt x="83250" y="107993"/>
                </a:lnTo>
                <a:lnTo>
                  <a:pt x="79616" y="117977"/>
                </a:lnTo>
                <a:lnTo>
                  <a:pt x="79526" y="118225"/>
                </a:lnTo>
                <a:close/>
              </a:path>
              <a:path w="474980" h="173354">
                <a:moveTo>
                  <a:pt x="144301" y="134503"/>
                </a:moveTo>
                <a:lnTo>
                  <a:pt x="138224" y="134503"/>
                </a:lnTo>
                <a:lnTo>
                  <a:pt x="129579" y="133172"/>
                </a:lnTo>
                <a:lnTo>
                  <a:pt x="103743" y="103766"/>
                </a:lnTo>
                <a:lnTo>
                  <a:pt x="98116" y="67995"/>
                </a:lnTo>
                <a:lnTo>
                  <a:pt x="98447" y="59534"/>
                </a:lnTo>
                <a:lnTo>
                  <a:pt x="112132" y="19196"/>
                </a:lnTo>
                <a:lnTo>
                  <a:pt x="133201" y="3534"/>
                </a:lnTo>
                <a:lnTo>
                  <a:pt x="139154" y="3534"/>
                </a:lnTo>
                <a:lnTo>
                  <a:pt x="146223" y="4459"/>
                </a:lnTo>
                <a:lnTo>
                  <a:pt x="152920" y="7232"/>
                </a:lnTo>
                <a:lnTo>
                  <a:pt x="156135" y="9580"/>
                </a:lnTo>
                <a:lnTo>
                  <a:pt x="135028" y="9580"/>
                </a:lnTo>
                <a:lnTo>
                  <a:pt x="131092" y="11565"/>
                </a:lnTo>
                <a:lnTo>
                  <a:pt x="117632" y="47875"/>
                </a:lnTo>
                <a:lnTo>
                  <a:pt x="116271" y="72274"/>
                </a:lnTo>
                <a:lnTo>
                  <a:pt x="116445" y="77640"/>
                </a:lnTo>
                <a:lnTo>
                  <a:pt x="116474" y="78559"/>
                </a:lnTo>
                <a:lnTo>
                  <a:pt x="116590" y="82140"/>
                </a:lnTo>
                <a:lnTo>
                  <a:pt x="126224" y="124023"/>
                </a:lnTo>
                <a:lnTo>
                  <a:pt x="131495" y="128643"/>
                </a:lnTo>
                <a:lnTo>
                  <a:pt x="155638" y="128643"/>
                </a:lnTo>
                <a:lnTo>
                  <a:pt x="150610" y="132193"/>
                </a:lnTo>
                <a:lnTo>
                  <a:pt x="144301" y="134503"/>
                </a:lnTo>
                <a:close/>
              </a:path>
              <a:path w="474980" h="173354">
                <a:moveTo>
                  <a:pt x="155638" y="128643"/>
                </a:moveTo>
                <a:lnTo>
                  <a:pt x="141851" y="128643"/>
                </a:lnTo>
                <a:lnTo>
                  <a:pt x="145324" y="127139"/>
                </a:lnTo>
                <a:lnTo>
                  <a:pt x="152517" y="121124"/>
                </a:lnTo>
                <a:lnTo>
                  <a:pt x="161057" y="78559"/>
                </a:lnTo>
                <a:lnTo>
                  <a:pt x="161068" y="53136"/>
                </a:lnTo>
                <a:lnTo>
                  <a:pt x="160269" y="44113"/>
                </a:lnTo>
                <a:lnTo>
                  <a:pt x="158874" y="35561"/>
                </a:lnTo>
                <a:lnTo>
                  <a:pt x="157021" y="28300"/>
                </a:lnTo>
                <a:lnTo>
                  <a:pt x="156920" y="27905"/>
                </a:lnTo>
                <a:lnTo>
                  <a:pt x="142379" y="9580"/>
                </a:lnTo>
                <a:lnTo>
                  <a:pt x="156135" y="9580"/>
                </a:lnTo>
                <a:lnTo>
                  <a:pt x="178715" y="53136"/>
                </a:lnTo>
                <a:lnTo>
                  <a:pt x="179616" y="67995"/>
                </a:lnTo>
                <a:lnTo>
                  <a:pt x="179255" y="77640"/>
                </a:lnTo>
                <a:lnTo>
                  <a:pt x="166094" y="118539"/>
                </a:lnTo>
                <a:lnTo>
                  <a:pt x="157153" y="127573"/>
                </a:lnTo>
                <a:lnTo>
                  <a:pt x="155638" y="128643"/>
                </a:lnTo>
                <a:close/>
              </a:path>
              <a:path w="474980" h="173354">
                <a:moveTo>
                  <a:pt x="197569" y="39160"/>
                </a:moveTo>
                <a:lnTo>
                  <a:pt x="194127" y="39160"/>
                </a:lnTo>
                <a:lnTo>
                  <a:pt x="195746" y="31056"/>
                </a:lnTo>
                <a:lnTo>
                  <a:pt x="198212" y="24138"/>
                </a:lnTo>
                <a:lnTo>
                  <a:pt x="198278" y="23952"/>
                </a:lnTo>
                <a:lnTo>
                  <a:pt x="230125" y="3534"/>
                </a:lnTo>
                <a:lnTo>
                  <a:pt x="236996" y="4110"/>
                </a:lnTo>
                <a:lnTo>
                  <a:pt x="237334" y="4110"/>
                </a:lnTo>
                <a:lnTo>
                  <a:pt x="244206" y="5999"/>
                </a:lnTo>
                <a:lnTo>
                  <a:pt x="250295" y="9080"/>
                </a:lnTo>
                <a:lnTo>
                  <a:pt x="255751" y="13394"/>
                </a:lnTo>
                <a:lnTo>
                  <a:pt x="259568" y="17766"/>
                </a:lnTo>
                <a:lnTo>
                  <a:pt x="218994" y="17766"/>
                </a:lnTo>
                <a:lnTo>
                  <a:pt x="213428" y="19580"/>
                </a:lnTo>
                <a:lnTo>
                  <a:pt x="203568" y="26835"/>
                </a:lnTo>
                <a:lnTo>
                  <a:pt x="199925" y="32153"/>
                </a:lnTo>
                <a:lnTo>
                  <a:pt x="197569" y="39160"/>
                </a:lnTo>
                <a:close/>
              </a:path>
              <a:path w="474980" h="173354">
                <a:moveTo>
                  <a:pt x="264914" y="132271"/>
                </a:moveTo>
                <a:lnTo>
                  <a:pt x="190499" y="132271"/>
                </a:lnTo>
                <a:lnTo>
                  <a:pt x="190499" y="128829"/>
                </a:lnTo>
                <a:lnTo>
                  <a:pt x="205702" y="114539"/>
                </a:lnTo>
                <a:lnTo>
                  <a:pt x="218475" y="101621"/>
                </a:lnTo>
                <a:lnTo>
                  <a:pt x="242589" y="70617"/>
                </a:lnTo>
                <a:lnTo>
                  <a:pt x="250124" y="45206"/>
                </a:lnTo>
                <a:lnTo>
                  <a:pt x="250124" y="37207"/>
                </a:lnTo>
                <a:lnTo>
                  <a:pt x="247674" y="30633"/>
                </a:lnTo>
                <a:lnTo>
                  <a:pt x="237876" y="20339"/>
                </a:lnTo>
                <a:lnTo>
                  <a:pt x="232016" y="17766"/>
                </a:lnTo>
                <a:lnTo>
                  <a:pt x="259568" y="17766"/>
                </a:lnTo>
                <a:lnTo>
                  <a:pt x="260248" y="18545"/>
                </a:lnTo>
                <a:lnTo>
                  <a:pt x="263353" y="23952"/>
                </a:lnTo>
                <a:lnTo>
                  <a:pt x="263460" y="24138"/>
                </a:lnTo>
                <a:lnTo>
                  <a:pt x="265387" y="30172"/>
                </a:lnTo>
                <a:lnTo>
                  <a:pt x="266030" y="36648"/>
                </a:lnTo>
                <a:lnTo>
                  <a:pt x="266030" y="43036"/>
                </a:lnTo>
                <a:lnTo>
                  <a:pt x="246426" y="79407"/>
                </a:lnTo>
                <a:lnTo>
                  <a:pt x="220428" y="107993"/>
                </a:lnTo>
                <a:lnTo>
                  <a:pt x="210312" y="118225"/>
                </a:lnTo>
                <a:lnTo>
                  <a:pt x="270026" y="118225"/>
                </a:lnTo>
                <a:lnTo>
                  <a:pt x="264914" y="132271"/>
                </a:lnTo>
                <a:close/>
              </a:path>
              <a:path w="474980" h="173354">
                <a:moveTo>
                  <a:pt x="270026" y="118225"/>
                </a:moveTo>
                <a:lnTo>
                  <a:pt x="249938" y="118225"/>
                </a:lnTo>
                <a:lnTo>
                  <a:pt x="254635" y="117977"/>
                </a:lnTo>
                <a:lnTo>
                  <a:pt x="260030" y="116985"/>
                </a:lnTo>
                <a:lnTo>
                  <a:pt x="262464" y="115977"/>
                </a:lnTo>
                <a:lnTo>
                  <a:pt x="266805" y="112938"/>
                </a:lnTo>
                <a:lnTo>
                  <a:pt x="268696" y="110784"/>
                </a:lnTo>
                <a:lnTo>
                  <a:pt x="270309" y="107993"/>
                </a:lnTo>
                <a:lnTo>
                  <a:pt x="273750" y="107993"/>
                </a:lnTo>
                <a:lnTo>
                  <a:pt x="270116" y="117977"/>
                </a:lnTo>
                <a:lnTo>
                  <a:pt x="270026" y="118225"/>
                </a:lnTo>
                <a:close/>
              </a:path>
              <a:path w="474980" h="173354">
                <a:moveTo>
                  <a:pt x="342341" y="124922"/>
                </a:moveTo>
                <a:lnTo>
                  <a:pt x="330119" y="124922"/>
                </a:lnTo>
                <a:lnTo>
                  <a:pt x="336491" y="122178"/>
                </a:lnTo>
                <a:lnTo>
                  <a:pt x="347467" y="111202"/>
                </a:lnTo>
                <a:lnTo>
                  <a:pt x="350211" y="104520"/>
                </a:lnTo>
                <a:lnTo>
                  <a:pt x="350211" y="89017"/>
                </a:lnTo>
                <a:lnTo>
                  <a:pt x="322584" y="59996"/>
                </a:lnTo>
                <a:lnTo>
                  <a:pt x="294958" y="55159"/>
                </a:lnTo>
                <a:lnTo>
                  <a:pt x="319143" y="6139"/>
                </a:lnTo>
                <a:lnTo>
                  <a:pt x="364349" y="6139"/>
                </a:lnTo>
                <a:lnTo>
                  <a:pt x="357094" y="21952"/>
                </a:lnTo>
                <a:lnTo>
                  <a:pt x="319143" y="21952"/>
                </a:lnTo>
                <a:lnTo>
                  <a:pt x="310864" y="38881"/>
                </a:lnTo>
                <a:lnTo>
                  <a:pt x="349932" y="57205"/>
                </a:lnTo>
                <a:lnTo>
                  <a:pt x="362303" y="86971"/>
                </a:lnTo>
                <a:lnTo>
                  <a:pt x="362303" y="93606"/>
                </a:lnTo>
                <a:lnTo>
                  <a:pt x="343979" y="123775"/>
                </a:lnTo>
                <a:lnTo>
                  <a:pt x="342341" y="124922"/>
                </a:lnTo>
                <a:close/>
              </a:path>
              <a:path w="474980" h="173354">
                <a:moveTo>
                  <a:pt x="319949" y="134503"/>
                </a:moveTo>
                <a:lnTo>
                  <a:pt x="304880" y="134503"/>
                </a:lnTo>
                <a:lnTo>
                  <a:pt x="299377" y="133216"/>
                </a:lnTo>
                <a:lnTo>
                  <a:pt x="292493" y="128069"/>
                </a:lnTo>
                <a:lnTo>
                  <a:pt x="290772" y="125232"/>
                </a:lnTo>
                <a:lnTo>
                  <a:pt x="290772" y="120395"/>
                </a:lnTo>
                <a:lnTo>
                  <a:pt x="291486" y="118860"/>
                </a:lnTo>
                <a:lnTo>
                  <a:pt x="294338" y="116194"/>
                </a:lnTo>
                <a:lnTo>
                  <a:pt x="296136" y="115527"/>
                </a:lnTo>
                <a:lnTo>
                  <a:pt x="299919" y="115527"/>
                </a:lnTo>
                <a:lnTo>
                  <a:pt x="301330" y="115775"/>
                </a:lnTo>
                <a:lnTo>
                  <a:pt x="303748" y="116768"/>
                </a:lnTo>
                <a:lnTo>
                  <a:pt x="305810" y="118039"/>
                </a:lnTo>
                <a:lnTo>
                  <a:pt x="313376" y="123310"/>
                </a:lnTo>
                <a:lnTo>
                  <a:pt x="318089" y="124922"/>
                </a:lnTo>
                <a:lnTo>
                  <a:pt x="342341" y="124922"/>
                </a:lnTo>
                <a:lnTo>
                  <a:pt x="339421" y="126969"/>
                </a:lnTo>
                <a:lnTo>
                  <a:pt x="327266" y="132798"/>
                </a:lnTo>
                <a:lnTo>
                  <a:pt x="319949" y="134503"/>
                </a:lnTo>
                <a:close/>
              </a:path>
              <a:path w="474980" h="173354">
                <a:moveTo>
                  <a:pt x="381186" y="173012"/>
                </a:moveTo>
                <a:lnTo>
                  <a:pt x="381186" y="169571"/>
                </a:lnTo>
                <a:lnTo>
                  <a:pt x="386653" y="166080"/>
                </a:lnTo>
                <a:lnTo>
                  <a:pt x="391615" y="162025"/>
                </a:lnTo>
                <a:lnTo>
                  <a:pt x="410998" y="124410"/>
                </a:lnTo>
                <a:lnTo>
                  <a:pt x="414579" y="89203"/>
                </a:lnTo>
                <a:lnTo>
                  <a:pt x="414387" y="79512"/>
                </a:lnTo>
                <a:lnTo>
                  <a:pt x="408021" y="37610"/>
                </a:lnTo>
                <a:lnTo>
                  <a:pt x="381186" y="3906"/>
                </a:lnTo>
                <a:lnTo>
                  <a:pt x="381186" y="0"/>
                </a:lnTo>
                <a:lnTo>
                  <a:pt x="416509" y="31219"/>
                </a:lnTo>
                <a:lnTo>
                  <a:pt x="430717" y="66984"/>
                </a:lnTo>
                <a:lnTo>
                  <a:pt x="432531" y="86413"/>
                </a:lnTo>
                <a:lnTo>
                  <a:pt x="431645" y="100514"/>
                </a:lnTo>
                <a:lnTo>
                  <a:pt x="418346" y="139014"/>
                </a:lnTo>
                <a:lnTo>
                  <a:pt x="392124" y="167050"/>
                </a:lnTo>
                <a:lnTo>
                  <a:pt x="381186" y="173012"/>
                </a:lnTo>
                <a:close/>
              </a:path>
              <a:path w="474980" h="173354">
                <a:moveTo>
                  <a:pt x="467010" y="134875"/>
                </a:moveTo>
                <a:lnTo>
                  <a:pt x="461305" y="134875"/>
                </a:lnTo>
                <a:lnTo>
                  <a:pt x="458871" y="133867"/>
                </a:lnTo>
                <a:lnTo>
                  <a:pt x="454840" y="129837"/>
                </a:lnTo>
                <a:lnTo>
                  <a:pt x="453832" y="127403"/>
                </a:lnTo>
                <a:lnTo>
                  <a:pt x="453832" y="121636"/>
                </a:lnTo>
                <a:lnTo>
                  <a:pt x="454840" y="119186"/>
                </a:lnTo>
                <a:lnTo>
                  <a:pt x="458871" y="115217"/>
                </a:lnTo>
                <a:lnTo>
                  <a:pt x="461305" y="114225"/>
                </a:lnTo>
                <a:lnTo>
                  <a:pt x="467072" y="114225"/>
                </a:lnTo>
                <a:lnTo>
                  <a:pt x="469484" y="115217"/>
                </a:lnTo>
                <a:lnTo>
                  <a:pt x="473414" y="119186"/>
                </a:lnTo>
                <a:lnTo>
                  <a:pt x="474457" y="121636"/>
                </a:lnTo>
                <a:lnTo>
                  <a:pt x="474482" y="127403"/>
                </a:lnTo>
                <a:lnTo>
                  <a:pt x="473474" y="129837"/>
                </a:lnTo>
                <a:lnTo>
                  <a:pt x="469444" y="133867"/>
                </a:lnTo>
                <a:lnTo>
                  <a:pt x="467010" y="134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14931" y="7534678"/>
            <a:ext cx="4845750" cy="1733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10373" y="7797568"/>
            <a:ext cx="11413349" cy="17338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B90A42B-3909-D6B4-6382-E506106328B0}"/>
              </a:ext>
            </a:extLst>
          </p:cNvPr>
          <p:cNvSpPr txBox="1"/>
          <p:nvPr/>
        </p:nvSpPr>
        <p:spPr>
          <a:xfrm>
            <a:off x="11963400" y="7696200"/>
            <a:ext cx="1187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5).</a:t>
            </a:r>
            <a:endParaRPr lang="en-AE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7431" y="7784425"/>
            <a:ext cx="2202967" cy="4451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795" y="0"/>
            <a:ext cx="4331368" cy="822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0162" y="0"/>
            <a:ext cx="4370075" cy="822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96762" y="0"/>
            <a:ext cx="431559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7431" y="7784425"/>
            <a:ext cx="2202967" cy="4451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813" y="0"/>
            <a:ext cx="4340886" cy="822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2426" y="0"/>
            <a:ext cx="4268955" cy="822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36117" y="0"/>
            <a:ext cx="438262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7431" y="7784425"/>
            <a:ext cx="2202967" cy="4451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008" y="0"/>
            <a:ext cx="4345968" cy="822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0843" y="0"/>
            <a:ext cx="4408713" cy="8229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69014" y="0"/>
            <a:ext cx="433453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7431" y="7784425"/>
            <a:ext cx="2202967" cy="4451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1571" y="0"/>
            <a:ext cx="4347257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2386</Words>
  <Application>Microsoft Office PowerPoint</Application>
  <PresentationFormat>Custom</PresentationFormat>
  <Paragraphs>105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MT</vt:lpstr>
      <vt:lpstr>Lucida Sans Unicode</vt:lpstr>
      <vt:lpstr>Microsoft Sans Serif</vt:lpstr>
      <vt:lpstr>Times New Roman</vt:lpstr>
      <vt:lpstr>Office Theme</vt:lpstr>
      <vt:lpstr>Academic Research Online Agent System (AROAS): Critical Design &amp; Evaluation</vt:lpstr>
      <vt:lpstr>Introduction and Problem Signiﬁcance</vt:lpstr>
      <vt:lpstr>Theoretical Foundation</vt:lpstr>
      <vt:lpstr>Theoretical Framing and Design Choice</vt:lpstr>
      <vt:lpstr>AROAS Multi-Agent Architecture</vt:lpstr>
      <vt:lpstr>Software Stack—Selection with Evidence and Critique</vt:lpstr>
      <vt:lpstr>Software Stack (Continued)</vt:lpstr>
      <vt:lpstr>Governance, Compliance, and Integrity</vt:lpstr>
      <vt:lpstr>Empirical Context and Market Signals</vt:lpstr>
      <vt:lpstr>Methodology and Assessment Alignment</vt:lpstr>
      <vt:lpstr>Risk Analysis and Mitigations</vt:lpstr>
      <vt:lpstr>Comparative Justiﬁcation (what markers should care about)</vt:lpstr>
      <vt:lpstr>Conclusion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 salem</dc:creator>
  <cp:lastModifiedBy>Fahad Saleh Murad Abdallah</cp:lastModifiedBy>
  <cp:revision>3</cp:revision>
  <dcterms:created xsi:type="dcterms:W3CDTF">2025-10-13T07:08:21Z</dcterms:created>
  <dcterms:modified xsi:type="dcterms:W3CDTF">2025-10-20T21:08:06Z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OfficeSuite Slides</vt:lpwstr>
  </property>
  <property fmtid="{D5CDD505-2E9C-101B-9397-08002B2CF9AE}" pid="4" name="Producer">
    <vt:lpwstr>OfficeSuite Slides</vt:lpwstr>
  </property>
  <property fmtid="{D5CDD505-2E9C-101B-9397-08002B2CF9AE}" pid="5" name="ProductionLibrary">
    <vt:lpwstr>Skia/PDF m66</vt:lpwstr>
  </property>
  <property fmtid="{D5CDD505-2E9C-101B-9397-08002B2CF9AE}" pid="6" name="LastSaved">
    <vt:filetime>2025-10-08T00:00:00Z</vt:filetime>
  </property>
</Properties>
</file>